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6" r:id="rId2"/>
    <p:sldId id="257" r:id="rId3"/>
    <p:sldId id="280" r:id="rId4"/>
    <p:sldId id="284" r:id="rId5"/>
    <p:sldId id="285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64" r:id="rId15"/>
    <p:sldId id="265" r:id="rId16"/>
    <p:sldId id="267" r:id="rId17"/>
    <p:sldId id="272" r:id="rId18"/>
    <p:sldId id="279" r:id="rId19"/>
    <p:sldId id="278" r:id="rId20"/>
    <p:sldId id="28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16"/>
    <a:srgbClr val="262626"/>
    <a:srgbClr val="5E8DCD"/>
    <a:srgbClr val="C8C9C9"/>
    <a:srgbClr val="4102B2"/>
    <a:srgbClr val="4C02D0"/>
    <a:srgbClr val="300185"/>
    <a:srgbClr val="1B6FDD"/>
    <a:srgbClr val="000000"/>
    <a:srgbClr val="EBC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1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D735-B073-40BA-529B-6AF7357E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8AD63F8B-D0EA-FC3C-C128-65E693A5C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A46979-9377-0160-061A-0DCFB9F5F85B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523551-0B71-3D5D-7DE3-F78BF4B543D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E2D58CD6-E68B-729E-9093-4B2EEED2DA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21375F9-7B7E-6C96-3E00-362DA09D626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3AACEF7D-A254-5B2D-3C44-3DA8254AC4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525D34E-EA28-4074-935C-94D5D0D4AAF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792D949-CA45-6CAD-CDC7-76EB3E002A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35D6B08-14B7-0A46-20C8-745197B258C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F2341E5-D7A2-995F-ECE1-E25618096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7" t="32437" r="4095" b="26871"/>
          <a:stretch>
            <a:fillRect/>
          </a:stretch>
        </p:blipFill>
        <p:spPr>
          <a:xfrm>
            <a:off x="1021078" y="1898651"/>
            <a:ext cx="6964681" cy="17957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6D9D6-4500-9BAE-997D-482BFD0DAD40}"/>
              </a:ext>
            </a:extLst>
          </p:cNvPr>
          <p:cNvSpPr txBox="1"/>
          <p:nvPr/>
        </p:nvSpPr>
        <p:spPr>
          <a:xfrm>
            <a:off x="3361691" y="3411417"/>
            <a:ext cx="2152652" cy="261610"/>
          </a:xfrm>
          <a:prstGeom prst="rect">
            <a:avLst/>
          </a:prstGeom>
          <a:solidFill>
            <a:srgbClr val="161616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8C9C9"/>
                </a:solidFill>
                <a:latin typeface="0xProto Nerd Font" panose="02000009000000000000" pitchFamily="50" charset="0"/>
                <a:ea typeface="DejaVu Sans Mono" panose="020B0609030804020204" pitchFamily="49" charset="0"/>
                <a:cs typeface="0xProto Nerd Font" panose="02000009000000000000" pitchFamily="50" charset="0"/>
              </a:rPr>
              <a:t>Command-line interface</a:t>
            </a:r>
            <a:endParaRPr lang="en-CA" sz="1100" dirty="0">
              <a:solidFill>
                <a:srgbClr val="C8C9C9"/>
              </a:solidFill>
              <a:latin typeface="0xProto Nerd Font" panose="02000009000000000000" pitchFamily="50" charset="0"/>
              <a:ea typeface="DejaVu Sans Mono" panose="020B0609030804020204" pitchFamily="49" charset="0"/>
              <a:cs typeface="0xProto Nerd Font" panose="02000009000000000000" pitchFamily="50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732813-B701-C4DF-C26F-F922B3900D4D}"/>
              </a:ext>
            </a:extLst>
          </p:cNvPr>
          <p:cNvGrpSpPr>
            <a:grpSpLocks/>
          </p:cNvGrpSpPr>
          <p:nvPr/>
        </p:nvGrpSpPr>
        <p:grpSpPr>
          <a:xfrm>
            <a:off x="989637" y="1898651"/>
            <a:ext cx="233362" cy="261937"/>
            <a:chOff x="1076326" y="1019174"/>
            <a:chExt cx="233362" cy="26193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21C76A8-1147-05E9-B935-F014282BB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326" y="1019174"/>
              <a:ext cx="233362" cy="0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FB71EC-3180-8128-BBEE-1B781FCA54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3469" y="1019174"/>
              <a:ext cx="0" cy="261937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3F9F613-FF7C-1804-934E-B87D0ABD8C74}"/>
              </a:ext>
            </a:extLst>
          </p:cNvPr>
          <p:cNvGrpSpPr/>
          <p:nvPr/>
        </p:nvGrpSpPr>
        <p:grpSpPr>
          <a:xfrm rot="10800000" flipV="1">
            <a:off x="7801215" y="1898325"/>
            <a:ext cx="233362" cy="261937"/>
            <a:chOff x="1076326" y="1019174"/>
            <a:chExt cx="233362" cy="26193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3E08F6-81C8-C4FB-68AB-9F0C36E45664}"/>
                </a:ext>
              </a:extLst>
            </p:cNvPr>
            <p:cNvCxnSpPr/>
            <p:nvPr/>
          </p:nvCxnSpPr>
          <p:spPr>
            <a:xfrm flipH="1">
              <a:off x="1076326" y="1019174"/>
              <a:ext cx="233362" cy="0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677604-BE2D-361B-3128-F2A9A305C2F7}"/>
                </a:ext>
              </a:extLst>
            </p:cNvPr>
            <p:cNvCxnSpPr/>
            <p:nvPr/>
          </p:nvCxnSpPr>
          <p:spPr>
            <a:xfrm flipV="1">
              <a:off x="1083469" y="1019174"/>
              <a:ext cx="0" cy="261937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9979E8-CE60-53ED-E6A1-86E8BDF4262C}"/>
              </a:ext>
            </a:extLst>
          </p:cNvPr>
          <p:cNvGrpSpPr/>
          <p:nvPr/>
        </p:nvGrpSpPr>
        <p:grpSpPr>
          <a:xfrm rot="10800000">
            <a:off x="7801215" y="3432482"/>
            <a:ext cx="233362" cy="261937"/>
            <a:chOff x="1076326" y="1019174"/>
            <a:chExt cx="233362" cy="26193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9A774-7BE1-43FB-EFFC-123A99E1ED6D}"/>
                </a:ext>
              </a:extLst>
            </p:cNvPr>
            <p:cNvCxnSpPr/>
            <p:nvPr/>
          </p:nvCxnSpPr>
          <p:spPr>
            <a:xfrm flipH="1">
              <a:off x="1076326" y="1019174"/>
              <a:ext cx="233362" cy="0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DA183C2-FF1A-5E2E-6371-1D3E0DCF97EE}"/>
                </a:ext>
              </a:extLst>
            </p:cNvPr>
            <p:cNvCxnSpPr/>
            <p:nvPr/>
          </p:nvCxnSpPr>
          <p:spPr>
            <a:xfrm flipV="1">
              <a:off x="1083469" y="1019174"/>
              <a:ext cx="0" cy="261937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13734B-7DBE-98E8-4191-A60E32088F2F}"/>
              </a:ext>
            </a:extLst>
          </p:cNvPr>
          <p:cNvGrpSpPr/>
          <p:nvPr/>
        </p:nvGrpSpPr>
        <p:grpSpPr>
          <a:xfrm flipV="1">
            <a:off x="979403" y="3432810"/>
            <a:ext cx="233362" cy="261937"/>
            <a:chOff x="1076326" y="1019174"/>
            <a:chExt cx="233362" cy="2619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106C6F7-D1C3-4748-F75C-B342E3B9C1F4}"/>
                </a:ext>
              </a:extLst>
            </p:cNvPr>
            <p:cNvCxnSpPr/>
            <p:nvPr/>
          </p:nvCxnSpPr>
          <p:spPr>
            <a:xfrm flipH="1">
              <a:off x="1076326" y="1019174"/>
              <a:ext cx="233362" cy="0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FFE2347-B03E-2F4E-7279-3FAAAD1E60DF}"/>
                </a:ext>
              </a:extLst>
            </p:cNvPr>
            <p:cNvCxnSpPr/>
            <p:nvPr/>
          </p:nvCxnSpPr>
          <p:spPr>
            <a:xfrm flipV="1">
              <a:off x="1083469" y="1019174"/>
              <a:ext cx="0" cy="261937"/>
            </a:xfrm>
            <a:prstGeom prst="line">
              <a:avLst/>
            </a:prstGeom>
            <a:ln w="12700">
              <a:solidFill>
                <a:srgbClr val="C8C9C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9216029-DB51-489D-7A06-AC0F80852DEC}"/>
              </a:ext>
            </a:extLst>
          </p:cNvPr>
          <p:cNvSpPr/>
          <p:nvPr/>
        </p:nvSpPr>
        <p:spPr>
          <a:xfrm>
            <a:off x="1158241" y="2114549"/>
            <a:ext cx="2203450" cy="217159"/>
          </a:xfrm>
          <a:prstGeom prst="rect">
            <a:avLst/>
          </a:prstGeom>
          <a:solidFill>
            <a:srgbClr val="161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271BBC-6CD8-7905-059B-8FD90CE60745}"/>
              </a:ext>
            </a:extLst>
          </p:cNvPr>
          <p:cNvSpPr txBox="1">
            <a:spLocks/>
          </p:cNvSpPr>
          <p:nvPr/>
        </p:nvSpPr>
        <p:spPr>
          <a:xfrm>
            <a:off x="1158241" y="1615224"/>
            <a:ext cx="40870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Coding with </a:t>
            </a:r>
            <a:endParaRPr lang="en-CA" sz="40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FA6898-26B6-14D8-A2AD-A83DA0C1E835}"/>
              </a:ext>
            </a:extLst>
          </p:cNvPr>
          <p:cNvSpPr txBox="1"/>
          <p:nvPr/>
        </p:nvSpPr>
        <p:spPr>
          <a:xfrm>
            <a:off x="3374391" y="3422114"/>
            <a:ext cx="2038979" cy="261610"/>
          </a:xfrm>
          <a:prstGeom prst="rect">
            <a:avLst/>
          </a:prstGeom>
          <a:solidFill>
            <a:srgbClr val="161616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8C9C9"/>
                </a:solidFill>
                <a:latin typeface="0xProto Nerd Font" panose="02000009000000000000" pitchFamily="50" charset="0"/>
                <a:ea typeface="DejaVu Sans Mono" panose="020B0609030804020204" pitchFamily="49" charset="0"/>
                <a:cs typeface="0xProto Nerd Font" panose="02000009000000000000" pitchFamily="50" charset="0"/>
              </a:rPr>
              <a:t>                  CLI</a:t>
            </a:r>
            <a:endParaRPr lang="en-CA" sz="1100" dirty="0">
              <a:solidFill>
                <a:srgbClr val="C8C9C9"/>
              </a:solidFill>
              <a:latin typeface="0xProto Nerd Font" panose="02000009000000000000" pitchFamily="50" charset="0"/>
              <a:ea typeface="DejaVu Sans Mono" panose="020B0609030804020204" pitchFamily="49" charset="0"/>
              <a:cs typeface="0xProto Nerd Font" panose="02000009000000000000" pitchFamily="50" charset="0"/>
            </a:endParaRPr>
          </a:p>
        </p:txBody>
      </p:sp>
      <p:sp>
        <p:nvSpPr>
          <p:cNvPr id="20" name="Text 34">
            <a:extLst>
              <a:ext uri="{FF2B5EF4-FFF2-40B4-BE49-F238E27FC236}">
                <a16:creationId xmlns:a16="http://schemas.microsoft.com/office/drawing/2014/main" id="{CD8A598F-A55E-E27E-0E67-6CD1D7AAC701}"/>
              </a:ext>
            </a:extLst>
          </p:cNvPr>
          <p:cNvSpPr/>
          <p:nvPr/>
        </p:nvSpPr>
        <p:spPr>
          <a:xfrm>
            <a:off x="2517737" y="4114632"/>
            <a:ext cx="397136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60"/>
              </a:lnSpc>
              <a:spcAft>
                <a:spcPts val="1800"/>
              </a:spcAft>
              <a:buNone/>
            </a:pPr>
            <a:r>
              <a:rPr lang="en-US" kern="0" spc="12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terminal-native AI coding assistant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11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L 1.38889E-6 -0.080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04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3.33333E-6 -0.086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5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xit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6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71500"/>
            <a:ext cx="29170" cy="400050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372070"/>
            <a:ext cx="750540" cy="195411"/>
          </a:xfrm>
          <a:prstGeom prst="roundRect">
            <a:avLst>
              <a:gd name="adj" fmla="val 73440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0195" y="448121"/>
            <a:ext cx="43160" cy="43160"/>
          </a:xfrm>
          <a:prstGeom prst="ellipse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6516" y="410766"/>
            <a:ext cx="5197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12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4350" y="667792"/>
            <a:ext cx="868337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spcAft>
                <a:spcPts val="450"/>
              </a:spcAft>
              <a:buNone/>
            </a:pPr>
            <a:r>
              <a:rPr lang="en-US" sz="2250" kern="0" spc="-45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</a:t>
            </a:r>
            <a:r>
              <a:rPr lang="en-US" sz="2250" kern="0" spc="-45" dirty="0">
                <a:solidFill>
                  <a:srgbClr val="6E40C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CLI</a:t>
            </a:r>
            <a:r>
              <a:rPr lang="en-US" sz="2250" kern="0" spc="-45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?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4350" y="1053554"/>
            <a:ext cx="892683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1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lives where you work — the terminal.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14349" y="1494086"/>
            <a:ext cx="6762929" cy="678061"/>
          </a:xfrm>
          <a:prstGeom prst="roundRect">
            <a:avLst>
              <a:gd name="adj" fmla="val 12736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7350" y="1763613"/>
            <a:ext cx="1885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67395" y="1647081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3928" y="1763613"/>
            <a:ext cx="139005" cy="1390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10916" y="1674019"/>
            <a:ext cx="566636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 AI coding assistant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10916" y="1846213"/>
            <a:ext cx="5666363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the command line — not an afterthought, but the primary interface.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4349" y="2272457"/>
            <a:ext cx="6762929" cy="678061"/>
          </a:xfrm>
          <a:prstGeom prst="roundRect">
            <a:avLst>
              <a:gd name="adj" fmla="val 12736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07350" y="2541984"/>
            <a:ext cx="1885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67395" y="2425452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3928" y="2541984"/>
            <a:ext cx="139005" cy="1390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10916" y="2452390"/>
            <a:ext cx="566636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capabilities in your shell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610916" y="2624584"/>
            <a:ext cx="5666363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autonomous AI reasoning directly to your terminal workflow — no context switching required.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14349" y="3050828"/>
            <a:ext cx="6762929" cy="678061"/>
          </a:xfrm>
          <a:prstGeom prst="roundRect">
            <a:avLst>
              <a:gd name="adj" fmla="val 12736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07350" y="3320355"/>
            <a:ext cx="1885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1067395" y="320382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928" y="3320355"/>
            <a:ext cx="139005" cy="1390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10916" y="3230761"/>
            <a:ext cx="566636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flexibility &amp; GitHub workflow integration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610916" y="3402955"/>
            <a:ext cx="5666363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integrates with your existing GitHub repos, branches, and development pipelines.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14349" y="3829199"/>
            <a:ext cx="6762929" cy="678061"/>
          </a:xfrm>
          <a:prstGeom prst="roundRect">
            <a:avLst>
              <a:gd name="adj" fmla="val 12736"/>
            </a:avLst>
          </a:prstGeom>
          <a:solidFill>
            <a:srgbClr val="161B22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707350" y="4098727"/>
            <a:ext cx="1885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95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1067395" y="3982194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3928" y="4098727"/>
            <a:ext cx="139005" cy="1390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10916" y="4009132"/>
            <a:ext cx="566636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— with you in full control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610916" y="4181326"/>
            <a:ext cx="5666363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independently on complex tasks while requiring your explicit approval for every consequential action.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490460" y="668060"/>
            <a:ext cx="1502450" cy="926157"/>
          </a:xfrm>
          <a:prstGeom prst="roundRect">
            <a:avLst>
              <a:gd name="adj" fmla="val 7679"/>
            </a:avLst>
          </a:prstGeom>
          <a:solidFill>
            <a:srgbClr val="161B22">
              <a:alpha val="38000"/>
            </a:srgbClr>
          </a:solidFill>
          <a:ln w="9525">
            <a:solidFill>
              <a:srgbClr val="6E40C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3" name="Text 27"/>
          <p:cNvSpPr/>
          <p:nvPr/>
        </p:nvSpPr>
        <p:spPr>
          <a:xfrm>
            <a:off x="7614285" y="777895"/>
            <a:ext cx="57150" cy="57150"/>
          </a:xfrm>
          <a:prstGeom prst="ellipse">
            <a:avLst/>
          </a:prstGeom>
          <a:solidFill>
            <a:srgbClr val="FF5F57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4" name="Text 28"/>
          <p:cNvSpPr/>
          <p:nvPr/>
        </p:nvSpPr>
        <p:spPr>
          <a:xfrm>
            <a:off x="7706856" y="777895"/>
            <a:ext cx="57150" cy="57150"/>
          </a:xfrm>
          <a:prstGeom prst="ellipse">
            <a:avLst/>
          </a:prstGeom>
          <a:solidFill>
            <a:srgbClr val="FEBC2E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5" name="Text 29"/>
          <p:cNvSpPr/>
          <p:nvPr/>
        </p:nvSpPr>
        <p:spPr>
          <a:xfrm>
            <a:off x="7799427" y="777895"/>
            <a:ext cx="57150" cy="57150"/>
          </a:xfrm>
          <a:prstGeom prst="ellipse">
            <a:avLst/>
          </a:prstGeom>
          <a:solidFill>
            <a:srgbClr val="28C840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6" name="Text 30"/>
          <p:cNvSpPr/>
          <p:nvPr/>
        </p:nvSpPr>
        <p:spPr>
          <a:xfrm>
            <a:off x="7614285" y="906036"/>
            <a:ext cx="129921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7" name="Text 31"/>
          <p:cNvSpPr/>
          <p:nvPr/>
        </p:nvSpPr>
        <p:spPr>
          <a:xfrm>
            <a:off x="7614285" y="1039832"/>
            <a:ext cx="129921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Welcome to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8" name="Text 32"/>
          <p:cNvSpPr/>
          <p:nvPr/>
        </p:nvSpPr>
        <p:spPr>
          <a:xfrm>
            <a:off x="7614285" y="1173629"/>
            <a:ext cx="129921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Copilot CLI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9" name="Text 33"/>
          <p:cNvSpPr/>
          <p:nvPr/>
        </p:nvSpPr>
        <p:spPr>
          <a:xfrm>
            <a:off x="7614285" y="1350585"/>
            <a:ext cx="129921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_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0" name="Text 34"/>
          <p:cNvSpPr/>
          <p:nvPr/>
        </p:nvSpPr>
        <p:spPr>
          <a:xfrm>
            <a:off x="7490460" y="2274897"/>
            <a:ext cx="1428750" cy="841623"/>
          </a:xfrm>
          <a:prstGeom prst="roundRect">
            <a:avLst>
              <a:gd name="adj" fmla="val 8450"/>
            </a:avLst>
          </a:prstGeom>
          <a:solidFill>
            <a:srgbClr val="161B22">
              <a:alpha val="38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7614285" y="2370743"/>
            <a:ext cx="129921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1100" kern="0" spc="37" dirty="0">
                <a:solidFill>
                  <a:srgbClr val="8B949E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7614285" y="2589074"/>
            <a:ext cx="43160" cy="43160"/>
          </a:xfrm>
          <a:prstGeom prst="ellipse">
            <a:avLst/>
          </a:prstGeom>
          <a:solidFill>
            <a:srgbClr val="6E40C9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7714595" y="2545913"/>
            <a:ext cx="6586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/ zsh / fish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7614285" y="2761714"/>
            <a:ext cx="43160" cy="43160"/>
          </a:xfrm>
          <a:prstGeom prst="ellipse">
            <a:avLst/>
          </a:prstGeom>
          <a:solidFill>
            <a:srgbClr val="6E40C9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7714595" y="2718554"/>
            <a:ext cx="77435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/ CMD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7614285" y="2934355"/>
            <a:ext cx="43160" cy="43160"/>
          </a:xfrm>
          <a:prstGeom prst="ellipse">
            <a:avLst/>
          </a:prstGeom>
          <a:solidFill>
            <a:srgbClr val="6E40C9">
              <a:alpha val="3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714595" y="2891195"/>
            <a:ext cx="78499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platforms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7476173" y="3621941"/>
            <a:ext cx="1457325" cy="407343"/>
          </a:xfrm>
          <a:prstGeom prst="roundRect">
            <a:avLst>
              <a:gd name="adj" fmla="val 14030"/>
            </a:avLst>
          </a:prstGeom>
          <a:solidFill>
            <a:srgbClr val="6E40C9">
              <a:alpha val="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1100" b="1" kern="0" spc="3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sign-up needed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2822228" y="4744194"/>
            <a:ext cx="35421" cy="35421"/>
          </a:xfrm>
          <a:prstGeom prst="ellipse">
            <a:avLst/>
          </a:prstGeom>
          <a:solidFill>
            <a:srgbClr val="6E40C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1651702" y="4687193"/>
            <a:ext cx="5584790" cy="272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with all GitHub Copilot plans — Free, Pro, Business, and Enterprise</a:t>
            </a:r>
            <a:endParaRPr lang="en-US" sz="1400" dirty="0"/>
          </a:p>
        </p:txBody>
      </p:sp>
      <p:sp>
        <p:nvSpPr>
          <p:cNvPr id="51" name="Text 45"/>
          <p:cNvSpPr/>
          <p:nvPr/>
        </p:nvSpPr>
        <p:spPr>
          <a:xfrm>
            <a:off x="6286351" y="4744194"/>
            <a:ext cx="35421" cy="35421"/>
          </a:xfrm>
          <a:prstGeom prst="ellipse">
            <a:avLst/>
          </a:prstGeom>
          <a:solidFill>
            <a:srgbClr val="6E40C9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523875" y="1503611"/>
            <a:ext cx="21580" cy="659011"/>
          </a:xfrm>
          <a:custGeom>
            <a:avLst/>
            <a:gdLst/>
            <a:ahLst/>
            <a:cxnLst/>
            <a:rect l="l" t="t" r="r" b="b"/>
            <a:pathLst>
              <a:path w="21580" h="65901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29761"/>
                </a:lnTo>
                <a:lnTo>
                  <a:pt x="18883" y="626547"/>
                </a:lnTo>
                <a:lnTo>
                  <a:pt x="16185" y="622985"/>
                </a:lnTo>
                <a:lnTo>
                  <a:pt x="13488" y="618994"/>
                </a:lnTo>
                <a:lnTo>
                  <a:pt x="10790" y="614451"/>
                </a:lnTo>
                <a:lnTo>
                  <a:pt x="8093" y="609151"/>
                </a:lnTo>
                <a:lnTo>
                  <a:pt x="5395" y="602696"/>
                </a:lnTo>
                <a:lnTo>
                  <a:pt x="2698" y="594067"/>
                </a:lnTo>
                <a:lnTo>
                  <a:pt x="0" y="572651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3" name="Text 47"/>
          <p:cNvSpPr/>
          <p:nvPr/>
        </p:nvSpPr>
        <p:spPr>
          <a:xfrm>
            <a:off x="523875" y="1503611"/>
            <a:ext cx="571500" cy="659011"/>
          </a:xfrm>
          <a:prstGeom prst="roundRect">
            <a:avLst>
              <a:gd name="adj" fmla="val 1511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4" name="Text 48"/>
          <p:cNvSpPr/>
          <p:nvPr/>
        </p:nvSpPr>
        <p:spPr>
          <a:xfrm>
            <a:off x="523875" y="2281982"/>
            <a:ext cx="21580" cy="659011"/>
          </a:xfrm>
          <a:custGeom>
            <a:avLst/>
            <a:gdLst/>
            <a:ahLst/>
            <a:cxnLst/>
            <a:rect l="l" t="t" r="r" b="b"/>
            <a:pathLst>
              <a:path w="21580" h="65901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29761"/>
                </a:lnTo>
                <a:lnTo>
                  <a:pt x="18883" y="626547"/>
                </a:lnTo>
                <a:lnTo>
                  <a:pt x="16185" y="622985"/>
                </a:lnTo>
                <a:lnTo>
                  <a:pt x="13488" y="618994"/>
                </a:lnTo>
                <a:lnTo>
                  <a:pt x="10790" y="614451"/>
                </a:lnTo>
                <a:lnTo>
                  <a:pt x="8093" y="609151"/>
                </a:lnTo>
                <a:lnTo>
                  <a:pt x="5395" y="602696"/>
                </a:lnTo>
                <a:lnTo>
                  <a:pt x="2698" y="594067"/>
                </a:lnTo>
                <a:lnTo>
                  <a:pt x="0" y="572651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5" name="Text 49"/>
          <p:cNvSpPr/>
          <p:nvPr/>
        </p:nvSpPr>
        <p:spPr>
          <a:xfrm>
            <a:off x="523875" y="2281982"/>
            <a:ext cx="571500" cy="659011"/>
          </a:xfrm>
          <a:prstGeom prst="roundRect">
            <a:avLst>
              <a:gd name="adj" fmla="val 1511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6" name="Text 50"/>
          <p:cNvSpPr/>
          <p:nvPr/>
        </p:nvSpPr>
        <p:spPr>
          <a:xfrm>
            <a:off x="523875" y="3060353"/>
            <a:ext cx="21580" cy="659011"/>
          </a:xfrm>
          <a:custGeom>
            <a:avLst/>
            <a:gdLst/>
            <a:ahLst/>
            <a:cxnLst/>
            <a:rect l="l" t="t" r="r" b="b"/>
            <a:pathLst>
              <a:path w="21580" h="65901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29761"/>
                </a:lnTo>
                <a:lnTo>
                  <a:pt x="18883" y="626547"/>
                </a:lnTo>
                <a:lnTo>
                  <a:pt x="16185" y="622985"/>
                </a:lnTo>
                <a:lnTo>
                  <a:pt x="13488" y="618994"/>
                </a:lnTo>
                <a:lnTo>
                  <a:pt x="10790" y="614451"/>
                </a:lnTo>
                <a:lnTo>
                  <a:pt x="8093" y="609151"/>
                </a:lnTo>
                <a:lnTo>
                  <a:pt x="5395" y="602696"/>
                </a:lnTo>
                <a:lnTo>
                  <a:pt x="2698" y="594067"/>
                </a:lnTo>
                <a:lnTo>
                  <a:pt x="0" y="572651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7" name="Text 51"/>
          <p:cNvSpPr/>
          <p:nvPr/>
        </p:nvSpPr>
        <p:spPr>
          <a:xfrm>
            <a:off x="523875" y="3060353"/>
            <a:ext cx="571500" cy="659011"/>
          </a:xfrm>
          <a:prstGeom prst="roundRect">
            <a:avLst>
              <a:gd name="adj" fmla="val 1511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8" name="Text 52"/>
          <p:cNvSpPr/>
          <p:nvPr/>
        </p:nvSpPr>
        <p:spPr>
          <a:xfrm>
            <a:off x="523875" y="3838724"/>
            <a:ext cx="21580" cy="659011"/>
          </a:xfrm>
          <a:custGeom>
            <a:avLst/>
            <a:gdLst/>
            <a:ahLst/>
            <a:cxnLst/>
            <a:rect l="l" t="t" r="r" b="b"/>
            <a:pathLst>
              <a:path w="21580" h="659011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629761"/>
                </a:lnTo>
                <a:lnTo>
                  <a:pt x="18883" y="626547"/>
                </a:lnTo>
                <a:lnTo>
                  <a:pt x="16185" y="622985"/>
                </a:lnTo>
                <a:lnTo>
                  <a:pt x="13488" y="618994"/>
                </a:lnTo>
                <a:lnTo>
                  <a:pt x="10790" y="614451"/>
                </a:lnTo>
                <a:lnTo>
                  <a:pt x="8093" y="609151"/>
                </a:lnTo>
                <a:lnTo>
                  <a:pt x="5395" y="602696"/>
                </a:lnTo>
                <a:lnTo>
                  <a:pt x="2698" y="594067"/>
                </a:lnTo>
                <a:lnTo>
                  <a:pt x="0" y="572651"/>
                </a:lnTo>
                <a:close/>
              </a:path>
            </a:pathLst>
          </a:custGeom>
          <a:solidFill>
            <a:srgbClr val="6E40C9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59" name="Text 53"/>
          <p:cNvSpPr/>
          <p:nvPr/>
        </p:nvSpPr>
        <p:spPr>
          <a:xfrm>
            <a:off x="523875" y="3838724"/>
            <a:ext cx="571500" cy="659011"/>
          </a:xfrm>
          <a:prstGeom prst="roundRect">
            <a:avLst>
              <a:gd name="adj" fmla="val 15111"/>
            </a:avLst>
          </a:prstGeom>
          <a:gradFill rotWithShape="1">
            <a:gsLst>
              <a:gs pos="0">
                <a:srgbClr val="6E40C9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AAF1-26E8-7D3D-D104-65CB59EB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E71A60B0-E517-437F-069A-DE63F630EA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59D7B3-C81A-B4A5-22E5-75E26947019F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161B750-E517-E132-C105-C2FD73D050F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DE3BC683-3E00-53E5-C857-7615CDE8AA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F69026C-5B90-A429-B270-98474A25899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4B33077F-43D3-2074-1EE9-4855F322183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12BD4D8-8DFF-6FCB-0255-156D166F94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1F8BD8B-27C9-1934-BD96-15CACCB976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D075462-46BC-AA23-F834-380052AAC21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C369EA1-EE85-9068-A080-33018F570C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What is GitHub Copilot CLI?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12BD551-EC07-30A4-9994-10830208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579" y="1710799"/>
            <a:ext cx="411480" cy="411480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022CD4AC-060F-9F69-4329-FE4871B05931}"/>
              </a:ext>
            </a:extLst>
          </p:cNvPr>
          <p:cNvSpPr/>
          <p:nvPr/>
        </p:nvSpPr>
        <p:spPr>
          <a:xfrm>
            <a:off x="1665219" y="148219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terminal</a:t>
            </a:r>
            <a:endParaRPr lang="en-US" sz="1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00C183E-645E-3985-EAC5-4CB20F958FC9}"/>
              </a:ext>
            </a:extLst>
          </p:cNvPr>
          <p:cNvSpPr/>
          <p:nvPr/>
        </p:nvSpPr>
        <p:spPr>
          <a:xfrm>
            <a:off x="1665219" y="192111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browser, no editor plugin (just your terminal)</a:t>
            </a:r>
            <a:endParaRPr lang="en-US" sz="12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20910550-DC46-EC7F-167E-F9E48C856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946" y="1710799"/>
            <a:ext cx="411480" cy="411480"/>
          </a:xfrm>
          <a:prstGeom prst="rect">
            <a:avLst/>
          </a:prstGeom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439EA8A4-717F-4562-5A2E-1BE74911FE24}"/>
              </a:ext>
            </a:extLst>
          </p:cNvPr>
          <p:cNvSpPr/>
          <p:nvPr/>
        </p:nvSpPr>
        <p:spPr>
          <a:xfrm>
            <a:off x="5530586" y="148219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prompts</a:t>
            </a:r>
            <a:endParaRPr lang="en-US" sz="15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105E22F-9D2E-2BBC-245B-EBB2A112D725}"/>
              </a:ext>
            </a:extLst>
          </p:cNvPr>
          <p:cNvSpPr/>
          <p:nvPr/>
        </p:nvSpPr>
        <p:spPr>
          <a:xfrm>
            <a:off x="5530586" y="192111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(no commands to memorize)</a:t>
            </a:r>
            <a:endParaRPr lang="en-US" sz="12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303F363B-9F6C-AF27-C18C-1386EEC2B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779" y="3313829"/>
            <a:ext cx="411480" cy="411480"/>
          </a:xfrm>
          <a:prstGeom prst="rect">
            <a:avLst/>
          </a:prstGeom>
        </p:spPr>
      </p:pic>
      <p:sp>
        <p:nvSpPr>
          <p:cNvPr id="22" name="Text 12">
            <a:extLst>
              <a:ext uri="{FF2B5EF4-FFF2-40B4-BE49-F238E27FC236}">
                <a16:creationId xmlns:a16="http://schemas.microsoft.com/office/drawing/2014/main" id="{EBF1245E-F3C7-927E-D3AC-8DEBB4FA248D}"/>
              </a:ext>
            </a:extLst>
          </p:cNvPr>
          <p:cNvSpPr/>
          <p:nvPr/>
        </p:nvSpPr>
        <p:spPr>
          <a:xfrm>
            <a:off x="1744419" y="308522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project</a:t>
            </a:r>
            <a:endParaRPr lang="en-US" sz="15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6DCEEF5C-BCA9-0F00-EF48-408CEA25CF1B}"/>
              </a:ext>
            </a:extLst>
          </p:cNvPr>
          <p:cNvSpPr/>
          <p:nvPr/>
        </p:nvSpPr>
        <p:spPr>
          <a:xfrm>
            <a:off x="1744419" y="352414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files, structure, and database automatically</a:t>
            </a:r>
            <a:endParaRPr lang="en-US" sz="1200" dirty="0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3E0CCC55-6E6B-40E0-D8E3-27C6615990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10112"/>
            <a:ext cx="411480" cy="411480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861C4510-887F-36CB-ED03-58DB036EE897}"/>
              </a:ext>
            </a:extLst>
          </p:cNvPr>
          <p:cNvSpPr/>
          <p:nvPr/>
        </p:nvSpPr>
        <p:spPr>
          <a:xfrm>
            <a:off x="5440680" y="3081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GitHub</a:t>
            </a:r>
            <a:endParaRPr lang="en-US" sz="15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D3C85D1D-F430-7368-D29C-48FA872D0107}"/>
              </a:ext>
            </a:extLst>
          </p:cNvPr>
          <p:cNvSpPr/>
          <p:nvPr/>
        </p:nvSpPr>
        <p:spPr>
          <a:xfrm>
            <a:off x="5440680" y="3520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Microsoft (free to start with a GitHub account)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09501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6208F-D434-A723-D98D-4494572F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D7B9D819-8E80-8246-D26D-F8C6B1834F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A9B312-E65E-8D4A-07F8-7A54E94DD4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69AF8AD4-5603-40C7-A0BD-DBB0FF4617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85C7DFB-68B0-A493-DFFC-88BBFE10DB1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977B5567-29E3-3825-1BF6-FC2E04C7F5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1D71914-3458-0CBA-9DB0-AE9C00635E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3B68DD2-40AE-387E-FDC6-D12FC903D1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5B09CD1-6299-4D99-96A3-2F1FBF805D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4FD5EB-EA72-1EC8-CB99-B4E128128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How it works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5558B44-D616-B196-D5B5-0323C7C04B05}"/>
              </a:ext>
            </a:extLst>
          </p:cNvPr>
          <p:cNvGrpSpPr/>
          <p:nvPr/>
        </p:nvGrpSpPr>
        <p:grpSpPr>
          <a:xfrm>
            <a:off x="929078" y="1327074"/>
            <a:ext cx="7261535" cy="2856997"/>
            <a:chOff x="365760" y="1097280"/>
            <a:chExt cx="8366760" cy="329184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440258-22C9-BD6B-10D0-7C7624679EEC}"/>
                </a:ext>
              </a:extLst>
            </p:cNvPr>
            <p:cNvSpPr txBox="1"/>
            <p:nvPr/>
          </p:nvSpPr>
          <p:spPr>
            <a:xfrm>
              <a:off x="2286000" y="2387084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CA" dirty="0"/>
            </a:p>
          </p:txBody>
        </p:sp>
        <p:sp>
          <p:nvSpPr>
            <p:cNvPr id="67" name="Shape 2">
              <a:extLst>
                <a:ext uri="{FF2B5EF4-FFF2-40B4-BE49-F238E27FC236}">
                  <a16:creationId xmlns:a16="http://schemas.microsoft.com/office/drawing/2014/main" id="{9576DE2E-78BA-9508-3BD3-0A588C631036}"/>
                </a:ext>
              </a:extLst>
            </p:cNvPr>
            <p:cNvSpPr/>
            <p:nvPr/>
          </p:nvSpPr>
          <p:spPr>
            <a:xfrm>
              <a:off x="365760" y="1097280"/>
              <a:ext cx="1920240" cy="329184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101600" dist="50800" dir="16200000" algn="bl" rotWithShape="0">
                <a:srgbClr val="3B9EFF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Shape 3">
              <a:extLst>
                <a:ext uri="{FF2B5EF4-FFF2-40B4-BE49-F238E27FC236}">
                  <a16:creationId xmlns:a16="http://schemas.microsoft.com/office/drawing/2014/main" id="{73D18520-54DC-2A78-3F37-2F6396451599}"/>
                </a:ext>
              </a:extLst>
            </p:cNvPr>
            <p:cNvSpPr/>
            <p:nvPr/>
          </p:nvSpPr>
          <p:spPr>
            <a:xfrm>
              <a:off x="365760" y="1097280"/>
              <a:ext cx="1920240" cy="45720"/>
            </a:xfrm>
            <a:prstGeom prst="rect">
              <a:avLst/>
            </a:prstGeom>
            <a:solidFill>
              <a:srgbClr val="3B9EFF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76200" dist="25400" dir="5400000" algn="bl" rotWithShape="0">
                <a:srgbClr val="3B9EFF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Shape 4">
              <a:extLst>
                <a:ext uri="{FF2B5EF4-FFF2-40B4-BE49-F238E27FC236}">
                  <a16:creationId xmlns:a16="http://schemas.microsoft.com/office/drawing/2014/main" id="{49A7553F-E2CE-E699-CFCF-26F94495BCF7}"/>
                </a:ext>
              </a:extLst>
            </p:cNvPr>
            <p:cNvSpPr/>
            <p:nvPr/>
          </p:nvSpPr>
          <p:spPr>
            <a:xfrm>
              <a:off x="1005840" y="1325880"/>
              <a:ext cx="640080" cy="640080"/>
            </a:xfrm>
            <a:prstGeom prst="ellipse">
              <a:avLst/>
            </a:prstGeom>
            <a:solidFill>
              <a:srgbClr val="3B9EFF">
                <a:alpha val="20000"/>
              </a:srgbClr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Text 5">
              <a:extLst>
                <a:ext uri="{FF2B5EF4-FFF2-40B4-BE49-F238E27FC236}">
                  <a16:creationId xmlns:a16="http://schemas.microsoft.com/office/drawing/2014/main" id="{7DF7F27B-7233-0FD3-A50E-825600BDAF9D}"/>
                </a:ext>
              </a:extLst>
            </p:cNvPr>
            <p:cNvSpPr/>
            <p:nvPr/>
          </p:nvSpPr>
          <p:spPr>
            <a:xfrm>
              <a:off x="1005840" y="13258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800" dirty="0"/>
            </a:p>
          </p:txBody>
        </p:sp>
        <p:sp>
          <p:nvSpPr>
            <p:cNvPr id="71" name="Text 6">
              <a:extLst>
                <a:ext uri="{FF2B5EF4-FFF2-40B4-BE49-F238E27FC236}">
                  <a16:creationId xmlns:a16="http://schemas.microsoft.com/office/drawing/2014/main" id="{67933BFA-D11A-A37F-6B65-60C8BCBC4D7E}"/>
                </a:ext>
              </a:extLst>
            </p:cNvPr>
            <p:cNvSpPr/>
            <p:nvPr/>
          </p:nvSpPr>
          <p:spPr>
            <a:xfrm>
              <a:off x="475488" y="2148840"/>
              <a:ext cx="170078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 type a prompt</a:t>
              </a:r>
              <a:endParaRPr lang="en-US" sz="1300" dirty="0"/>
            </a:p>
          </p:txBody>
        </p:sp>
        <p:sp>
          <p:nvSpPr>
            <p:cNvPr id="72" name="Text 7">
              <a:extLst>
                <a:ext uri="{FF2B5EF4-FFF2-40B4-BE49-F238E27FC236}">
                  <a16:creationId xmlns:a16="http://schemas.microsoft.com/office/drawing/2014/main" id="{344BD027-96DE-1A42-876B-F97BFCEC8C05}"/>
                </a:ext>
              </a:extLst>
            </p:cNvPr>
            <p:cNvSpPr/>
            <p:nvPr/>
          </p:nvSpPr>
          <p:spPr>
            <a:xfrm>
              <a:off x="475488" y="2834640"/>
              <a:ext cx="170078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Plain English, in your terminal</a:t>
              </a:r>
              <a:endParaRPr lang="en-US" sz="1100" dirty="0"/>
            </a:p>
          </p:txBody>
        </p:sp>
        <p:sp>
          <p:nvSpPr>
            <p:cNvPr id="73" name="Text 8">
              <a:extLst>
                <a:ext uri="{FF2B5EF4-FFF2-40B4-BE49-F238E27FC236}">
                  <a16:creationId xmlns:a16="http://schemas.microsoft.com/office/drawing/2014/main" id="{A9BA5C02-6E6C-7F88-3DC7-275902CF9D3E}"/>
                </a:ext>
              </a:extLst>
            </p:cNvPr>
            <p:cNvSpPr/>
            <p:nvPr/>
          </p:nvSpPr>
          <p:spPr>
            <a:xfrm>
              <a:off x="2286000" y="237744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5A6A8A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74" name="Shape 9">
              <a:extLst>
                <a:ext uri="{FF2B5EF4-FFF2-40B4-BE49-F238E27FC236}">
                  <a16:creationId xmlns:a16="http://schemas.microsoft.com/office/drawing/2014/main" id="{659EAC1C-AB72-C75C-50A7-42277C04DF8A}"/>
                </a:ext>
              </a:extLst>
            </p:cNvPr>
            <p:cNvSpPr/>
            <p:nvPr/>
          </p:nvSpPr>
          <p:spPr>
            <a:xfrm>
              <a:off x="2514600" y="1097280"/>
              <a:ext cx="1920240" cy="329184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Shape 10">
              <a:extLst>
                <a:ext uri="{FF2B5EF4-FFF2-40B4-BE49-F238E27FC236}">
                  <a16:creationId xmlns:a16="http://schemas.microsoft.com/office/drawing/2014/main" id="{263FDCF6-8CCA-1BA5-DE86-E833F23016A8}"/>
                </a:ext>
              </a:extLst>
            </p:cNvPr>
            <p:cNvSpPr/>
            <p:nvPr/>
          </p:nvSpPr>
          <p:spPr>
            <a:xfrm>
              <a:off x="2514600" y="1097280"/>
              <a:ext cx="1920240" cy="45720"/>
            </a:xfrm>
            <a:prstGeom prst="rect">
              <a:avLst/>
            </a:prstGeom>
            <a:solidFill>
              <a:srgbClr val="C084FC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76200" dist="25400" dir="5400000" algn="bl" rotWithShape="0">
                <a:srgbClr val="C084FC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Shape 11">
              <a:extLst>
                <a:ext uri="{FF2B5EF4-FFF2-40B4-BE49-F238E27FC236}">
                  <a16:creationId xmlns:a16="http://schemas.microsoft.com/office/drawing/2014/main" id="{B16FC3B8-DA9C-4480-AA95-FBC850667BA6}"/>
                </a:ext>
              </a:extLst>
            </p:cNvPr>
            <p:cNvSpPr/>
            <p:nvPr/>
          </p:nvSpPr>
          <p:spPr>
            <a:xfrm>
              <a:off x="3154680" y="1325880"/>
              <a:ext cx="640080" cy="64008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7" name="Text 12">
              <a:extLst>
                <a:ext uri="{FF2B5EF4-FFF2-40B4-BE49-F238E27FC236}">
                  <a16:creationId xmlns:a16="http://schemas.microsoft.com/office/drawing/2014/main" id="{AE165378-1806-C803-C867-818654925792}"/>
                </a:ext>
              </a:extLst>
            </p:cNvPr>
            <p:cNvSpPr/>
            <p:nvPr/>
          </p:nvSpPr>
          <p:spPr>
            <a:xfrm>
              <a:off x="3154680" y="13258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800" dirty="0"/>
            </a:p>
          </p:txBody>
        </p:sp>
        <p:sp>
          <p:nvSpPr>
            <p:cNvPr id="78" name="Text 13">
              <a:extLst>
                <a:ext uri="{FF2B5EF4-FFF2-40B4-BE49-F238E27FC236}">
                  <a16:creationId xmlns:a16="http://schemas.microsoft.com/office/drawing/2014/main" id="{65194956-B207-E674-3C0A-CF5FB72DFECB}"/>
                </a:ext>
              </a:extLst>
            </p:cNvPr>
            <p:cNvSpPr/>
            <p:nvPr/>
          </p:nvSpPr>
          <p:spPr>
            <a:xfrm>
              <a:off x="2624328" y="2148840"/>
              <a:ext cx="170078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Copilot reads your project</a:t>
              </a:r>
              <a:endParaRPr lang="en-US" sz="1300" dirty="0"/>
            </a:p>
          </p:txBody>
        </p:sp>
        <p:sp>
          <p:nvSpPr>
            <p:cNvPr id="79" name="Text 14">
              <a:extLst>
                <a:ext uri="{FF2B5EF4-FFF2-40B4-BE49-F238E27FC236}">
                  <a16:creationId xmlns:a16="http://schemas.microsoft.com/office/drawing/2014/main" id="{313ED0E8-5EF0-8E3C-C6DD-26AB5A186680}"/>
                </a:ext>
              </a:extLst>
            </p:cNvPr>
            <p:cNvSpPr/>
            <p:nvPr/>
          </p:nvSpPr>
          <p:spPr>
            <a:xfrm>
              <a:off x="2624328" y="2834640"/>
              <a:ext cx="170078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Files, structure, database — all of it</a:t>
              </a:r>
              <a:endParaRPr lang="en-US" sz="1100" dirty="0"/>
            </a:p>
          </p:txBody>
        </p:sp>
        <p:sp>
          <p:nvSpPr>
            <p:cNvPr id="80" name="Text 15">
              <a:extLst>
                <a:ext uri="{FF2B5EF4-FFF2-40B4-BE49-F238E27FC236}">
                  <a16:creationId xmlns:a16="http://schemas.microsoft.com/office/drawing/2014/main" id="{F03A854D-E65B-BB1B-8085-CB2C81064D1D}"/>
                </a:ext>
              </a:extLst>
            </p:cNvPr>
            <p:cNvSpPr/>
            <p:nvPr/>
          </p:nvSpPr>
          <p:spPr>
            <a:xfrm>
              <a:off x="4434840" y="237744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5A6A8A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81" name="Shape 16">
              <a:extLst>
                <a:ext uri="{FF2B5EF4-FFF2-40B4-BE49-F238E27FC236}">
                  <a16:creationId xmlns:a16="http://schemas.microsoft.com/office/drawing/2014/main" id="{E17DD3A6-32D4-1881-2B35-319DC384A478}"/>
                </a:ext>
              </a:extLst>
            </p:cNvPr>
            <p:cNvSpPr/>
            <p:nvPr/>
          </p:nvSpPr>
          <p:spPr>
            <a:xfrm>
              <a:off x="4663440" y="1097280"/>
              <a:ext cx="1920240" cy="329184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22D3EE"/>
              </a:solidFill>
              <a:prstDash val="solid"/>
            </a:ln>
            <a:effectLst>
              <a:outerShdw blurRad="101600" dist="50800" dir="16200000" algn="bl" rotWithShape="0">
                <a:srgbClr val="22D3EE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Shape 17">
              <a:extLst>
                <a:ext uri="{FF2B5EF4-FFF2-40B4-BE49-F238E27FC236}">
                  <a16:creationId xmlns:a16="http://schemas.microsoft.com/office/drawing/2014/main" id="{E66BCF71-6A79-8E3B-28FB-AE5AE4DE4BF6}"/>
                </a:ext>
              </a:extLst>
            </p:cNvPr>
            <p:cNvSpPr/>
            <p:nvPr/>
          </p:nvSpPr>
          <p:spPr>
            <a:xfrm>
              <a:off x="4663440" y="1097280"/>
              <a:ext cx="1920240" cy="45720"/>
            </a:xfrm>
            <a:prstGeom prst="rect">
              <a:avLst/>
            </a:prstGeom>
            <a:solidFill>
              <a:srgbClr val="22D3EE"/>
            </a:solidFill>
            <a:ln w="12700">
              <a:solidFill>
                <a:srgbClr val="22D3EE"/>
              </a:solidFill>
              <a:prstDash val="solid"/>
            </a:ln>
            <a:effectLst>
              <a:outerShdw blurRad="76200" dist="25400" dir="5400000" algn="bl" rotWithShape="0">
                <a:srgbClr val="22D3EE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83" name="Shape 18">
              <a:extLst>
                <a:ext uri="{FF2B5EF4-FFF2-40B4-BE49-F238E27FC236}">
                  <a16:creationId xmlns:a16="http://schemas.microsoft.com/office/drawing/2014/main" id="{2CEB67B8-AF52-55BB-E048-ECFF057E42C8}"/>
                </a:ext>
              </a:extLst>
            </p:cNvPr>
            <p:cNvSpPr/>
            <p:nvPr/>
          </p:nvSpPr>
          <p:spPr>
            <a:xfrm>
              <a:off x="5303520" y="1325880"/>
              <a:ext cx="640080" cy="640080"/>
            </a:xfrm>
            <a:prstGeom prst="ellipse">
              <a:avLst/>
            </a:prstGeom>
            <a:solidFill>
              <a:srgbClr val="22D3EE">
                <a:alpha val="20000"/>
              </a:srgbClr>
            </a:solidFill>
            <a:ln w="12700">
              <a:solidFill>
                <a:srgbClr val="22D3E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Text 19">
              <a:extLst>
                <a:ext uri="{FF2B5EF4-FFF2-40B4-BE49-F238E27FC236}">
                  <a16:creationId xmlns:a16="http://schemas.microsoft.com/office/drawing/2014/main" id="{3643D426-D0A8-588F-4D51-C04D92371C01}"/>
                </a:ext>
              </a:extLst>
            </p:cNvPr>
            <p:cNvSpPr/>
            <p:nvPr/>
          </p:nvSpPr>
          <p:spPr>
            <a:xfrm>
              <a:off x="5303520" y="13258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22D3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800" dirty="0"/>
            </a:p>
          </p:txBody>
        </p:sp>
        <p:sp>
          <p:nvSpPr>
            <p:cNvPr id="85" name="Text 20">
              <a:extLst>
                <a:ext uri="{FF2B5EF4-FFF2-40B4-BE49-F238E27FC236}">
                  <a16:creationId xmlns:a16="http://schemas.microsoft.com/office/drawing/2014/main" id="{203D3B50-93E9-A7B2-3109-E486A69A5E53}"/>
                </a:ext>
              </a:extLst>
            </p:cNvPr>
            <p:cNvSpPr/>
            <p:nvPr/>
          </p:nvSpPr>
          <p:spPr>
            <a:xfrm>
              <a:off x="4773168" y="2148840"/>
              <a:ext cx="170078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generates a response</a:t>
              </a:r>
              <a:endParaRPr lang="en-US" sz="1300" dirty="0"/>
            </a:p>
          </p:txBody>
        </p:sp>
        <p:sp>
          <p:nvSpPr>
            <p:cNvPr id="86" name="Text 21">
              <a:extLst>
                <a:ext uri="{FF2B5EF4-FFF2-40B4-BE49-F238E27FC236}">
                  <a16:creationId xmlns:a16="http://schemas.microsoft.com/office/drawing/2014/main" id="{DD6EB24D-56E8-8B82-23B8-6FD30473282D}"/>
                </a:ext>
              </a:extLst>
            </p:cNvPr>
            <p:cNvSpPr/>
            <p:nvPr/>
          </p:nvSpPr>
          <p:spPr>
            <a:xfrm>
              <a:off x="4773168" y="2834640"/>
              <a:ext cx="170078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Code, commands, or documentation</a:t>
              </a:r>
              <a:endParaRPr lang="en-US" sz="1100" dirty="0"/>
            </a:p>
          </p:txBody>
        </p:sp>
        <p:sp>
          <p:nvSpPr>
            <p:cNvPr id="87" name="Text 22">
              <a:extLst>
                <a:ext uri="{FF2B5EF4-FFF2-40B4-BE49-F238E27FC236}">
                  <a16:creationId xmlns:a16="http://schemas.microsoft.com/office/drawing/2014/main" id="{97139FD4-CE40-D15F-1DB8-CC0AC686E31D}"/>
                </a:ext>
              </a:extLst>
            </p:cNvPr>
            <p:cNvSpPr/>
            <p:nvPr/>
          </p:nvSpPr>
          <p:spPr>
            <a:xfrm>
              <a:off x="6583680" y="237744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5A6A8A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88" name="Shape 23">
              <a:extLst>
                <a:ext uri="{FF2B5EF4-FFF2-40B4-BE49-F238E27FC236}">
                  <a16:creationId xmlns:a16="http://schemas.microsoft.com/office/drawing/2014/main" id="{F4F00669-4A53-40D3-2290-3D97E2096C9D}"/>
                </a:ext>
              </a:extLst>
            </p:cNvPr>
            <p:cNvSpPr/>
            <p:nvPr/>
          </p:nvSpPr>
          <p:spPr>
            <a:xfrm>
              <a:off x="6812280" y="1097280"/>
              <a:ext cx="1920240" cy="329184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89" name="Shape 24">
              <a:extLst>
                <a:ext uri="{FF2B5EF4-FFF2-40B4-BE49-F238E27FC236}">
                  <a16:creationId xmlns:a16="http://schemas.microsoft.com/office/drawing/2014/main" id="{B04BB4B5-CB96-FD65-E779-A5059AB012EA}"/>
                </a:ext>
              </a:extLst>
            </p:cNvPr>
            <p:cNvSpPr/>
            <p:nvPr/>
          </p:nvSpPr>
          <p:spPr>
            <a:xfrm>
              <a:off x="6812280" y="1097280"/>
              <a:ext cx="1920240" cy="4572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76200" dist="25400" dir="5400000" algn="bl" rotWithShape="0">
                <a:srgbClr val="F472B6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Shape 25">
              <a:extLst>
                <a:ext uri="{FF2B5EF4-FFF2-40B4-BE49-F238E27FC236}">
                  <a16:creationId xmlns:a16="http://schemas.microsoft.com/office/drawing/2014/main" id="{25A192DB-10E3-9379-4FF3-17632B769E67}"/>
                </a:ext>
              </a:extLst>
            </p:cNvPr>
            <p:cNvSpPr/>
            <p:nvPr/>
          </p:nvSpPr>
          <p:spPr>
            <a:xfrm>
              <a:off x="7452360" y="1325880"/>
              <a:ext cx="640080" cy="64008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Text 26">
              <a:extLst>
                <a:ext uri="{FF2B5EF4-FFF2-40B4-BE49-F238E27FC236}">
                  <a16:creationId xmlns:a16="http://schemas.microsoft.com/office/drawing/2014/main" id="{38551927-1A4D-6C52-E994-24B624B540DC}"/>
                </a:ext>
              </a:extLst>
            </p:cNvPr>
            <p:cNvSpPr/>
            <p:nvPr/>
          </p:nvSpPr>
          <p:spPr>
            <a:xfrm>
              <a:off x="7452360" y="132588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800" dirty="0"/>
            </a:p>
          </p:txBody>
        </p:sp>
        <p:sp>
          <p:nvSpPr>
            <p:cNvPr id="92" name="Text 27">
              <a:extLst>
                <a:ext uri="{FF2B5EF4-FFF2-40B4-BE49-F238E27FC236}">
                  <a16:creationId xmlns:a16="http://schemas.microsoft.com/office/drawing/2014/main" id="{1EC0431A-A8E2-F2DE-CDC4-EC561F0CA50A}"/>
                </a:ext>
              </a:extLst>
            </p:cNvPr>
            <p:cNvSpPr/>
            <p:nvPr/>
          </p:nvSpPr>
          <p:spPr>
            <a:xfrm>
              <a:off x="6922008" y="2148840"/>
              <a:ext cx="1700784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 review and apply</a:t>
              </a:r>
              <a:endParaRPr lang="en-US" sz="1300" dirty="0"/>
            </a:p>
          </p:txBody>
        </p:sp>
        <p:sp>
          <p:nvSpPr>
            <p:cNvPr id="93" name="Text 28">
              <a:extLst>
                <a:ext uri="{FF2B5EF4-FFF2-40B4-BE49-F238E27FC236}">
                  <a16:creationId xmlns:a16="http://schemas.microsoft.com/office/drawing/2014/main" id="{EB65794C-02E1-01FF-8D12-7FB99BC0F702}"/>
                </a:ext>
              </a:extLst>
            </p:cNvPr>
            <p:cNvSpPr/>
            <p:nvPr/>
          </p:nvSpPr>
          <p:spPr>
            <a:xfrm>
              <a:off x="6922008" y="2834640"/>
              <a:ext cx="170078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Approve, edit, or ask again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1292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A035-DDFD-11D9-98AF-6BAFA804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F1D2D90D-A6FF-FFA5-E94D-E879C8862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AD85E6-75D1-9492-130A-7B4C7493F32C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5940E27-2DFE-BABC-23C5-C35ABBB7CB19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A4D9AD3D-520F-4215-9295-341213C5FCF2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5F8FAE-2442-B899-D84E-CA969F294BB1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6DB4AC22-F2AC-1D7B-100D-E40313CE3059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D77959A-9E5D-0EE4-29D9-1EF9DDC36675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563A3E-11CE-0589-A2E6-2FCFBB548B50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FA40AF9-24DC-4D6F-006A-E93ADB50150D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6CCDE5A-CDC9-87F6-BE34-7F05DB6AB559}"/>
              </a:ext>
            </a:extLst>
          </p:cNvPr>
          <p:cNvSpPr txBox="1"/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What can you do with it?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1AD2B92-9D7A-4DA0-AAA5-E7B608204B08}"/>
              </a:ext>
            </a:extLst>
          </p:cNvPr>
          <p:cNvGrpSpPr/>
          <p:nvPr/>
        </p:nvGrpSpPr>
        <p:grpSpPr>
          <a:xfrm>
            <a:off x="1163833" y="1547622"/>
            <a:ext cx="6806098" cy="2280963"/>
            <a:chOff x="365760" y="1280160"/>
            <a:chExt cx="8458200" cy="2834640"/>
          </a:xfrm>
        </p:grpSpPr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BADA5E17-9268-91AD-324E-91C24EA519ED}"/>
                </a:ext>
              </a:extLst>
            </p:cNvPr>
            <p:cNvSpPr/>
            <p:nvPr/>
          </p:nvSpPr>
          <p:spPr>
            <a:xfrm>
              <a:off x="365760" y="128016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101600" dist="50800" dir="16200000" algn="bl" rotWithShape="0">
                <a:srgbClr val="3B9EFF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7FC13FF6-1DCB-E7ED-9D1E-4C028F0CA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463040"/>
              <a:ext cx="347472" cy="347472"/>
            </a:xfrm>
            <a:prstGeom prst="rect">
              <a:avLst/>
            </a:prstGeom>
          </p:spPr>
        </p:pic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1C94E11-147B-CEC9-A033-DA3543928E01}"/>
                </a:ext>
              </a:extLst>
            </p:cNvPr>
            <p:cNvSpPr/>
            <p:nvPr/>
          </p:nvSpPr>
          <p:spPr>
            <a:xfrm>
              <a:off x="1024128" y="140817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Query databases</a:t>
              </a:r>
              <a:endParaRPr lang="en-US" sz="13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0B5BD19-565D-DC4C-5B0D-9DEEA39BBB28}"/>
                </a:ext>
              </a:extLst>
            </p:cNvPr>
            <p:cNvSpPr/>
            <p:nvPr/>
          </p:nvSpPr>
          <p:spPr>
            <a:xfrm>
              <a:off x="1024128" y="175564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and explore in plain English</a:t>
              </a:r>
              <a:endParaRPr lang="en-US" sz="11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842B83B9-7E8E-2410-731B-153C3D4EBDC5}"/>
                </a:ext>
              </a:extLst>
            </p:cNvPr>
            <p:cNvSpPr/>
            <p:nvPr/>
          </p:nvSpPr>
          <p:spPr>
            <a:xfrm>
              <a:off x="3246120" y="128016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9" name="Image 1" descr="preencoded.png">
              <a:extLst>
                <a:ext uri="{FF2B5EF4-FFF2-40B4-BE49-F238E27FC236}">
                  <a16:creationId xmlns:a16="http://schemas.microsoft.com/office/drawing/2014/main" id="{A172935A-A19F-E9AE-07B3-982EF3F79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9000" y="1463040"/>
              <a:ext cx="347472" cy="347472"/>
            </a:xfrm>
            <a:prstGeom prst="rect">
              <a:avLst/>
            </a:prstGeom>
          </p:spPr>
        </p:pic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B9EA2B97-DB7E-E286-80D6-804D4FF94705}"/>
                </a:ext>
              </a:extLst>
            </p:cNvPr>
            <p:cNvSpPr/>
            <p:nvPr/>
          </p:nvSpPr>
          <p:spPr>
            <a:xfrm>
              <a:off x="3904488" y="140817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apps</a:t>
              </a:r>
              <a:endParaRPr lang="en-US" sz="130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E8F660E7-B841-6E66-A7CC-012269B7A14C}"/>
                </a:ext>
              </a:extLst>
            </p:cNvPr>
            <p:cNvSpPr/>
            <p:nvPr/>
          </p:nvSpPr>
          <p:spPr>
            <a:xfrm>
              <a:off x="3904488" y="175564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Scaffold, wire up, and run projects</a:t>
              </a:r>
              <a:endParaRPr lang="en-US" sz="1100" dirty="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D5C8934C-B87E-49A2-CD16-E94DC0EC585E}"/>
                </a:ext>
              </a:extLst>
            </p:cNvPr>
            <p:cNvSpPr/>
            <p:nvPr/>
          </p:nvSpPr>
          <p:spPr>
            <a:xfrm>
              <a:off x="6126480" y="128016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22D3EE"/>
              </a:solidFill>
              <a:prstDash val="solid"/>
            </a:ln>
            <a:effectLst>
              <a:outerShdw blurRad="101600" dist="50800" dir="16200000" algn="bl" rotWithShape="0">
                <a:srgbClr val="22D3EE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14" name="Image 2" descr="preencoded.png">
              <a:extLst>
                <a:ext uri="{FF2B5EF4-FFF2-40B4-BE49-F238E27FC236}">
                  <a16:creationId xmlns:a16="http://schemas.microsoft.com/office/drawing/2014/main" id="{DCD36EE9-C799-AD8F-922D-6A7E201A7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9360" y="1463040"/>
              <a:ext cx="347472" cy="347472"/>
            </a:xfrm>
            <a:prstGeom prst="rect">
              <a:avLst/>
            </a:prstGeom>
          </p:spPr>
        </p:pic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6B281B4E-9E9D-E93D-E22D-7CECD0FE2578}"/>
                </a:ext>
              </a:extLst>
            </p:cNvPr>
            <p:cNvSpPr/>
            <p:nvPr/>
          </p:nvSpPr>
          <p:spPr>
            <a:xfrm>
              <a:off x="6784848" y="140817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docs</a:t>
              </a:r>
              <a:endParaRPr lang="en-US" sz="1300" dirty="0"/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C2F26812-5162-BDD5-1F86-08ADDBE4E69C}"/>
                </a:ext>
              </a:extLst>
            </p:cNvPr>
            <p:cNvSpPr/>
            <p:nvPr/>
          </p:nvSpPr>
          <p:spPr>
            <a:xfrm>
              <a:off x="6784848" y="175564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README, CHANGELOG, SECURITY files</a:t>
              </a:r>
              <a:endParaRPr lang="en-US" sz="1100" dirty="0"/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27D3A338-ABB9-C6AA-3D30-46FD521D6439}"/>
                </a:ext>
              </a:extLst>
            </p:cNvPr>
            <p:cNvSpPr/>
            <p:nvPr/>
          </p:nvSpPr>
          <p:spPr>
            <a:xfrm>
              <a:off x="365760" y="278892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4ADE80"/>
              </a:solidFill>
              <a:prstDash val="solid"/>
            </a:ln>
            <a:effectLst>
              <a:outerShdw blurRad="101600" dist="50800" dir="16200000" algn="bl" rotWithShape="0">
                <a:srgbClr val="4ADE80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18" name="Image 3" descr="preencoded.png">
              <a:extLst>
                <a:ext uri="{FF2B5EF4-FFF2-40B4-BE49-F238E27FC236}">
                  <a16:creationId xmlns:a16="http://schemas.microsoft.com/office/drawing/2014/main" id="{9D1F2DEA-1BEB-6A6E-B937-7FAEF50AD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640" y="2971800"/>
              <a:ext cx="347472" cy="347472"/>
            </a:xfrm>
            <a:prstGeom prst="rect">
              <a:avLst/>
            </a:prstGeom>
          </p:spPr>
        </p:pic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3105DD93-B671-4702-115D-FC1989691CF2}"/>
                </a:ext>
              </a:extLst>
            </p:cNvPr>
            <p:cNvSpPr/>
            <p:nvPr/>
          </p:nvSpPr>
          <p:spPr>
            <a:xfrm>
              <a:off x="1024128" y="291693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Write tests</a:t>
              </a:r>
              <a:endParaRPr lang="en-US" sz="1300" dirty="0"/>
            </a:p>
          </p:txBody>
        </p:sp>
        <p:sp>
          <p:nvSpPr>
            <p:cNvPr id="20" name="Text 14">
              <a:extLst>
                <a:ext uri="{FF2B5EF4-FFF2-40B4-BE49-F238E27FC236}">
                  <a16:creationId xmlns:a16="http://schemas.microsoft.com/office/drawing/2014/main" id="{B3CDFEE3-B135-7221-BE7D-8D0E17FC8BEC}"/>
                </a:ext>
              </a:extLst>
            </p:cNvPr>
            <p:cNvSpPr/>
            <p:nvPr/>
          </p:nvSpPr>
          <p:spPr>
            <a:xfrm>
              <a:off x="1024128" y="326440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Unit tests for your existing code</a:t>
              </a:r>
              <a:endParaRPr lang="en-US" sz="1100" dirty="0"/>
            </a:p>
          </p:txBody>
        </p:sp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736FF5B2-3119-1E00-F2A6-F455E7AB771F}"/>
                </a:ext>
              </a:extLst>
            </p:cNvPr>
            <p:cNvSpPr/>
            <p:nvPr/>
          </p:nvSpPr>
          <p:spPr>
            <a:xfrm>
              <a:off x="3246120" y="278892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22" name="Image 4" descr="preencoded.png">
              <a:extLst>
                <a:ext uri="{FF2B5EF4-FFF2-40B4-BE49-F238E27FC236}">
                  <a16:creationId xmlns:a16="http://schemas.microsoft.com/office/drawing/2014/main" id="{96A23AF2-A7FC-D117-C70A-941BD4D07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29000" y="2971800"/>
              <a:ext cx="347472" cy="347472"/>
            </a:xfrm>
            <a:prstGeom prst="rect">
              <a:avLst/>
            </a:prstGeom>
          </p:spPr>
        </p:pic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3AF71FCB-1D19-3262-553E-A45A4CD27130}"/>
                </a:ext>
              </a:extLst>
            </p:cNvPr>
            <p:cNvSpPr/>
            <p:nvPr/>
          </p:nvSpPr>
          <p:spPr>
            <a:xfrm>
              <a:off x="3904488" y="291693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audits</a:t>
              </a:r>
              <a:endParaRPr lang="en-US" sz="1300" dirty="0"/>
            </a:p>
          </p:txBody>
        </p:sp>
        <p:sp>
          <p:nvSpPr>
            <p:cNvPr id="24" name="Text 17">
              <a:extLst>
                <a:ext uri="{FF2B5EF4-FFF2-40B4-BE49-F238E27FC236}">
                  <a16:creationId xmlns:a16="http://schemas.microsoft.com/office/drawing/2014/main" id="{C1354B1B-B048-5FE3-5A8A-C2471F4E24E5}"/>
                </a:ext>
              </a:extLst>
            </p:cNvPr>
            <p:cNvSpPr/>
            <p:nvPr/>
          </p:nvSpPr>
          <p:spPr>
            <a:xfrm>
              <a:off x="3904488" y="326440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Spot vulnerabilities instantly</a:t>
              </a:r>
              <a:endParaRPr lang="en-US" sz="1100" dirty="0"/>
            </a:p>
          </p:txBody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344BEAB6-2D33-9C90-EB4D-A3251A84E80C}"/>
                </a:ext>
              </a:extLst>
            </p:cNvPr>
            <p:cNvSpPr/>
            <p:nvPr/>
          </p:nvSpPr>
          <p:spPr>
            <a:xfrm>
              <a:off x="6126480" y="2788920"/>
              <a:ext cx="2697480" cy="13258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B923C"/>
              </a:solidFill>
              <a:prstDash val="solid"/>
            </a:ln>
            <a:effectLst>
              <a:outerShdw blurRad="101600" dist="50800" dir="16200000" algn="bl" rotWithShape="0">
                <a:srgbClr val="FB923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pic>
          <p:nvPicPr>
            <p:cNvPr id="26" name="Image 5" descr="preencoded.png">
              <a:extLst>
                <a:ext uri="{FF2B5EF4-FFF2-40B4-BE49-F238E27FC236}">
                  <a16:creationId xmlns:a16="http://schemas.microsoft.com/office/drawing/2014/main" id="{2EEC700A-29D7-B20D-454A-3E530E418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09360" y="2971800"/>
              <a:ext cx="347472" cy="347472"/>
            </a:xfrm>
            <a:prstGeom prst="rect">
              <a:avLst/>
            </a:prstGeom>
          </p:spPr>
        </p:pic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AA7D55F1-5C9A-CC1B-3B28-351956BE5262}"/>
                </a:ext>
              </a:extLst>
            </p:cNvPr>
            <p:cNvSpPr/>
            <p:nvPr/>
          </p:nvSpPr>
          <p:spPr>
            <a:xfrm>
              <a:off x="6784848" y="2916936"/>
              <a:ext cx="1920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 &amp; refactor</a:t>
              </a:r>
              <a:endParaRPr lang="en-US" sz="1300" dirty="0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B8FBD773-C85C-922A-8DA8-1B62F9A08C19}"/>
                </a:ext>
              </a:extLst>
            </p:cNvPr>
            <p:cNvSpPr/>
            <p:nvPr/>
          </p:nvSpPr>
          <p:spPr>
            <a:xfrm>
              <a:off x="6784848" y="3264408"/>
              <a:ext cx="1920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Debug and improve your codebase</a:t>
              </a:r>
              <a:endParaRPr lang="en-US" sz="1100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FC9E1D3-8E6A-0D84-359A-96F9E8C47D1A}"/>
              </a:ext>
            </a:extLst>
          </p:cNvPr>
          <p:cNvSpPr txBox="1"/>
          <p:nvPr/>
        </p:nvSpPr>
        <p:spPr>
          <a:xfrm>
            <a:off x="3663844" y="4114991"/>
            <a:ext cx="2240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AND MORE</a:t>
            </a:r>
            <a:endParaRPr lang="en-CA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359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82B8-1567-A81A-14A8-91A85291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5C1CE582-8110-9F33-C7C4-5A93A38688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F0AD322-5B55-B947-7B08-209F795A57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56442" y="1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E489B017-C22F-9C79-B4F5-6AC75D3006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AE250BC-D06C-5397-971D-2B6D2A5553E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96918A8B-2A97-AB7F-E940-FED5D67CBD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39E1E54-41F5-E059-E847-2F184FE4D06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D1BDDC1-3194-83AD-84DF-0A43C522E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5F8733D-7CC1-AF1A-2DFD-0989483136F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1E2E5CB-E7D0-C13B-73F0-45025F06E187}"/>
              </a:ext>
            </a:extLst>
          </p:cNvPr>
          <p:cNvSpPr txBox="1"/>
          <p:nvPr/>
        </p:nvSpPr>
        <p:spPr>
          <a:xfrm>
            <a:off x="1163833" y="545418"/>
            <a:ext cx="68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You're in control</a:t>
            </a:r>
          </a:p>
        </p:txBody>
      </p:sp>
      <p:sp>
        <p:nvSpPr>
          <p:cNvPr id="99" name="Shape 3">
            <a:extLst>
              <a:ext uri="{FF2B5EF4-FFF2-40B4-BE49-F238E27FC236}">
                <a16:creationId xmlns:a16="http://schemas.microsoft.com/office/drawing/2014/main" id="{0F5B4BD9-077A-856E-652F-37240F8D305B}"/>
              </a:ext>
            </a:extLst>
          </p:cNvPr>
          <p:cNvSpPr/>
          <p:nvPr/>
        </p:nvSpPr>
        <p:spPr>
          <a:xfrm>
            <a:off x="1023442" y="1327073"/>
            <a:ext cx="1670574" cy="699310"/>
          </a:xfrm>
          <a:prstGeom prst="rect">
            <a:avLst/>
          </a:prstGeom>
          <a:solidFill>
            <a:srgbClr val="0D1225"/>
          </a:solidFill>
          <a:ln w="12700">
            <a:solidFill>
              <a:srgbClr val="3B9EFF"/>
            </a:solidFill>
            <a:prstDash val="solid"/>
          </a:ln>
          <a:effectLst>
            <a:outerShdw blurRad="101600" dist="50800" dir="16200000" algn="bl" rotWithShape="0">
              <a:srgbClr val="3B9EFF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0" name="Shape 4">
            <a:extLst>
              <a:ext uri="{FF2B5EF4-FFF2-40B4-BE49-F238E27FC236}">
                <a16:creationId xmlns:a16="http://schemas.microsoft.com/office/drawing/2014/main" id="{71DF5EF7-9432-F940-83BE-F92B123A2B9F}"/>
              </a:ext>
            </a:extLst>
          </p:cNvPr>
          <p:cNvSpPr/>
          <p:nvPr/>
        </p:nvSpPr>
        <p:spPr>
          <a:xfrm>
            <a:off x="1023442" y="1327073"/>
            <a:ext cx="1670574" cy="38851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C17F0A20-29E3-1DF3-F760-262B348123AC}"/>
              </a:ext>
            </a:extLst>
          </p:cNvPr>
          <p:cNvSpPr/>
          <p:nvPr/>
        </p:nvSpPr>
        <p:spPr>
          <a:xfrm>
            <a:off x="1116683" y="1404774"/>
            <a:ext cx="1165517" cy="24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100" dirty="0"/>
          </a:p>
        </p:txBody>
      </p:sp>
      <p:sp>
        <p:nvSpPr>
          <p:cNvPr id="102" name="Shape 6">
            <a:extLst>
              <a:ext uri="{FF2B5EF4-FFF2-40B4-BE49-F238E27FC236}">
                <a16:creationId xmlns:a16="http://schemas.microsoft.com/office/drawing/2014/main" id="{70E48FA2-3E07-A563-AF86-BC9BB683377A}"/>
              </a:ext>
            </a:extLst>
          </p:cNvPr>
          <p:cNvSpPr/>
          <p:nvPr/>
        </p:nvSpPr>
        <p:spPr>
          <a:xfrm>
            <a:off x="1116683" y="1668958"/>
            <a:ext cx="660460" cy="186483"/>
          </a:xfrm>
          <a:prstGeom prst="roundRect">
            <a:avLst>
              <a:gd name="adj" fmla="val 16667"/>
            </a:avLst>
          </a:prstGeom>
          <a:solidFill>
            <a:srgbClr val="3B9EFF">
              <a:alpha val="20000"/>
            </a:srgbClr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3" name="Text 7">
            <a:extLst>
              <a:ext uri="{FF2B5EF4-FFF2-40B4-BE49-F238E27FC236}">
                <a16:creationId xmlns:a16="http://schemas.microsoft.com/office/drawing/2014/main" id="{FE1C267D-8961-63ED-4AC2-A55CC55F90DF}"/>
              </a:ext>
            </a:extLst>
          </p:cNvPr>
          <p:cNvSpPr/>
          <p:nvPr/>
        </p:nvSpPr>
        <p:spPr>
          <a:xfrm>
            <a:off x="1116683" y="1668958"/>
            <a:ext cx="660460" cy="18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900" dirty="0"/>
          </a:p>
        </p:txBody>
      </p:sp>
      <p:sp>
        <p:nvSpPr>
          <p:cNvPr id="104" name="Shape 8">
            <a:extLst>
              <a:ext uri="{FF2B5EF4-FFF2-40B4-BE49-F238E27FC236}">
                <a16:creationId xmlns:a16="http://schemas.microsoft.com/office/drawing/2014/main" id="{B0B5092E-5A50-F1F2-FE14-0BD307F80AA7}"/>
              </a:ext>
            </a:extLst>
          </p:cNvPr>
          <p:cNvSpPr/>
          <p:nvPr/>
        </p:nvSpPr>
        <p:spPr>
          <a:xfrm>
            <a:off x="2849419" y="1327073"/>
            <a:ext cx="1670574" cy="699310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5" name="Shape 9">
            <a:extLst>
              <a:ext uri="{FF2B5EF4-FFF2-40B4-BE49-F238E27FC236}">
                <a16:creationId xmlns:a16="http://schemas.microsoft.com/office/drawing/2014/main" id="{C5466A83-7A70-DBFB-4DDE-4D2AA0F4DB45}"/>
              </a:ext>
            </a:extLst>
          </p:cNvPr>
          <p:cNvSpPr/>
          <p:nvPr/>
        </p:nvSpPr>
        <p:spPr>
          <a:xfrm>
            <a:off x="2849419" y="1327073"/>
            <a:ext cx="1670574" cy="38851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6" name="Text 10">
            <a:extLst>
              <a:ext uri="{FF2B5EF4-FFF2-40B4-BE49-F238E27FC236}">
                <a16:creationId xmlns:a16="http://schemas.microsoft.com/office/drawing/2014/main" id="{AF471CE2-E736-14D9-C036-3D30C9D68B65}"/>
              </a:ext>
            </a:extLst>
          </p:cNvPr>
          <p:cNvSpPr/>
          <p:nvPr/>
        </p:nvSpPr>
        <p:spPr>
          <a:xfrm>
            <a:off x="2942660" y="1404774"/>
            <a:ext cx="1165517" cy="24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100" dirty="0"/>
          </a:p>
        </p:txBody>
      </p:sp>
      <p:sp>
        <p:nvSpPr>
          <p:cNvPr id="107" name="Shape 11">
            <a:extLst>
              <a:ext uri="{FF2B5EF4-FFF2-40B4-BE49-F238E27FC236}">
                <a16:creationId xmlns:a16="http://schemas.microsoft.com/office/drawing/2014/main" id="{B1538CAB-47EE-0609-8B60-32DFFD40A19F}"/>
              </a:ext>
            </a:extLst>
          </p:cNvPr>
          <p:cNvSpPr/>
          <p:nvPr/>
        </p:nvSpPr>
        <p:spPr>
          <a:xfrm>
            <a:off x="2942660" y="1668958"/>
            <a:ext cx="660460" cy="186483"/>
          </a:xfrm>
          <a:prstGeom prst="roundRect">
            <a:avLst>
              <a:gd name="adj" fmla="val 16667"/>
            </a:avLst>
          </a:prstGeom>
          <a:solidFill>
            <a:srgbClr val="C084FC">
              <a:alpha val="20000"/>
            </a:srgbClr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8" name="Text 12">
            <a:extLst>
              <a:ext uri="{FF2B5EF4-FFF2-40B4-BE49-F238E27FC236}">
                <a16:creationId xmlns:a16="http://schemas.microsoft.com/office/drawing/2014/main" id="{36DCEB4C-CCBA-DF1D-DFFD-26937D747735}"/>
              </a:ext>
            </a:extLst>
          </p:cNvPr>
          <p:cNvSpPr/>
          <p:nvPr/>
        </p:nvSpPr>
        <p:spPr>
          <a:xfrm>
            <a:off x="2942660" y="1668958"/>
            <a:ext cx="660460" cy="18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Powerful</a:t>
            </a:r>
            <a:endParaRPr lang="en-US" sz="900" dirty="0"/>
          </a:p>
        </p:txBody>
      </p:sp>
      <p:sp>
        <p:nvSpPr>
          <p:cNvPr id="109" name="Shape 13">
            <a:extLst>
              <a:ext uri="{FF2B5EF4-FFF2-40B4-BE49-F238E27FC236}">
                <a16:creationId xmlns:a16="http://schemas.microsoft.com/office/drawing/2014/main" id="{CF98BBD0-E8A1-7200-0E97-373F4AE35149}"/>
              </a:ext>
            </a:extLst>
          </p:cNvPr>
          <p:cNvSpPr/>
          <p:nvPr/>
        </p:nvSpPr>
        <p:spPr>
          <a:xfrm>
            <a:off x="4675395" y="1327073"/>
            <a:ext cx="1670574" cy="699310"/>
          </a:xfrm>
          <a:prstGeom prst="rect">
            <a:avLst/>
          </a:prstGeom>
          <a:solidFill>
            <a:srgbClr val="0D1225"/>
          </a:solidFill>
          <a:ln w="12700">
            <a:solidFill>
              <a:srgbClr val="F472B6"/>
            </a:solidFill>
            <a:prstDash val="solid"/>
          </a:ln>
          <a:effectLst>
            <a:outerShdw blurRad="101600" dist="50800" dir="16200000" algn="bl" rotWithShape="0">
              <a:srgbClr val="F472B6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0" name="Shape 14">
            <a:extLst>
              <a:ext uri="{FF2B5EF4-FFF2-40B4-BE49-F238E27FC236}">
                <a16:creationId xmlns:a16="http://schemas.microsoft.com/office/drawing/2014/main" id="{7A873121-EE47-3395-766E-620509E3AE8C}"/>
              </a:ext>
            </a:extLst>
          </p:cNvPr>
          <p:cNvSpPr/>
          <p:nvPr/>
        </p:nvSpPr>
        <p:spPr>
          <a:xfrm>
            <a:off x="4675395" y="1327073"/>
            <a:ext cx="1670574" cy="38851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1" name="Text 15">
            <a:extLst>
              <a:ext uri="{FF2B5EF4-FFF2-40B4-BE49-F238E27FC236}">
                <a16:creationId xmlns:a16="http://schemas.microsoft.com/office/drawing/2014/main" id="{C23C73A3-23EB-EF29-D8D7-EFE8245130CD}"/>
              </a:ext>
            </a:extLst>
          </p:cNvPr>
          <p:cNvSpPr/>
          <p:nvPr/>
        </p:nvSpPr>
        <p:spPr>
          <a:xfrm>
            <a:off x="4768637" y="1404774"/>
            <a:ext cx="1165517" cy="24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</a:t>
            </a:r>
            <a:endParaRPr lang="en-US" sz="1100" dirty="0"/>
          </a:p>
        </p:txBody>
      </p:sp>
      <p:sp>
        <p:nvSpPr>
          <p:cNvPr id="112" name="Shape 16">
            <a:extLst>
              <a:ext uri="{FF2B5EF4-FFF2-40B4-BE49-F238E27FC236}">
                <a16:creationId xmlns:a16="http://schemas.microsoft.com/office/drawing/2014/main" id="{A120F5FA-D990-AE1E-20DC-AA1C27DB4348}"/>
              </a:ext>
            </a:extLst>
          </p:cNvPr>
          <p:cNvSpPr/>
          <p:nvPr/>
        </p:nvSpPr>
        <p:spPr>
          <a:xfrm>
            <a:off x="4768637" y="1668958"/>
            <a:ext cx="660460" cy="186483"/>
          </a:xfrm>
          <a:prstGeom prst="roundRect">
            <a:avLst>
              <a:gd name="adj" fmla="val 16667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3" name="Text 17">
            <a:extLst>
              <a:ext uri="{FF2B5EF4-FFF2-40B4-BE49-F238E27FC236}">
                <a16:creationId xmlns:a16="http://schemas.microsoft.com/office/drawing/2014/main" id="{A53DE1B1-4B6E-D434-1827-F7FBD2E86E87}"/>
              </a:ext>
            </a:extLst>
          </p:cNvPr>
          <p:cNvSpPr/>
          <p:nvPr/>
        </p:nvSpPr>
        <p:spPr>
          <a:xfrm>
            <a:off x="4768637" y="1668958"/>
            <a:ext cx="660460" cy="18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</a:t>
            </a:r>
            <a:endParaRPr lang="en-US" sz="900" dirty="0"/>
          </a:p>
        </p:txBody>
      </p:sp>
      <p:sp>
        <p:nvSpPr>
          <p:cNvPr id="114" name="Shape 18">
            <a:extLst>
              <a:ext uri="{FF2B5EF4-FFF2-40B4-BE49-F238E27FC236}">
                <a16:creationId xmlns:a16="http://schemas.microsoft.com/office/drawing/2014/main" id="{9D5DFB94-256E-3C7E-DE53-D07BD01B5492}"/>
              </a:ext>
            </a:extLst>
          </p:cNvPr>
          <p:cNvSpPr/>
          <p:nvPr/>
        </p:nvSpPr>
        <p:spPr>
          <a:xfrm>
            <a:off x="6501372" y="1327073"/>
            <a:ext cx="1670574" cy="699310"/>
          </a:xfrm>
          <a:prstGeom prst="rect">
            <a:avLst/>
          </a:prstGeom>
          <a:solidFill>
            <a:srgbClr val="0D1225"/>
          </a:solidFill>
          <a:ln w="12700">
            <a:solidFill>
              <a:srgbClr val="22D3EE"/>
            </a:solidFill>
            <a:prstDash val="solid"/>
          </a:ln>
          <a:effectLst>
            <a:outerShdw blurRad="101600" dist="50800" dir="16200000" algn="bl" rotWithShape="0">
              <a:srgbClr val="22D3EE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DA031589-78A5-5246-71C5-C2D7A4B43240}"/>
              </a:ext>
            </a:extLst>
          </p:cNvPr>
          <p:cNvSpPr/>
          <p:nvPr/>
        </p:nvSpPr>
        <p:spPr>
          <a:xfrm>
            <a:off x="6501372" y="1327073"/>
            <a:ext cx="1670574" cy="38851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E990B5C7-DBEE-C1FF-AE2F-A40CF6325C3A}"/>
              </a:ext>
            </a:extLst>
          </p:cNvPr>
          <p:cNvSpPr/>
          <p:nvPr/>
        </p:nvSpPr>
        <p:spPr>
          <a:xfrm>
            <a:off x="6594613" y="1404774"/>
            <a:ext cx="1165517" cy="24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model</a:t>
            </a:r>
            <a:endParaRPr lang="en-US" sz="1100" dirty="0"/>
          </a:p>
        </p:txBody>
      </p:sp>
      <p:sp>
        <p:nvSpPr>
          <p:cNvPr id="117" name="Shape 21">
            <a:extLst>
              <a:ext uri="{FF2B5EF4-FFF2-40B4-BE49-F238E27FC236}">
                <a16:creationId xmlns:a16="http://schemas.microsoft.com/office/drawing/2014/main" id="{15DF7561-E807-9849-D9A0-8E87A0ED22FE}"/>
              </a:ext>
            </a:extLst>
          </p:cNvPr>
          <p:cNvSpPr/>
          <p:nvPr/>
        </p:nvSpPr>
        <p:spPr>
          <a:xfrm>
            <a:off x="6594613" y="1668958"/>
            <a:ext cx="660460" cy="186483"/>
          </a:xfrm>
          <a:prstGeom prst="roundRect">
            <a:avLst>
              <a:gd name="adj" fmla="val 16667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8" name="Text 22">
            <a:extLst>
              <a:ext uri="{FF2B5EF4-FFF2-40B4-BE49-F238E27FC236}">
                <a16:creationId xmlns:a16="http://schemas.microsoft.com/office/drawing/2014/main" id="{EEB13B3C-2EF4-0807-E612-AF039AFE9901}"/>
              </a:ext>
            </a:extLst>
          </p:cNvPr>
          <p:cNvSpPr/>
          <p:nvPr/>
        </p:nvSpPr>
        <p:spPr>
          <a:xfrm>
            <a:off x="6594613" y="1668958"/>
            <a:ext cx="660460" cy="18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</a:t>
            </a:r>
            <a:endParaRPr lang="en-US" sz="900" dirty="0"/>
          </a:p>
        </p:txBody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396655A8-CE8E-BD38-9847-5147D690D0D6}"/>
              </a:ext>
            </a:extLst>
          </p:cNvPr>
          <p:cNvSpPr/>
          <p:nvPr/>
        </p:nvSpPr>
        <p:spPr>
          <a:xfrm>
            <a:off x="1023442" y="2135164"/>
            <a:ext cx="6993102" cy="528367"/>
          </a:xfrm>
          <a:prstGeom prst="rect">
            <a:avLst/>
          </a:prstGeom>
          <a:solidFill>
            <a:srgbClr val="0A0E1A"/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0" name="Shape 24">
            <a:extLst>
              <a:ext uri="{FF2B5EF4-FFF2-40B4-BE49-F238E27FC236}">
                <a16:creationId xmlns:a16="http://schemas.microsoft.com/office/drawing/2014/main" id="{E38D0226-19F1-63F2-80BC-84BA2B4D70B7}"/>
              </a:ext>
            </a:extLst>
          </p:cNvPr>
          <p:cNvSpPr/>
          <p:nvPr/>
        </p:nvSpPr>
        <p:spPr>
          <a:xfrm>
            <a:off x="1023442" y="2135165"/>
            <a:ext cx="6993102" cy="202024"/>
          </a:xfrm>
          <a:prstGeom prst="rect">
            <a:avLst/>
          </a:prstGeom>
          <a:solidFill>
            <a:srgbClr val="10162A"/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1" name="Shape 25">
            <a:extLst>
              <a:ext uri="{FF2B5EF4-FFF2-40B4-BE49-F238E27FC236}">
                <a16:creationId xmlns:a16="http://schemas.microsoft.com/office/drawing/2014/main" id="{9E4509A9-B2AB-9305-A61B-E08B24BA9FF2}"/>
              </a:ext>
            </a:extLst>
          </p:cNvPr>
          <p:cNvSpPr/>
          <p:nvPr/>
        </p:nvSpPr>
        <p:spPr>
          <a:xfrm>
            <a:off x="1116683" y="2205096"/>
            <a:ext cx="93241" cy="93241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2" name="Shape 26">
            <a:extLst>
              <a:ext uri="{FF2B5EF4-FFF2-40B4-BE49-F238E27FC236}">
                <a16:creationId xmlns:a16="http://schemas.microsoft.com/office/drawing/2014/main" id="{5CE8B6EE-98D3-061B-10D6-73A1C7F52714}"/>
              </a:ext>
            </a:extLst>
          </p:cNvPr>
          <p:cNvSpPr/>
          <p:nvPr/>
        </p:nvSpPr>
        <p:spPr>
          <a:xfrm>
            <a:off x="1287626" y="2205096"/>
            <a:ext cx="93241" cy="93241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3" name="Shape 27">
            <a:extLst>
              <a:ext uri="{FF2B5EF4-FFF2-40B4-BE49-F238E27FC236}">
                <a16:creationId xmlns:a16="http://schemas.microsoft.com/office/drawing/2014/main" id="{43DC6CD5-CC2B-5021-3CC9-B2D8BE947159}"/>
              </a:ext>
            </a:extLst>
          </p:cNvPr>
          <p:cNvSpPr/>
          <p:nvPr/>
        </p:nvSpPr>
        <p:spPr>
          <a:xfrm>
            <a:off x="1458568" y="2205096"/>
            <a:ext cx="93241" cy="93241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4" name="Text 28">
            <a:extLst>
              <a:ext uri="{FF2B5EF4-FFF2-40B4-BE49-F238E27FC236}">
                <a16:creationId xmlns:a16="http://schemas.microsoft.com/office/drawing/2014/main" id="{C7E40736-E82E-012C-5A56-1A822B562872}"/>
              </a:ext>
            </a:extLst>
          </p:cNvPr>
          <p:cNvSpPr/>
          <p:nvPr/>
        </p:nvSpPr>
        <p:spPr>
          <a:xfrm>
            <a:off x="1217695" y="2376040"/>
            <a:ext cx="6604596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/model    — switch AI model at any time during your session</a:t>
            </a:r>
            <a:endParaRPr lang="en-US" sz="1100" dirty="0"/>
          </a:p>
        </p:txBody>
      </p:sp>
      <p:sp>
        <p:nvSpPr>
          <p:cNvPr id="125" name="Text 29">
            <a:extLst>
              <a:ext uri="{FF2B5EF4-FFF2-40B4-BE49-F238E27FC236}">
                <a16:creationId xmlns:a16="http://schemas.microsoft.com/office/drawing/2014/main" id="{E23C002D-1191-D197-3E51-77F7D1DFD356}"/>
              </a:ext>
            </a:extLst>
          </p:cNvPr>
          <p:cNvSpPr/>
          <p:nvPr/>
        </p:nvSpPr>
        <p:spPr>
          <a:xfrm>
            <a:off x="1023442" y="2702383"/>
            <a:ext cx="2331034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CUSTOMIZATION</a:t>
            </a:r>
            <a:endParaRPr lang="en-US" sz="1100" dirty="0"/>
          </a:p>
        </p:txBody>
      </p:sp>
      <p:sp>
        <p:nvSpPr>
          <p:cNvPr id="126" name="Shape 30">
            <a:extLst>
              <a:ext uri="{FF2B5EF4-FFF2-40B4-BE49-F238E27FC236}">
                <a16:creationId xmlns:a16="http://schemas.microsoft.com/office/drawing/2014/main" id="{B6A9C6C3-3A33-A51D-CFFB-80A9DB50DC81}"/>
              </a:ext>
            </a:extLst>
          </p:cNvPr>
          <p:cNvSpPr/>
          <p:nvPr/>
        </p:nvSpPr>
        <p:spPr>
          <a:xfrm>
            <a:off x="1023442" y="2974337"/>
            <a:ext cx="3496551" cy="621609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7" name="Shape 31">
            <a:extLst>
              <a:ext uri="{FF2B5EF4-FFF2-40B4-BE49-F238E27FC236}">
                <a16:creationId xmlns:a16="http://schemas.microsoft.com/office/drawing/2014/main" id="{1AF81A1E-5651-9F48-D0DA-78E84733C9C7}"/>
              </a:ext>
            </a:extLst>
          </p:cNvPr>
          <p:cNvSpPr/>
          <p:nvPr/>
        </p:nvSpPr>
        <p:spPr>
          <a:xfrm>
            <a:off x="1023442" y="2974337"/>
            <a:ext cx="38851" cy="621609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8" name="Text 32">
            <a:extLst>
              <a:ext uri="{FF2B5EF4-FFF2-40B4-BE49-F238E27FC236}">
                <a16:creationId xmlns:a16="http://schemas.microsoft.com/office/drawing/2014/main" id="{9926421A-3864-7876-92B2-0FED7BDFDD74}"/>
              </a:ext>
            </a:extLst>
          </p:cNvPr>
          <p:cNvSpPr/>
          <p:nvPr/>
        </p:nvSpPr>
        <p:spPr>
          <a:xfrm>
            <a:off x="1178844" y="3036498"/>
            <a:ext cx="3185747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</a:t>
            </a:r>
            <a:endParaRPr lang="en-US" sz="1200" dirty="0"/>
          </a:p>
        </p:txBody>
      </p:sp>
      <p:sp>
        <p:nvSpPr>
          <p:cNvPr id="129" name="Text 33">
            <a:extLst>
              <a:ext uri="{FF2B5EF4-FFF2-40B4-BE49-F238E27FC236}">
                <a16:creationId xmlns:a16="http://schemas.microsoft.com/office/drawing/2014/main" id="{F50D0FAA-905A-03D3-EE5D-CF43D5BC3ECE}"/>
              </a:ext>
            </a:extLst>
          </p:cNvPr>
          <p:cNvSpPr/>
          <p:nvPr/>
        </p:nvSpPr>
        <p:spPr>
          <a:xfrm>
            <a:off x="1178844" y="3300682"/>
            <a:ext cx="3185747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Copilot context about your project once — not every session</a:t>
            </a:r>
            <a:endParaRPr lang="en-US" sz="1100" dirty="0"/>
          </a:p>
        </p:txBody>
      </p:sp>
      <p:sp>
        <p:nvSpPr>
          <p:cNvPr id="130" name="Shape 34">
            <a:extLst>
              <a:ext uri="{FF2B5EF4-FFF2-40B4-BE49-F238E27FC236}">
                <a16:creationId xmlns:a16="http://schemas.microsoft.com/office/drawing/2014/main" id="{0624902E-8748-8507-FE7E-3FD62E034B99}"/>
              </a:ext>
            </a:extLst>
          </p:cNvPr>
          <p:cNvSpPr/>
          <p:nvPr/>
        </p:nvSpPr>
        <p:spPr>
          <a:xfrm>
            <a:off x="4714246" y="2974337"/>
            <a:ext cx="3496551" cy="621609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1" name="Shape 35">
            <a:extLst>
              <a:ext uri="{FF2B5EF4-FFF2-40B4-BE49-F238E27FC236}">
                <a16:creationId xmlns:a16="http://schemas.microsoft.com/office/drawing/2014/main" id="{16174078-BA2B-966E-DD4F-EC93AAD34E18}"/>
              </a:ext>
            </a:extLst>
          </p:cNvPr>
          <p:cNvSpPr/>
          <p:nvPr/>
        </p:nvSpPr>
        <p:spPr>
          <a:xfrm>
            <a:off x="4714246" y="2974337"/>
            <a:ext cx="38851" cy="621609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2" name="Text 36">
            <a:extLst>
              <a:ext uri="{FF2B5EF4-FFF2-40B4-BE49-F238E27FC236}">
                <a16:creationId xmlns:a16="http://schemas.microsoft.com/office/drawing/2014/main" id="{F2371812-1F56-818F-DDBC-71F0FD6DB2E3}"/>
              </a:ext>
            </a:extLst>
          </p:cNvPr>
          <p:cNvSpPr/>
          <p:nvPr/>
        </p:nvSpPr>
        <p:spPr>
          <a:xfrm>
            <a:off x="4869648" y="3036498"/>
            <a:ext cx="3185747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200" dirty="0"/>
          </a:p>
        </p:txBody>
      </p:sp>
      <p:sp>
        <p:nvSpPr>
          <p:cNvPr id="133" name="Text 37">
            <a:extLst>
              <a:ext uri="{FF2B5EF4-FFF2-40B4-BE49-F238E27FC236}">
                <a16:creationId xmlns:a16="http://schemas.microsoft.com/office/drawing/2014/main" id="{6A5F8095-6E38-F818-38CA-C3125A7186DF}"/>
              </a:ext>
            </a:extLst>
          </p:cNvPr>
          <p:cNvSpPr/>
          <p:nvPr/>
        </p:nvSpPr>
        <p:spPr>
          <a:xfrm>
            <a:off x="4869648" y="3300682"/>
            <a:ext cx="3185747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Copilot to your own data sources and tools</a:t>
            </a:r>
            <a:endParaRPr lang="en-US" sz="1100" dirty="0"/>
          </a:p>
        </p:txBody>
      </p:sp>
      <p:sp>
        <p:nvSpPr>
          <p:cNvPr id="134" name="Shape 38">
            <a:extLst>
              <a:ext uri="{FF2B5EF4-FFF2-40B4-BE49-F238E27FC236}">
                <a16:creationId xmlns:a16="http://schemas.microsoft.com/office/drawing/2014/main" id="{2787590B-4864-5FF4-B930-C041E24966D0}"/>
              </a:ext>
            </a:extLst>
          </p:cNvPr>
          <p:cNvSpPr/>
          <p:nvPr/>
        </p:nvSpPr>
        <p:spPr>
          <a:xfrm>
            <a:off x="1023442" y="3712498"/>
            <a:ext cx="3496551" cy="621609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5" name="Shape 39">
            <a:extLst>
              <a:ext uri="{FF2B5EF4-FFF2-40B4-BE49-F238E27FC236}">
                <a16:creationId xmlns:a16="http://schemas.microsoft.com/office/drawing/2014/main" id="{E682D38E-04A3-7E38-C062-98C528F5C2AC}"/>
              </a:ext>
            </a:extLst>
          </p:cNvPr>
          <p:cNvSpPr/>
          <p:nvPr/>
        </p:nvSpPr>
        <p:spPr>
          <a:xfrm>
            <a:off x="1023442" y="3712498"/>
            <a:ext cx="38851" cy="621609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6" name="Text 40">
            <a:extLst>
              <a:ext uri="{FF2B5EF4-FFF2-40B4-BE49-F238E27FC236}">
                <a16:creationId xmlns:a16="http://schemas.microsoft.com/office/drawing/2014/main" id="{7B71AB4E-F9C3-3DE4-3615-BD6B772FC47D}"/>
              </a:ext>
            </a:extLst>
          </p:cNvPr>
          <p:cNvSpPr/>
          <p:nvPr/>
        </p:nvSpPr>
        <p:spPr>
          <a:xfrm>
            <a:off x="1178844" y="3774659"/>
            <a:ext cx="3185747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endParaRPr lang="en-US" sz="1200" dirty="0"/>
          </a:p>
        </p:txBody>
      </p:sp>
      <p:sp>
        <p:nvSpPr>
          <p:cNvPr id="137" name="Text 41">
            <a:extLst>
              <a:ext uri="{FF2B5EF4-FFF2-40B4-BE49-F238E27FC236}">
                <a16:creationId xmlns:a16="http://schemas.microsoft.com/office/drawing/2014/main" id="{F093CA0D-0D41-DB27-D959-37A3BD5BF61D}"/>
              </a:ext>
            </a:extLst>
          </p:cNvPr>
          <p:cNvSpPr/>
          <p:nvPr/>
        </p:nvSpPr>
        <p:spPr>
          <a:xfrm>
            <a:off x="1178844" y="4038843"/>
            <a:ext cx="3185747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versions of Copilot for specific tasks</a:t>
            </a:r>
            <a:endParaRPr lang="en-US" sz="1100" dirty="0"/>
          </a:p>
        </p:txBody>
      </p:sp>
      <p:sp>
        <p:nvSpPr>
          <p:cNvPr id="138" name="Shape 42">
            <a:extLst>
              <a:ext uri="{FF2B5EF4-FFF2-40B4-BE49-F238E27FC236}">
                <a16:creationId xmlns:a16="http://schemas.microsoft.com/office/drawing/2014/main" id="{478A406A-C51E-46E9-865C-6E85F1734EF6}"/>
              </a:ext>
            </a:extLst>
          </p:cNvPr>
          <p:cNvSpPr/>
          <p:nvPr/>
        </p:nvSpPr>
        <p:spPr>
          <a:xfrm>
            <a:off x="4714246" y="3712498"/>
            <a:ext cx="3496551" cy="621609"/>
          </a:xfrm>
          <a:prstGeom prst="rect">
            <a:avLst/>
          </a:prstGeom>
          <a:solidFill>
            <a:srgbClr val="0D1225"/>
          </a:solidFill>
          <a:ln w="12700">
            <a:solidFill>
              <a:srgbClr val="C084FC"/>
            </a:solidFill>
            <a:prstDash val="solid"/>
          </a:ln>
          <a:effectLst>
            <a:outerShdw blurRad="101600" dist="50800" dir="16200000" algn="bl" rotWithShape="0">
              <a:srgbClr val="C084FC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9" name="Shape 43">
            <a:extLst>
              <a:ext uri="{FF2B5EF4-FFF2-40B4-BE49-F238E27FC236}">
                <a16:creationId xmlns:a16="http://schemas.microsoft.com/office/drawing/2014/main" id="{DF2B691C-446C-4C44-F0C5-6E782BE5142E}"/>
              </a:ext>
            </a:extLst>
          </p:cNvPr>
          <p:cNvSpPr/>
          <p:nvPr/>
        </p:nvSpPr>
        <p:spPr>
          <a:xfrm>
            <a:off x="4714246" y="3712498"/>
            <a:ext cx="38851" cy="621609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0" name="Text 44">
            <a:extLst>
              <a:ext uri="{FF2B5EF4-FFF2-40B4-BE49-F238E27FC236}">
                <a16:creationId xmlns:a16="http://schemas.microsoft.com/office/drawing/2014/main" id="{9930A6F1-8DE0-AD21-713A-8EC5785AFD2B}"/>
              </a:ext>
            </a:extLst>
          </p:cNvPr>
          <p:cNvSpPr/>
          <p:nvPr/>
        </p:nvSpPr>
        <p:spPr>
          <a:xfrm>
            <a:off x="4869648" y="3774659"/>
            <a:ext cx="3185747" cy="233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Memory</a:t>
            </a:r>
            <a:endParaRPr lang="en-US" sz="1200" dirty="0"/>
          </a:p>
        </p:txBody>
      </p:sp>
      <p:sp>
        <p:nvSpPr>
          <p:cNvPr id="141" name="Text 45">
            <a:extLst>
              <a:ext uri="{FF2B5EF4-FFF2-40B4-BE49-F238E27FC236}">
                <a16:creationId xmlns:a16="http://schemas.microsoft.com/office/drawing/2014/main" id="{3E993271-F637-A202-3D05-37CD3D0EAD8B}"/>
              </a:ext>
            </a:extLst>
          </p:cNvPr>
          <p:cNvSpPr/>
          <p:nvPr/>
        </p:nvSpPr>
        <p:spPr>
          <a:xfrm>
            <a:off x="4869648" y="4038843"/>
            <a:ext cx="3185747" cy="21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conventions and preferences across sessions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30675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6411-B788-A8E1-AB57-08B06FF2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7C7C699-70FB-1166-4620-0D2997C9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FB8B440-248E-8289-D8FB-658B83410FB1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B646EF01-C3FD-3ACD-5279-39E9B3DE7AF7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FEE05F6-7B8C-319E-DDD6-FD6A219AE796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94112590-CACB-EDBF-B570-601E7FA2CB5C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566DBE6-3C17-282E-00BF-F1B72A14C7E7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4B9B6AD-0FD8-0F90-F84D-CF530677DACD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82828AB-C256-C09D-F5F8-0C7A1E624CA2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sp>
        <p:nvSpPr>
          <p:cNvPr id="46" name="Text 2">
            <a:extLst>
              <a:ext uri="{FF2B5EF4-FFF2-40B4-BE49-F238E27FC236}">
                <a16:creationId xmlns:a16="http://schemas.microsoft.com/office/drawing/2014/main" id="{03AAE115-335B-2C15-B79D-CF7CA8D60429}"/>
              </a:ext>
            </a:extLst>
          </p:cNvPr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WORKSHOP</a:t>
            </a:r>
            <a:endParaRPr lang="en-US" sz="11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B8EE4E0-3CA6-248D-335F-C459CE5C3A13}"/>
              </a:ext>
            </a:extLst>
          </p:cNvPr>
          <p:cNvGrpSpPr/>
          <p:nvPr/>
        </p:nvGrpSpPr>
        <p:grpSpPr>
          <a:xfrm>
            <a:off x="849880" y="1158247"/>
            <a:ext cx="7453300" cy="3421187"/>
            <a:chOff x="457200" y="914400"/>
            <a:chExt cx="8366760" cy="3840480"/>
          </a:xfrm>
        </p:grpSpPr>
        <p:sp>
          <p:nvSpPr>
            <p:cNvPr id="47" name="Text 3">
              <a:extLst>
                <a:ext uri="{FF2B5EF4-FFF2-40B4-BE49-F238E27FC236}">
                  <a16:creationId xmlns:a16="http://schemas.microsoft.com/office/drawing/2014/main" id="{FDC5C54D-C2E2-7EFC-7DA7-70301C234D5B}"/>
                </a:ext>
              </a:extLst>
            </p:cNvPr>
            <p:cNvSpPr/>
            <p:nvPr/>
          </p:nvSpPr>
          <p:spPr>
            <a:xfrm>
              <a:off x="457200" y="914400"/>
              <a:ext cx="8229600" cy="777240"/>
            </a:xfrm>
            <a:prstGeom prst="rect">
              <a:avLst/>
            </a:prstGeom>
            <a:noFill/>
            <a:ln/>
            <a:effectLst>
              <a:outerShdw blurRad="228600" dist="50800" dir="16200000" algn="bl" rotWithShape="0">
                <a:srgbClr val="3B9EFF">
                  <a:alpha val="6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→ Build → Document</a:t>
              </a:r>
              <a:endParaRPr lang="en-US" sz="380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AAFA4BD0-FF03-3B3F-B891-F46C61E338B5}"/>
                </a:ext>
              </a:extLst>
            </p:cNvPr>
            <p:cNvSpPr/>
            <p:nvPr/>
          </p:nvSpPr>
          <p:spPr>
            <a:xfrm>
              <a:off x="457200" y="914400"/>
              <a:ext cx="8229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→ Build → Document</a:t>
              </a:r>
              <a:endParaRPr lang="en-US" sz="3800" dirty="0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D953429A-5127-FCE0-FF60-AEBF6A7811B6}"/>
                </a:ext>
              </a:extLst>
            </p:cNvPr>
            <p:cNvSpPr/>
            <p:nvPr/>
          </p:nvSpPr>
          <p:spPr>
            <a:xfrm>
              <a:off x="457200" y="1828800"/>
              <a:ext cx="82296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Using nothing but plain English prompts, we will connect to a real database,</a:t>
              </a:r>
              <a:endParaRPr lang="en-US" sz="1500" dirty="0"/>
            </a:p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 working web app and generate documentation.</a:t>
              </a:r>
              <a:endParaRPr lang="en-US" sz="1500" dirty="0"/>
            </a:p>
          </p:txBody>
        </p:sp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8D326BAF-9BAD-0147-57F9-401ADA86095A}"/>
                </a:ext>
              </a:extLst>
            </p:cNvPr>
            <p:cNvSpPr/>
            <p:nvPr/>
          </p:nvSpPr>
          <p:spPr>
            <a:xfrm>
              <a:off x="548640" y="2743200"/>
              <a:ext cx="2606040" cy="20116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101600" dist="50800" dir="16200000" algn="bl" rotWithShape="0">
                <a:srgbClr val="3B9EFF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05C1656A-0FD0-1F70-573E-2CAD8B8B6389}"/>
                </a:ext>
              </a:extLst>
            </p:cNvPr>
            <p:cNvSpPr/>
            <p:nvPr/>
          </p:nvSpPr>
          <p:spPr>
            <a:xfrm>
              <a:off x="548640" y="2743200"/>
              <a:ext cx="2606040" cy="54864"/>
            </a:xfrm>
            <a:prstGeom prst="rect">
              <a:avLst/>
            </a:prstGeom>
            <a:solidFill>
              <a:srgbClr val="3B9EFF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76200" dist="25400" dir="5400000" algn="bl" rotWithShape="0">
                <a:srgbClr val="3B9EFF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A6D6F665-C0AB-2666-0083-9A21C73086A1}"/>
                </a:ext>
              </a:extLst>
            </p:cNvPr>
            <p:cNvSpPr/>
            <p:nvPr/>
          </p:nvSpPr>
          <p:spPr>
            <a:xfrm>
              <a:off x="685800" y="301752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 database</a:t>
              </a:r>
              <a:endParaRPr lang="en-US" sz="1600" dirty="0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21B05814-6D2C-3C24-C765-FE2D54E92154}"/>
                </a:ext>
              </a:extLst>
            </p:cNvPr>
            <p:cNvSpPr/>
            <p:nvPr/>
          </p:nvSpPr>
          <p:spPr>
            <a:xfrm>
              <a:off x="685800" y="356616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Chinook SQLite</a:t>
              </a:r>
              <a:endParaRPr lang="en-US" sz="1200" dirty="0"/>
            </a:p>
          </p:txBody>
        </p:sp>
        <p:sp>
          <p:nvSpPr>
            <p:cNvPr id="54" name="Shape 10">
              <a:extLst>
                <a:ext uri="{FF2B5EF4-FFF2-40B4-BE49-F238E27FC236}">
                  <a16:creationId xmlns:a16="http://schemas.microsoft.com/office/drawing/2014/main" id="{32792D73-D741-BAEB-9193-E2B253477869}"/>
                </a:ext>
              </a:extLst>
            </p:cNvPr>
            <p:cNvSpPr/>
            <p:nvPr/>
          </p:nvSpPr>
          <p:spPr>
            <a:xfrm>
              <a:off x="3383280" y="2743200"/>
              <a:ext cx="2606040" cy="20116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Shape 11">
              <a:extLst>
                <a:ext uri="{FF2B5EF4-FFF2-40B4-BE49-F238E27FC236}">
                  <a16:creationId xmlns:a16="http://schemas.microsoft.com/office/drawing/2014/main" id="{847A6730-3A36-92F2-AAC8-D752F2764832}"/>
                </a:ext>
              </a:extLst>
            </p:cNvPr>
            <p:cNvSpPr/>
            <p:nvPr/>
          </p:nvSpPr>
          <p:spPr>
            <a:xfrm>
              <a:off x="3383280" y="2743200"/>
              <a:ext cx="2606040" cy="54864"/>
            </a:xfrm>
            <a:prstGeom prst="rect">
              <a:avLst/>
            </a:prstGeom>
            <a:solidFill>
              <a:srgbClr val="C084FC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76200" dist="25400" dir="5400000" algn="bl" rotWithShape="0">
                <a:srgbClr val="C084FC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Text 12">
              <a:extLst>
                <a:ext uri="{FF2B5EF4-FFF2-40B4-BE49-F238E27FC236}">
                  <a16:creationId xmlns:a16="http://schemas.microsoft.com/office/drawing/2014/main" id="{0916B226-9696-6CDC-B709-468CE1398C4A}"/>
                </a:ext>
              </a:extLst>
            </p:cNvPr>
            <p:cNvSpPr/>
            <p:nvPr/>
          </p:nvSpPr>
          <p:spPr>
            <a:xfrm>
              <a:off x="3520440" y="301752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Working web app</a:t>
              </a:r>
              <a:endParaRPr lang="en-US" sz="1600" dirty="0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9A9AC1F3-0829-6643-F0B5-9D0ED73FE6D1}"/>
                </a:ext>
              </a:extLst>
            </p:cNvPr>
            <p:cNvSpPr/>
            <p:nvPr/>
          </p:nvSpPr>
          <p:spPr>
            <a:xfrm>
              <a:off x="3520440" y="356616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ASP.NET Razor Pages</a:t>
              </a:r>
              <a:endParaRPr lang="en-US" sz="1200" dirty="0"/>
            </a:p>
          </p:txBody>
        </p:sp>
        <p:sp>
          <p:nvSpPr>
            <p:cNvPr id="58" name="Shape 14">
              <a:extLst>
                <a:ext uri="{FF2B5EF4-FFF2-40B4-BE49-F238E27FC236}">
                  <a16:creationId xmlns:a16="http://schemas.microsoft.com/office/drawing/2014/main" id="{1CCDBB41-993F-CFD8-FB7E-527E693970BD}"/>
                </a:ext>
              </a:extLst>
            </p:cNvPr>
            <p:cNvSpPr/>
            <p:nvPr/>
          </p:nvSpPr>
          <p:spPr>
            <a:xfrm>
              <a:off x="6217920" y="2743200"/>
              <a:ext cx="2606040" cy="20116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Shape 15">
              <a:extLst>
                <a:ext uri="{FF2B5EF4-FFF2-40B4-BE49-F238E27FC236}">
                  <a16:creationId xmlns:a16="http://schemas.microsoft.com/office/drawing/2014/main" id="{8F6D1B72-049C-2F34-ABD2-E3DF4DB28F5D}"/>
                </a:ext>
              </a:extLst>
            </p:cNvPr>
            <p:cNvSpPr/>
            <p:nvPr/>
          </p:nvSpPr>
          <p:spPr>
            <a:xfrm>
              <a:off x="6217920" y="2743200"/>
              <a:ext cx="2606040" cy="54864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76200" dist="25400" dir="5400000" algn="bl" rotWithShape="0">
                <a:srgbClr val="F472B6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Text 16">
              <a:extLst>
                <a:ext uri="{FF2B5EF4-FFF2-40B4-BE49-F238E27FC236}">
                  <a16:creationId xmlns:a16="http://schemas.microsoft.com/office/drawing/2014/main" id="{DA1083C5-AA61-3951-26A6-DE8866CA8F37}"/>
                </a:ext>
              </a:extLst>
            </p:cNvPr>
            <p:cNvSpPr/>
            <p:nvPr/>
          </p:nvSpPr>
          <p:spPr>
            <a:xfrm>
              <a:off x="6355080" y="301752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documentation</a:t>
              </a:r>
              <a:endParaRPr lang="en-US" sz="1600" dirty="0"/>
            </a:p>
          </p:txBody>
        </p:sp>
        <p:sp>
          <p:nvSpPr>
            <p:cNvPr id="61" name="Text 17">
              <a:extLst>
                <a:ext uri="{FF2B5EF4-FFF2-40B4-BE49-F238E27FC236}">
                  <a16:creationId xmlns:a16="http://schemas.microsoft.com/office/drawing/2014/main" id="{8E99A580-522F-BAAD-FC5E-53E2D6294238}"/>
                </a:ext>
              </a:extLst>
            </p:cNvPr>
            <p:cNvSpPr/>
            <p:nvPr/>
          </p:nvSpPr>
          <p:spPr>
            <a:xfrm>
              <a:off x="6355080" y="356616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README + security audit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0518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D00C-780B-0CA5-BFD3-CFC3451BF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E380B06B-64E3-14EE-B7B5-078D024B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4AA2012-622C-74BF-325C-959C77CFB947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9673DAC8-C664-736E-E896-40DA83A846D4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46F9DE2-79A8-25DD-B532-C043019ED308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15ECA5DB-C12C-897D-99CB-01F25043B423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FECF28E-1D8C-ED01-82E0-000DE87EB1F1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6E599D8-2863-8B4C-2025-09C71C039BF6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565D9A9-C0A4-458C-D2EE-4FB91710687A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49C878-F840-1FEC-4973-4B07A870FD89}"/>
              </a:ext>
            </a:extLst>
          </p:cNvPr>
          <p:cNvGrpSpPr/>
          <p:nvPr/>
        </p:nvGrpSpPr>
        <p:grpSpPr>
          <a:xfrm>
            <a:off x="849879" y="564731"/>
            <a:ext cx="7354734" cy="3717338"/>
            <a:chOff x="365760" y="320040"/>
            <a:chExt cx="8412480" cy="4251960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B7366081-614D-7CC3-10ED-D4F1F5930A2D}"/>
                </a:ext>
              </a:extLst>
            </p:cNvPr>
            <p:cNvSpPr/>
            <p:nvPr/>
          </p:nvSpPr>
          <p:spPr>
            <a:xfrm>
              <a:off x="457200" y="320040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Four tutorials, one complete project</a:t>
              </a:r>
              <a:endParaRPr lang="en-US" sz="2800" dirty="0"/>
            </a:p>
          </p:txBody>
        </p:sp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6835FD15-F467-0390-0C1B-A8DF0B526250}"/>
                </a:ext>
              </a:extLst>
            </p:cNvPr>
            <p:cNvSpPr/>
            <p:nvPr/>
          </p:nvSpPr>
          <p:spPr>
            <a:xfrm>
              <a:off x="365760" y="1097280"/>
              <a:ext cx="1965960" cy="347472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5A6A8A"/>
              </a:solidFill>
              <a:prstDash val="solid"/>
            </a:ln>
            <a:effectLst>
              <a:outerShdw blurRad="101600" dist="50800" dir="16200000" algn="bl" rotWithShape="0">
                <a:srgbClr val="5A6A8A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E4DB5950-EE30-9421-F502-3392C10EFDE2}"/>
                </a:ext>
              </a:extLst>
            </p:cNvPr>
            <p:cNvSpPr/>
            <p:nvPr/>
          </p:nvSpPr>
          <p:spPr>
            <a:xfrm>
              <a:off x="365760" y="1097280"/>
              <a:ext cx="1965960" cy="54864"/>
            </a:xfrm>
            <a:prstGeom prst="rect">
              <a:avLst/>
            </a:prstGeom>
            <a:solidFill>
              <a:srgbClr val="5A6A8A"/>
            </a:solidFill>
            <a:ln w="12700">
              <a:solidFill>
                <a:srgbClr val="5A6A8A"/>
              </a:solidFill>
              <a:prstDash val="solid"/>
            </a:ln>
            <a:effectLst>
              <a:outerShdw blurRad="76200" dist="25400" dir="5400000" algn="bl" rotWithShape="0">
                <a:srgbClr val="5A6A8A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B04C3616-A6DD-7F57-7652-4A5E7E0B2294}"/>
                </a:ext>
              </a:extLst>
            </p:cNvPr>
            <p:cNvSpPr/>
            <p:nvPr/>
          </p:nvSpPr>
          <p:spPr>
            <a:xfrm>
              <a:off x="502920" y="1261872"/>
              <a:ext cx="457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5A6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3000" dirty="0"/>
            </a:p>
          </p:txBody>
        </p:sp>
        <p:sp>
          <p:nvSpPr>
            <p:cNvPr id="6" name="Text 5">
              <a:extLst>
                <a:ext uri="{FF2B5EF4-FFF2-40B4-BE49-F238E27FC236}">
                  <a16:creationId xmlns:a16="http://schemas.microsoft.com/office/drawing/2014/main" id="{7A4A7676-C865-2A92-8EE2-18B2CCB99562}"/>
                </a:ext>
              </a:extLst>
            </p:cNvPr>
            <p:cNvSpPr/>
            <p:nvPr/>
          </p:nvSpPr>
          <p:spPr>
            <a:xfrm>
              <a:off x="502920" y="1810512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Setup</a:t>
              </a:r>
              <a:endParaRPr lang="en-US" sz="1600" dirty="0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24B5E3B8-4B9C-7FA8-BFD4-803E16C650D7}"/>
                </a:ext>
              </a:extLst>
            </p:cNvPr>
            <p:cNvSpPr/>
            <p:nvPr/>
          </p:nvSpPr>
          <p:spPr>
            <a:xfrm>
              <a:off x="502920" y="2304288"/>
              <a:ext cx="1691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Install GitHub Copilot CLI and get your environment ready.</a:t>
              </a:r>
              <a:endParaRPr lang="en-US" sz="12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F21A0C3B-2CD8-D1AB-CCD4-7CF1D4E8A163}"/>
                </a:ext>
              </a:extLst>
            </p:cNvPr>
            <p:cNvSpPr/>
            <p:nvPr/>
          </p:nvSpPr>
          <p:spPr>
            <a:xfrm>
              <a:off x="2331720" y="256032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A6A8A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988610F7-E754-6AA7-1FAB-0F7704790159}"/>
                </a:ext>
              </a:extLst>
            </p:cNvPr>
            <p:cNvSpPr/>
            <p:nvPr/>
          </p:nvSpPr>
          <p:spPr>
            <a:xfrm>
              <a:off x="2514600" y="1097280"/>
              <a:ext cx="1965960" cy="347472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101600" dist="50800" dir="16200000" algn="bl" rotWithShape="0">
                <a:srgbClr val="3B9EFF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45125215-A927-D64C-359A-0CE81591FEE8}"/>
                </a:ext>
              </a:extLst>
            </p:cNvPr>
            <p:cNvSpPr/>
            <p:nvPr/>
          </p:nvSpPr>
          <p:spPr>
            <a:xfrm>
              <a:off x="2514600" y="1097280"/>
              <a:ext cx="1965960" cy="54864"/>
            </a:xfrm>
            <a:prstGeom prst="rect">
              <a:avLst/>
            </a:prstGeom>
            <a:solidFill>
              <a:srgbClr val="3B9EFF"/>
            </a:solidFill>
            <a:ln w="12700">
              <a:solidFill>
                <a:srgbClr val="3B9EFF"/>
              </a:solidFill>
              <a:prstDash val="solid"/>
            </a:ln>
            <a:effectLst>
              <a:outerShdw blurRad="76200" dist="25400" dir="5400000" algn="bl" rotWithShape="0">
                <a:srgbClr val="3B9EFF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16776522-75DB-01B9-5220-97C5134A9166}"/>
                </a:ext>
              </a:extLst>
            </p:cNvPr>
            <p:cNvSpPr/>
            <p:nvPr/>
          </p:nvSpPr>
          <p:spPr>
            <a:xfrm>
              <a:off x="2651760" y="1261872"/>
              <a:ext cx="457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30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400285CA-9786-3492-E7D8-E2D55DB8356F}"/>
                </a:ext>
              </a:extLst>
            </p:cNvPr>
            <p:cNvSpPr/>
            <p:nvPr/>
          </p:nvSpPr>
          <p:spPr>
            <a:xfrm>
              <a:off x="2651760" y="1810512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</a:t>
              </a:r>
              <a:endParaRPr lang="en-US" sz="16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F9D39D56-C2BD-2F64-7F5A-D670BC41EB98}"/>
                </a:ext>
              </a:extLst>
            </p:cNvPr>
            <p:cNvSpPr/>
            <p:nvPr/>
          </p:nvSpPr>
          <p:spPr>
            <a:xfrm>
              <a:off x="2651760" y="2304288"/>
              <a:ext cx="1691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to the Chinook SQLite database and explore its data.</a:t>
              </a:r>
              <a:endParaRPr lang="en-US" sz="12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D49A64E9-0CDC-4465-695A-895A24FB7831}"/>
                </a:ext>
              </a:extLst>
            </p:cNvPr>
            <p:cNvSpPr/>
            <p:nvPr/>
          </p:nvSpPr>
          <p:spPr>
            <a:xfrm>
              <a:off x="4480560" y="256032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A6A8A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0F104165-8671-8C1E-E45C-876F4C04E61D}"/>
                </a:ext>
              </a:extLst>
            </p:cNvPr>
            <p:cNvSpPr/>
            <p:nvPr/>
          </p:nvSpPr>
          <p:spPr>
            <a:xfrm>
              <a:off x="4663440" y="1097280"/>
              <a:ext cx="1965960" cy="347472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C326AB33-1870-4A12-ACF6-B9F03490921D}"/>
                </a:ext>
              </a:extLst>
            </p:cNvPr>
            <p:cNvSpPr/>
            <p:nvPr/>
          </p:nvSpPr>
          <p:spPr>
            <a:xfrm>
              <a:off x="4663440" y="1097280"/>
              <a:ext cx="1965960" cy="54864"/>
            </a:xfrm>
            <a:prstGeom prst="rect">
              <a:avLst/>
            </a:prstGeom>
            <a:solidFill>
              <a:srgbClr val="C084FC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76200" dist="25400" dir="5400000" algn="bl" rotWithShape="0">
                <a:srgbClr val="C084FC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5477B8D7-5A0F-2428-2D06-8040F9C8E95D}"/>
                </a:ext>
              </a:extLst>
            </p:cNvPr>
            <p:cNvSpPr/>
            <p:nvPr/>
          </p:nvSpPr>
          <p:spPr>
            <a:xfrm>
              <a:off x="4800600" y="1261872"/>
              <a:ext cx="457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30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E88864F0-D0E2-D134-37D5-6784B21AE3EA}"/>
                </a:ext>
              </a:extLst>
            </p:cNvPr>
            <p:cNvSpPr/>
            <p:nvPr/>
          </p:nvSpPr>
          <p:spPr>
            <a:xfrm>
              <a:off x="4800600" y="1810512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</a:t>
              </a:r>
              <a:endParaRPr lang="en-US" sz="16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6F6A563B-F5F8-9619-F453-4E6C5B26953B}"/>
                </a:ext>
              </a:extLst>
            </p:cNvPr>
            <p:cNvSpPr/>
            <p:nvPr/>
          </p:nvSpPr>
          <p:spPr>
            <a:xfrm>
              <a:off x="4800600" y="2304288"/>
              <a:ext cx="1691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 a full CRUD web app using ASP.NET Razor Pages.</a:t>
              </a:r>
              <a:endParaRPr lang="en-US" sz="1200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6F7750B8-DCAD-6A6F-29A8-4B3D0D687BD0}"/>
                </a:ext>
              </a:extLst>
            </p:cNvPr>
            <p:cNvSpPr/>
            <p:nvPr/>
          </p:nvSpPr>
          <p:spPr>
            <a:xfrm>
              <a:off x="6629400" y="256032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A6A8A"/>
                  </a:solidFill>
                </a:rPr>
                <a:t>→</a:t>
              </a:r>
              <a:endParaRPr lang="en-US" sz="1400" dirty="0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097E94A7-5EED-9CC2-400A-61FEBA8BB604}"/>
                </a:ext>
              </a:extLst>
            </p:cNvPr>
            <p:cNvSpPr/>
            <p:nvPr/>
          </p:nvSpPr>
          <p:spPr>
            <a:xfrm>
              <a:off x="6812280" y="1097280"/>
              <a:ext cx="1965960" cy="347472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A2586E4F-9C83-C11A-9603-C1EB8DD15CE7}"/>
                </a:ext>
              </a:extLst>
            </p:cNvPr>
            <p:cNvSpPr/>
            <p:nvPr/>
          </p:nvSpPr>
          <p:spPr>
            <a:xfrm>
              <a:off x="6812280" y="1097280"/>
              <a:ext cx="1965960" cy="54864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76200" dist="25400" dir="5400000" algn="bl" rotWithShape="0">
                <a:srgbClr val="F472B6">
                  <a:alpha val="7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F32EF663-650D-003A-FE88-4C3C7634D151}"/>
                </a:ext>
              </a:extLst>
            </p:cNvPr>
            <p:cNvSpPr/>
            <p:nvPr/>
          </p:nvSpPr>
          <p:spPr>
            <a:xfrm>
              <a:off x="6949440" y="1261872"/>
              <a:ext cx="457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30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572F27BE-6FD1-1636-2536-5386E5B788B7}"/>
                </a:ext>
              </a:extLst>
            </p:cNvPr>
            <p:cNvSpPr/>
            <p:nvPr/>
          </p:nvSpPr>
          <p:spPr>
            <a:xfrm>
              <a:off x="6949440" y="1810512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Document</a:t>
              </a:r>
              <a:endParaRPr lang="en-US" sz="16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BD508201-E10D-6532-0E5D-E8692AF44F23}"/>
                </a:ext>
              </a:extLst>
            </p:cNvPr>
            <p:cNvSpPr/>
            <p:nvPr/>
          </p:nvSpPr>
          <p:spPr>
            <a:xfrm>
              <a:off x="6949440" y="2304288"/>
              <a:ext cx="1691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docs, run a security audit, and plan version 2.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414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BB2C1-E7CA-D417-DB6A-0E9F64A1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14FE7CC6-6E50-8C84-DA31-3D711870C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A1226D4-2FD3-35E9-6BE9-B86A9EF26044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2B0319AA-5B30-D6FA-DE03-48E5771371FA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54D8FBB-AFCA-DB00-6368-D4EEF33BB8D0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20688C13-B509-4A18-FC5C-80915C11D3DD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C832C1C-79C1-A349-B278-ABE862FE2F9B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8EE5A93-B005-1697-0802-499EFB63F9DC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34CC973-8DF8-7AF5-1A7C-F1055DAFAADC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F1359E6-504F-0E42-A85C-0A37C7B7BD58}"/>
              </a:ext>
            </a:extLst>
          </p:cNvPr>
          <p:cNvGrpSpPr/>
          <p:nvPr/>
        </p:nvGrpSpPr>
        <p:grpSpPr>
          <a:xfrm>
            <a:off x="834776" y="326888"/>
            <a:ext cx="7454065" cy="4248817"/>
            <a:chOff x="457200" y="320040"/>
            <a:chExt cx="8229600" cy="4690872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71693530-FC33-4B29-F0C6-DB5F0F5686F3}"/>
                </a:ext>
              </a:extLst>
            </p:cNvPr>
            <p:cNvSpPr/>
            <p:nvPr/>
          </p:nvSpPr>
          <p:spPr>
            <a:xfrm>
              <a:off x="457200" y="320040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Tutorial 1 — Connect</a:t>
              </a:r>
              <a:endParaRPr lang="en-US" sz="1300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4BADCA29-BC55-562B-3575-0D98C2AB7D04}"/>
                </a:ext>
              </a:extLst>
            </p:cNvPr>
            <p:cNvSpPr/>
            <p:nvPr/>
          </p:nvSpPr>
          <p:spPr>
            <a:xfrm>
              <a:off x="457200" y="612648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Chinook database</a:t>
              </a:r>
              <a:endParaRPr lang="en-US" sz="28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50C29F23-FE23-7F55-7E11-292D45E15E18}"/>
                </a:ext>
              </a:extLst>
            </p:cNvPr>
            <p:cNvSpPr/>
            <p:nvPr/>
          </p:nvSpPr>
          <p:spPr>
            <a:xfrm>
              <a:off x="457200" y="1115568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sample digital music store — 11 tables of real data.</a:t>
              </a:r>
              <a:endParaRPr lang="en-US" sz="1500" dirty="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20D43C6-5AC9-6255-7063-A61CB7556EDA}"/>
                </a:ext>
              </a:extLst>
            </p:cNvPr>
            <p:cNvSpPr/>
            <p:nvPr/>
          </p:nvSpPr>
          <p:spPr>
            <a:xfrm>
              <a:off x="457200" y="1536192"/>
              <a:ext cx="8229600" cy="2834640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463395E8-258B-0CA9-730C-5406B7F7048F}"/>
                </a:ext>
              </a:extLst>
            </p:cNvPr>
            <p:cNvSpPr/>
            <p:nvPr/>
          </p:nvSpPr>
          <p:spPr>
            <a:xfrm>
              <a:off x="457200" y="1536192"/>
              <a:ext cx="8229600" cy="292608"/>
            </a:xfrm>
            <a:prstGeom prst="rect">
              <a:avLst/>
            </a:prstGeom>
            <a:solidFill>
              <a:srgbClr val="10162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665C0BD7-030E-A10F-7536-88A381FAFC09}"/>
                </a:ext>
              </a:extLst>
            </p:cNvPr>
            <p:cNvSpPr/>
            <p:nvPr/>
          </p:nvSpPr>
          <p:spPr>
            <a:xfrm>
              <a:off x="566928" y="1618488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A2CA7F32-74A4-7963-30A0-AB50671BDB4A}"/>
                </a:ext>
              </a:extLst>
            </p:cNvPr>
            <p:cNvSpPr/>
            <p:nvPr/>
          </p:nvSpPr>
          <p:spPr>
            <a:xfrm>
              <a:off x="768096" y="1618488"/>
              <a:ext cx="109728" cy="109728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BD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0FF12DB6-B855-50DC-5496-9FFCF7EC8020}"/>
                </a:ext>
              </a:extLst>
            </p:cNvPr>
            <p:cNvSpPr/>
            <p:nvPr/>
          </p:nvSpPr>
          <p:spPr>
            <a:xfrm>
              <a:off x="969264" y="1618488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B0F9EE85-F244-FADF-3B01-2BA2535CC5BE}"/>
                </a:ext>
              </a:extLst>
            </p:cNvPr>
            <p:cNvSpPr/>
            <p:nvPr/>
          </p:nvSpPr>
          <p:spPr>
            <a:xfrm>
              <a:off x="548640" y="1572768"/>
              <a:ext cx="80467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A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chinook.sqlite — schema</a:t>
              </a:r>
              <a:endParaRPr lang="en-US" sz="1000" dirty="0"/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D364B005-0A6E-6DE5-0A38-4A99E3BB0CAC}"/>
                </a:ext>
              </a:extLst>
            </p:cNvPr>
            <p:cNvSpPr/>
            <p:nvPr/>
          </p:nvSpPr>
          <p:spPr>
            <a:xfrm>
              <a:off x="685800" y="190195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5BE33055-7F4A-E790-D861-DB2CC34262B7}"/>
                </a:ext>
              </a:extLst>
            </p:cNvPr>
            <p:cNvSpPr/>
            <p:nvPr/>
          </p:nvSpPr>
          <p:spPr>
            <a:xfrm>
              <a:off x="822960" y="190195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Artist</a:t>
              </a:r>
              <a:endParaRPr lang="en-US" sz="1200" dirty="0"/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A9FBDB7A-0477-A6B5-DFB5-B364178DDB9C}"/>
                </a:ext>
              </a:extLst>
            </p:cNvPr>
            <p:cNvSpPr/>
            <p:nvPr/>
          </p:nvSpPr>
          <p:spPr>
            <a:xfrm>
              <a:off x="3383280" y="190195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5801D006-76C7-7106-7B92-7E64862F434B}"/>
                </a:ext>
              </a:extLst>
            </p:cNvPr>
            <p:cNvSpPr/>
            <p:nvPr/>
          </p:nvSpPr>
          <p:spPr>
            <a:xfrm>
              <a:off x="3520440" y="190195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Album</a:t>
              </a:r>
              <a:endParaRPr lang="en-US" sz="1200" dirty="0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5D0EE10C-909D-D453-72D4-60427606D9AC}"/>
                </a:ext>
              </a:extLst>
            </p:cNvPr>
            <p:cNvSpPr/>
            <p:nvPr/>
          </p:nvSpPr>
          <p:spPr>
            <a:xfrm>
              <a:off x="6080760" y="190195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E031860E-640C-7991-DEF2-CA0A6ABBBC88}"/>
                </a:ext>
              </a:extLst>
            </p:cNvPr>
            <p:cNvSpPr/>
            <p:nvPr/>
          </p:nvSpPr>
          <p:spPr>
            <a:xfrm>
              <a:off x="6217920" y="190195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Track</a:t>
              </a:r>
              <a:endParaRPr lang="en-US" sz="1200" dirty="0"/>
            </a:p>
          </p:txBody>
        </p:sp>
        <p:sp>
          <p:nvSpPr>
            <p:cNvPr id="17" name="Shape 16">
              <a:extLst>
                <a:ext uri="{FF2B5EF4-FFF2-40B4-BE49-F238E27FC236}">
                  <a16:creationId xmlns:a16="http://schemas.microsoft.com/office/drawing/2014/main" id="{6B17F692-7493-4F10-11C1-B9F87847E43A}"/>
                </a:ext>
              </a:extLst>
            </p:cNvPr>
            <p:cNvSpPr/>
            <p:nvPr/>
          </p:nvSpPr>
          <p:spPr>
            <a:xfrm>
              <a:off x="685800" y="245059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7020EA3A-69A5-CA71-F9EC-078B5BE4653F}"/>
                </a:ext>
              </a:extLst>
            </p:cNvPr>
            <p:cNvSpPr/>
            <p:nvPr/>
          </p:nvSpPr>
          <p:spPr>
            <a:xfrm>
              <a:off x="822960" y="245059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Genre</a:t>
              </a:r>
              <a:endParaRPr lang="en-US" sz="1200" dirty="0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D07D3B87-CB8D-C258-686D-80F09B112E8F}"/>
                </a:ext>
              </a:extLst>
            </p:cNvPr>
            <p:cNvSpPr/>
            <p:nvPr/>
          </p:nvSpPr>
          <p:spPr>
            <a:xfrm>
              <a:off x="3383280" y="245059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E9973D22-267A-C810-1282-E41281D34459}"/>
                </a:ext>
              </a:extLst>
            </p:cNvPr>
            <p:cNvSpPr/>
            <p:nvPr/>
          </p:nvSpPr>
          <p:spPr>
            <a:xfrm>
              <a:off x="3520440" y="245059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MediaType</a:t>
              </a:r>
              <a:endParaRPr lang="en-US" sz="1200" dirty="0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5A2DC929-AD16-557A-E288-E4005AD8D014}"/>
                </a:ext>
              </a:extLst>
            </p:cNvPr>
            <p:cNvSpPr/>
            <p:nvPr/>
          </p:nvSpPr>
          <p:spPr>
            <a:xfrm>
              <a:off x="6080760" y="245059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95322822-9818-BA30-A849-0F787053515A}"/>
                </a:ext>
              </a:extLst>
            </p:cNvPr>
            <p:cNvSpPr/>
            <p:nvPr/>
          </p:nvSpPr>
          <p:spPr>
            <a:xfrm>
              <a:off x="6217920" y="245059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Playlist</a:t>
              </a:r>
              <a:endParaRPr lang="en-US" sz="1200" dirty="0"/>
            </a:p>
          </p:txBody>
        </p:sp>
        <p:sp>
          <p:nvSpPr>
            <p:cNvPr id="23" name="Shape 22">
              <a:extLst>
                <a:ext uri="{FF2B5EF4-FFF2-40B4-BE49-F238E27FC236}">
                  <a16:creationId xmlns:a16="http://schemas.microsoft.com/office/drawing/2014/main" id="{B53DDDA7-FE0E-9C7E-33D8-BE25816C01F1}"/>
                </a:ext>
              </a:extLst>
            </p:cNvPr>
            <p:cNvSpPr/>
            <p:nvPr/>
          </p:nvSpPr>
          <p:spPr>
            <a:xfrm>
              <a:off x="685800" y="299923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E9F09DF5-5B97-33EA-9380-2FDD0F18ED81}"/>
                </a:ext>
              </a:extLst>
            </p:cNvPr>
            <p:cNvSpPr/>
            <p:nvPr/>
          </p:nvSpPr>
          <p:spPr>
            <a:xfrm>
              <a:off x="822960" y="299923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PlaylistTrack</a:t>
              </a:r>
              <a:endParaRPr lang="en-US" sz="1200" dirty="0"/>
            </a:p>
          </p:txBody>
        </p:sp>
        <p:sp>
          <p:nvSpPr>
            <p:cNvPr id="25" name="Shape 24">
              <a:extLst>
                <a:ext uri="{FF2B5EF4-FFF2-40B4-BE49-F238E27FC236}">
                  <a16:creationId xmlns:a16="http://schemas.microsoft.com/office/drawing/2014/main" id="{894B2449-5A27-A832-9E79-CF268066119A}"/>
                </a:ext>
              </a:extLst>
            </p:cNvPr>
            <p:cNvSpPr/>
            <p:nvPr/>
          </p:nvSpPr>
          <p:spPr>
            <a:xfrm>
              <a:off x="3383280" y="299923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Text 25">
              <a:extLst>
                <a:ext uri="{FF2B5EF4-FFF2-40B4-BE49-F238E27FC236}">
                  <a16:creationId xmlns:a16="http://schemas.microsoft.com/office/drawing/2014/main" id="{75A60A85-B6F1-D64F-F8AB-34A8C6A6ECFE}"/>
                </a:ext>
              </a:extLst>
            </p:cNvPr>
            <p:cNvSpPr/>
            <p:nvPr/>
          </p:nvSpPr>
          <p:spPr>
            <a:xfrm>
              <a:off x="3520440" y="299923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Customer</a:t>
              </a:r>
              <a:endParaRPr lang="en-US" sz="1200" dirty="0"/>
            </a:p>
          </p:txBody>
        </p:sp>
        <p:sp>
          <p:nvSpPr>
            <p:cNvPr id="27" name="Shape 26">
              <a:extLst>
                <a:ext uri="{FF2B5EF4-FFF2-40B4-BE49-F238E27FC236}">
                  <a16:creationId xmlns:a16="http://schemas.microsoft.com/office/drawing/2014/main" id="{7B450D25-A43E-3B08-7448-4D813309422D}"/>
                </a:ext>
              </a:extLst>
            </p:cNvPr>
            <p:cNvSpPr/>
            <p:nvPr/>
          </p:nvSpPr>
          <p:spPr>
            <a:xfrm>
              <a:off x="6080760" y="299923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052E1E40-B8B2-3BAC-00EB-2249F1126FB1}"/>
                </a:ext>
              </a:extLst>
            </p:cNvPr>
            <p:cNvSpPr/>
            <p:nvPr/>
          </p:nvSpPr>
          <p:spPr>
            <a:xfrm>
              <a:off x="6217920" y="299923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Employee</a:t>
              </a:r>
              <a:endParaRPr lang="en-US" sz="1200" dirty="0"/>
            </a:p>
          </p:txBody>
        </p:sp>
        <p:sp>
          <p:nvSpPr>
            <p:cNvPr id="29" name="Shape 28">
              <a:extLst>
                <a:ext uri="{FF2B5EF4-FFF2-40B4-BE49-F238E27FC236}">
                  <a16:creationId xmlns:a16="http://schemas.microsoft.com/office/drawing/2014/main" id="{230101D4-AA2E-7097-0DBB-C4283E3240CF}"/>
                </a:ext>
              </a:extLst>
            </p:cNvPr>
            <p:cNvSpPr/>
            <p:nvPr/>
          </p:nvSpPr>
          <p:spPr>
            <a:xfrm>
              <a:off x="685800" y="354787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2644DE71-0EDC-1E3F-FCEF-56357DD9C849}"/>
                </a:ext>
              </a:extLst>
            </p:cNvPr>
            <p:cNvSpPr/>
            <p:nvPr/>
          </p:nvSpPr>
          <p:spPr>
            <a:xfrm>
              <a:off x="822960" y="354787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Invoice</a:t>
              </a:r>
              <a:endParaRPr lang="en-US" sz="1200" dirty="0"/>
            </a:p>
          </p:txBody>
        </p:sp>
        <p:sp>
          <p:nvSpPr>
            <p:cNvPr id="38" name="Shape 30">
              <a:extLst>
                <a:ext uri="{FF2B5EF4-FFF2-40B4-BE49-F238E27FC236}">
                  <a16:creationId xmlns:a16="http://schemas.microsoft.com/office/drawing/2014/main" id="{44C87372-049B-3A00-91DE-349992FFA4ED}"/>
                </a:ext>
              </a:extLst>
            </p:cNvPr>
            <p:cNvSpPr/>
            <p:nvPr/>
          </p:nvSpPr>
          <p:spPr>
            <a:xfrm>
              <a:off x="3383280" y="3547872"/>
              <a:ext cx="2468880" cy="402336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1A4A8A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Text 31">
              <a:extLst>
                <a:ext uri="{FF2B5EF4-FFF2-40B4-BE49-F238E27FC236}">
                  <a16:creationId xmlns:a16="http://schemas.microsoft.com/office/drawing/2014/main" id="{5DE36237-7F90-F852-2664-A8CB65D48278}"/>
                </a:ext>
              </a:extLst>
            </p:cNvPr>
            <p:cNvSpPr/>
            <p:nvPr/>
          </p:nvSpPr>
          <p:spPr>
            <a:xfrm>
              <a:off x="3520440" y="3547872"/>
              <a:ext cx="21945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InvoiceLine</a:t>
              </a:r>
              <a:endParaRPr lang="en-US" sz="1200" dirty="0"/>
            </a:p>
          </p:txBody>
        </p:sp>
        <p:sp>
          <p:nvSpPr>
            <p:cNvPr id="41" name="Shape 32">
              <a:extLst>
                <a:ext uri="{FF2B5EF4-FFF2-40B4-BE49-F238E27FC236}">
                  <a16:creationId xmlns:a16="http://schemas.microsoft.com/office/drawing/2014/main" id="{0A38FE4E-BA96-4B82-EAC0-0F1222F0F018}"/>
                </a:ext>
              </a:extLst>
            </p:cNvPr>
            <p:cNvSpPr/>
            <p:nvPr/>
          </p:nvSpPr>
          <p:spPr>
            <a:xfrm>
              <a:off x="457200" y="4480560"/>
              <a:ext cx="8229600" cy="530352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Shape 33">
              <a:extLst>
                <a:ext uri="{FF2B5EF4-FFF2-40B4-BE49-F238E27FC236}">
                  <a16:creationId xmlns:a16="http://schemas.microsoft.com/office/drawing/2014/main" id="{93A66261-04DD-A1BA-31B0-726E5BAF4786}"/>
                </a:ext>
              </a:extLst>
            </p:cNvPr>
            <p:cNvSpPr/>
            <p:nvPr/>
          </p:nvSpPr>
          <p:spPr>
            <a:xfrm>
              <a:off x="457200" y="4480560"/>
              <a:ext cx="8229600" cy="292608"/>
            </a:xfrm>
            <a:prstGeom prst="rect">
              <a:avLst/>
            </a:prstGeom>
            <a:solidFill>
              <a:srgbClr val="10162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Shape 34">
              <a:extLst>
                <a:ext uri="{FF2B5EF4-FFF2-40B4-BE49-F238E27FC236}">
                  <a16:creationId xmlns:a16="http://schemas.microsoft.com/office/drawing/2014/main" id="{C9E70BD9-CF8C-D2F0-1F33-B6F63E003B87}"/>
                </a:ext>
              </a:extLst>
            </p:cNvPr>
            <p:cNvSpPr/>
            <p:nvPr/>
          </p:nvSpPr>
          <p:spPr>
            <a:xfrm>
              <a:off x="566928" y="4562856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Shape 35">
              <a:extLst>
                <a:ext uri="{FF2B5EF4-FFF2-40B4-BE49-F238E27FC236}">
                  <a16:creationId xmlns:a16="http://schemas.microsoft.com/office/drawing/2014/main" id="{AE6D790E-7F4D-1380-0C1C-B209FB464AD5}"/>
                </a:ext>
              </a:extLst>
            </p:cNvPr>
            <p:cNvSpPr/>
            <p:nvPr/>
          </p:nvSpPr>
          <p:spPr>
            <a:xfrm>
              <a:off x="768096" y="4562856"/>
              <a:ext cx="109728" cy="109728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BD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Shape 36">
              <a:extLst>
                <a:ext uri="{FF2B5EF4-FFF2-40B4-BE49-F238E27FC236}">
                  <a16:creationId xmlns:a16="http://schemas.microsoft.com/office/drawing/2014/main" id="{04C5A6D9-B1C6-C27B-8DD1-8566F177AD85}"/>
                </a:ext>
              </a:extLst>
            </p:cNvPr>
            <p:cNvSpPr/>
            <p:nvPr/>
          </p:nvSpPr>
          <p:spPr>
            <a:xfrm>
              <a:off x="969264" y="4562856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Text 37">
              <a:extLst>
                <a:ext uri="{FF2B5EF4-FFF2-40B4-BE49-F238E27FC236}">
                  <a16:creationId xmlns:a16="http://schemas.microsoft.com/office/drawing/2014/main" id="{95E06DB2-88B7-872A-D1BD-8558A5C5B982}"/>
                </a:ext>
              </a:extLst>
            </p:cNvPr>
            <p:cNvSpPr/>
            <p:nvPr/>
          </p:nvSpPr>
          <p:spPr>
            <a:xfrm>
              <a:off x="697051" y="4745735"/>
              <a:ext cx="7772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&gt; Connect to the Chinook.sqlite database using DataSource=Chinook.sqlite;Cache=Shared;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3642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FC3B-A744-0B13-C622-5B3585D2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4C4A9C8-BA7A-D89C-F156-AC2C6E5D1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6638660-5407-5F82-0A7A-54755B8D2A0E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ABB6215F-0BBA-7036-6A12-6B73DE3C44E8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E1D4CC5-2FA3-8E73-08A1-762B88966231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3AC3E4AB-E0E6-F7A2-3CE6-E2DEFA5E1896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D5E4BFF-38FB-5CA2-62F7-1642F9A92BBF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26D5EAE-BB84-0501-4805-67582E39A89C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8E31C04-156E-2C38-5EEE-97ADDD688F02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E56716-0D30-7052-ACD1-0C6E8093D787}"/>
              </a:ext>
            </a:extLst>
          </p:cNvPr>
          <p:cNvGrpSpPr/>
          <p:nvPr/>
        </p:nvGrpSpPr>
        <p:grpSpPr>
          <a:xfrm>
            <a:off x="849879" y="553466"/>
            <a:ext cx="7283078" cy="4329385"/>
            <a:chOff x="457200" y="320040"/>
            <a:chExt cx="8229600" cy="4892040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C4FE1AD7-EE6F-DBBE-1B27-DD8544414530}"/>
                </a:ext>
              </a:extLst>
            </p:cNvPr>
            <p:cNvSpPr/>
            <p:nvPr/>
          </p:nvSpPr>
          <p:spPr>
            <a:xfrm>
              <a:off x="457200" y="320040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C084F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Tutorial 2 — Build</a:t>
              </a:r>
              <a:endParaRPr lang="en-US" sz="1300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A0C35233-7157-D8F2-192C-2EF87E70E876}"/>
                </a:ext>
              </a:extLst>
            </p:cNvPr>
            <p:cNvSpPr/>
            <p:nvPr/>
          </p:nvSpPr>
          <p:spPr>
            <a:xfrm>
              <a:off x="457200" y="612648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we'll build</a:t>
              </a:r>
              <a:endParaRPr lang="en-US" sz="28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013F9AA3-3946-2F13-B660-414F4BD0CDEF}"/>
                </a:ext>
              </a:extLst>
            </p:cNvPr>
            <p:cNvSpPr/>
            <p:nvPr/>
          </p:nvSpPr>
          <p:spPr>
            <a:xfrm>
              <a:off x="457200" y="1115568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working ASP.NET Razor Pages web app — built entirely with prompts.</a:t>
              </a:r>
              <a:endParaRPr lang="en-US" sz="1500" dirty="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5EE72DBB-232C-0D83-CE8A-D7C6CEADAA6A}"/>
                </a:ext>
              </a:extLst>
            </p:cNvPr>
            <p:cNvSpPr/>
            <p:nvPr/>
          </p:nvSpPr>
          <p:spPr>
            <a:xfrm>
              <a:off x="457200" y="1572768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D5B7AAA5-8690-DC08-69C3-8113AC06655F}"/>
                </a:ext>
              </a:extLst>
            </p:cNvPr>
            <p:cNvSpPr/>
            <p:nvPr/>
          </p:nvSpPr>
          <p:spPr>
            <a:xfrm>
              <a:off x="640080" y="1700784"/>
              <a:ext cx="457200" cy="45720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BB102A4C-A898-66C2-D4D2-DF5014991C60}"/>
                </a:ext>
              </a:extLst>
            </p:cNvPr>
            <p:cNvSpPr/>
            <p:nvPr/>
          </p:nvSpPr>
          <p:spPr>
            <a:xfrm>
              <a:off x="640080" y="170078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25A2C369-8D63-9D23-8FF7-11BEF85EC922}"/>
                </a:ext>
              </a:extLst>
            </p:cNvPr>
            <p:cNvSpPr/>
            <p:nvPr/>
          </p:nvSpPr>
          <p:spPr>
            <a:xfrm>
              <a:off x="1261872" y="1645920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the project</a:t>
              </a:r>
              <a:endParaRPr lang="en-US" sz="140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2A92E45A-E593-A0B8-E3A7-14D073DF8C3B}"/>
                </a:ext>
              </a:extLst>
            </p:cNvPr>
            <p:cNvSpPr/>
            <p:nvPr/>
          </p:nvSpPr>
          <p:spPr>
            <a:xfrm>
              <a:off x="1261872" y="1975104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new ASP.NET Razor Pages app with .NET 10</a:t>
              </a:r>
              <a:endParaRPr lang="en-US" sz="1200" dirty="0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D4862FFC-722A-0562-B883-DF30EC5807D7}"/>
                </a:ext>
              </a:extLst>
            </p:cNvPr>
            <p:cNvSpPr/>
            <p:nvPr/>
          </p:nvSpPr>
          <p:spPr>
            <a:xfrm>
              <a:off x="457200" y="2414016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F2E12E97-42EF-7B40-6A9F-D52E05CD1C23}"/>
                </a:ext>
              </a:extLst>
            </p:cNvPr>
            <p:cNvSpPr/>
            <p:nvPr/>
          </p:nvSpPr>
          <p:spPr>
            <a:xfrm>
              <a:off x="640080" y="2542032"/>
              <a:ext cx="457200" cy="45720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988633DB-6092-E6D2-8D1F-EA78A31FAFEF}"/>
                </a:ext>
              </a:extLst>
            </p:cNvPr>
            <p:cNvSpPr/>
            <p:nvPr/>
          </p:nvSpPr>
          <p:spPr>
            <a:xfrm>
              <a:off x="640080" y="2542032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788D3D88-62C7-45FF-9C83-F8B8251038E6}"/>
                </a:ext>
              </a:extLst>
            </p:cNvPr>
            <p:cNvSpPr/>
            <p:nvPr/>
          </p:nvSpPr>
          <p:spPr>
            <a:xfrm>
              <a:off x="1261872" y="2487168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 the database</a:t>
              </a:r>
              <a:endParaRPr lang="en-US" sz="14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B5027749-9B3C-8479-9906-675319B345C2}"/>
                </a:ext>
              </a:extLst>
            </p:cNvPr>
            <p:cNvSpPr/>
            <p:nvPr/>
          </p:nvSpPr>
          <p:spPr>
            <a:xfrm>
              <a:off x="1261872" y="2816352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Entity Framework Core wired to Chinook.sqlite</a:t>
              </a:r>
              <a:endParaRPr lang="en-US" sz="1200" dirty="0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F544D5AA-73DE-DE31-20AF-05D2C39E88AD}"/>
                </a:ext>
              </a:extLst>
            </p:cNvPr>
            <p:cNvSpPr/>
            <p:nvPr/>
          </p:nvSpPr>
          <p:spPr>
            <a:xfrm>
              <a:off x="457200" y="3255264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52BFC158-908B-8E2A-59AB-02BAC367590F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9B0BAECA-C46F-957A-34D4-FB171EBDAECC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49D534FF-8B0E-9CA5-5E14-AF93B3D80371}"/>
                </a:ext>
              </a:extLst>
            </p:cNvPr>
            <p:cNvSpPr/>
            <p:nvPr/>
          </p:nvSpPr>
          <p:spPr>
            <a:xfrm>
              <a:off x="1261872" y="3328416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Scaffold CRUD pages</a:t>
              </a:r>
              <a:endParaRPr lang="en-US" sz="14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B011C66A-031C-1074-2B93-36056E06ECAC}"/>
                </a:ext>
              </a:extLst>
            </p:cNvPr>
            <p:cNvSpPr/>
            <p:nvPr/>
          </p:nvSpPr>
          <p:spPr>
            <a:xfrm>
              <a:off x="1261872" y="3657600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Add, edit, delete, and list genres from the database</a:t>
              </a:r>
              <a:endParaRPr lang="en-US" sz="1200" dirty="0"/>
            </a:p>
          </p:txBody>
        </p:sp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618FC0A3-4307-9CE2-DFFE-D5507C469FE1}"/>
                </a:ext>
              </a:extLst>
            </p:cNvPr>
            <p:cNvSpPr/>
            <p:nvPr/>
          </p:nvSpPr>
          <p:spPr>
            <a:xfrm>
              <a:off x="457200" y="4096512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C084FC"/>
              </a:solidFill>
              <a:prstDash val="solid"/>
            </a:ln>
            <a:effectLst>
              <a:outerShdw blurRad="101600" dist="50800" dir="16200000" algn="bl" rotWithShape="0">
                <a:srgbClr val="C084FC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AFB5F09F-057D-4526-A612-F4E794DFA880}"/>
                </a:ext>
              </a:extLst>
            </p:cNvPr>
            <p:cNvSpPr/>
            <p:nvPr/>
          </p:nvSpPr>
          <p:spPr>
            <a:xfrm>
              <a:off x="640080" y="4224528"/>
              <a:ext cx="457200" cy="457200"/>
            </a:xfrm>
            <a:prstGeom prst="ellipse">
              <a:avLst/>
            </a:prstGeom>
            <a:solidFill>
              <a:srgbClr val="C084FC">
                <a:alpha val="20000"/>
              </a:srgbClr>
            </a:solidFill>
            <a:ln w="12700">
              <a:solidFill>
                <a:srgbClr val="C084FC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0A55BFE2-5C3A-E1CD-C2F7-61397D91F84E}"/>
                </a:ext>
              </a:extLst>
            </p:cNvPr>
            <p:cNvSpPr/>
            <p:nvPr/>
          </p:nvSpPr>
          <p:spPr>
            <a:xfrm>
              <a:off x="640080" y="422452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28E0F218-E1D9-4EAE-5841-3831E201D365}"/>
                </a:ext>
              </a:extLst>
            </p:cNvPr>
            <p:cNvSpPr/>
            <p:nvPr/>
          </p:nvSpPr>
          <p:spPr>
            <a:xfrm>
              <a:off x="1261872" y="4169664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Apply a theme</a:t>
              </a:r>
              <a:endParaRPr lang="en-US" sz="14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C9281BF7-2F5C-88CE-AF37-4AE817C4BCE8}"/>
                </a:ext>
              </a:extLst>
            </p:cNvPr>
            <p:cNvSpPr/>
            <p:nvPr/>
          </p:nvSpPr>
          <p:spPr>
            <a:xfrm>
              <a:off x="1261872" y="4498848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Bootswatch Sketchy — hand-drawn, fun, unique</a:t>
              </a:r>
              <a:endParaRPr lang="en-US" sz="120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5638458B-2749-EFEC-E6B7-15BB11429FED}"/>
                </a:ext>
              </a:extLst>
            </p:cNvPr>
            <p:cNvSpPr/>
            <p:nvPr/>
          </p:nvSpPr>
          <p:spPr>
            <a:xfrm>
              <a:off x="457200" y="4937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C08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 prompts. A working app.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40923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0AA6-DAC0-0E22-F219-4BC1ACCF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7EED9F64-C128-DA42-94EC-F96D0D103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CD2B2CF-7CA7-AC25-0E0E-47C94B737D9E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505410B4-2CAC-AEAA-877D-4D9E8804E100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6E3160B-37B1-74B7-0B46-028866664C06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B2BDF515-90FC-49B7-5EED-B1580B27044E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469C904-DE4A-135A-9A20-359AB7560141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2C05E9B-ED5C-D284-E413-8233180684AB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D05713E-AF52-3BDB-9BB1-69308EB90DE0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7CAB83-6CE5-5E3A-2712-BC287E1713A0}"/>
              </a:ext>
            </a:extLst>
          </p:cNvPr>
          <p:cNvGrpSpPr/>
          <p:nvPr/>
        </p:nvGrpSpPr>
        <p:grpSpPr>
          <a:xfrm>
            <a:off x="849879" y="294359"/>
            <a:ext cx="7424928" cy="4554781"/>
            <a:chOff x="457200" y="320040"/>
            <a:chExt cx="8229600" cy="5048403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8FCBD3CA-7986-BE52-7DEE-C7B80D7E4F76}"/>
                </a:ext>
              </a:extLst>
            </p:cNvPr>
            <p:cNvSpPr/>
            <p:nvPr/>
          </p:nvSpPr>
          <p:spPr>
            <a:xfrm>
              <a:off x="457200" y="320040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Tutorial 3 — Documentation</a:t>
              </a:r>
              <a:endParaRPr lang="en-US" sz="1300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B3364E66-7C9C-4BB2-950A-7544D7D8DB8D}"/>
                </a:ext>
              </a:extLst>
            </p:cNvPr>
            <p:cNvSpPr/>
            <p:nvPr/>
          </p:nvSpPr>
          <p:spPr>
            <a:xfrm>
              <a:off x="457200" y="612648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app is built. Now let Copilot document it.</a:t>
              </a:r>
              <a:endParaRPr lang="en-US" sz="28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EED04BD6-61C8-B6CE-DA07-E1A909917E27}"/>
                </a:ext>
              </a:extLst>
            </p:cNvPr>
            <p:cNvSpPr/>
            <p:nvPr/>
          </p:nvSpPr>
          <p:spPr>
            <a:xfrm>
              <a:off x="457200" y="1115568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Audit it. And plan what's next.</a:t>
              </a:r>
              <a:endParaRPr lang="en-US" sz="1500" dirty="0"/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3F129AFD-376C-5C9D-0D47-5E8ADA14A96B}"/>
                </a:ext>
              </a:extLst>
            </p:cNvPr>
            <p:cNvSpPr/>
            <p:nvPr/>
          </p:nvSpPr>
          <p:spPr>
            <a:xfrm>
              <a:off x="457200" y="1572768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D159DE44-494F-6556-EEE7-77DFB399C1E7}"/>
                </a:ext>
              </a:extLst>
            </p:cNvPr>
            <p:cNvSpPr/>
            <p:nvPr/>
          </p:nvSpPr>
          <p:spPr>
            <a:xfrm>
              <a:off x="640080" y="1700784"/>
              <a:ext cx="457200" cy="45720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AF547F9B-63EF-27F3-2AD1-C4B81D14A78C}"/>
                </a:ext>
              </a:extLst>
            </p:cNvPr>
            <p:cNvSpPr/>
            <p:nvPr/>
          </p:nvSpPr>
          <p:spPr>
            <a:xfrm>
              <a:off x="640080" y="170078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F6F502CD-CD4D-05B8-9C49-703C18CB5399}"/>
                </a:ext>
              </a:extLst>
            </p:cNvPr>
            <p:cNvSpPr/>
            <p:nvPr/>
          </p:nvSpPr>
          <p:spPr>
            <a:xfrm>
              <a:off x="1261872" y="1645920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fake data</a:t>
              </a:r>
              <a:endParaRPr lang="en-US" sz="140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8D7C8455-C44E-B959-6BD3-ACADA1CA6E3B}"/>
                </a:ext>
              </a:extLst>
            </p:cNvPr>
            <p:cNvSpPr/>
            <p:nvPr/>
          </p:nvSpPr>
          <p:spPr>
            <a:xfrm>
              <a:off x="1261872" y="1975104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Insert 10 sample genres directly into the database</a:t>
              </a:r>
              <a:endParaRPr lang="en-US" sz="1200" dirty="0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6E87DBFD-DF8C-DEEE-657F-17F583CB0337}"/>
                </a:ext>
              </a:extLst>
            </p:cNvPr>
            <p:cNvSpPr/>
            <p:nvPr/>
          </p:nvSpPr>
          <p:spPr>
            <a:xfrm>
              <a:off x="457200" y="2414016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5224B1CF-A892-C2AD-2E64-D09D841C0809}"/>
                </a:ext>
              </a:extLst>
            </p:cNvPr>
            <p:cNvSpPr/>
            <p:nvPr/>
          </p:nvSpPr>
          <p:spPr>
            <a:xfrm>
              <a:off x="640080" y="2542032"/>
              <a:ext cx="457200" cy="45720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A9B75901-5FF6-8AD2-A656-E83926AE06CE}"/>
                </a:ext>
              </a:extLst>
            </p:cNvPr>
            <p:cNvSpPr/>
            <p:nvPr/>
          </p:nvSpPr>
          <p:spPr>
            <a:xfrm>
              <a:off x="640080" y="2542032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E978A425-6898-FEC6-011E-94E932404639}"/>
                </a:ext>
              </a:extLst>
            </p:cNvPr>
            <p:cNvSpPr/>
            <p:nvPr/>
          </p:nvSpPr>
          <p:spPr>
            <a:xfrm>
              <a:off x="1261872" y="2487168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a README</a:t>
              </a:r>
              <a:endParaRPr lang="en-US" sz="14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2E3FB5CB-D4CE-8621-0B00-F2A14D575C97}"/>
                </a:ext>
              </a:extLst>
            </p:cNvPr>
            <p:cNvSpPr/>
            <p:nvPr/>
          </p:nvSpPr>
          <p:spPr>
            <a:xfrm>
              <a:off x="1261872" y="2816352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project documentation with setup instructions</a:t>
              </a:r>
              <a:endParaRPr lang="en-US" sz="1200" dirty="0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4AF84217-B19F-FEAF-957F-2CA519E431C8}"/>
                </a:ext>
              </a:extLst>
            </p:cNvPr>
            <p:cNvSpPr/>
            <p:nvPr/>
          </p:nvSpPr>
          <p:spPr>
            <a:xfrm>
              <a:off x="457200" y="3255264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E7D33B9-50DD-B058-0459-88F4B8EB3B9A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4E0ED6C6-BB38-A909-1DBD-BE88D46D645D}"/>
                </a:ext>
              </a:extLst>
            </p:cNvPr>
            <p:cNvSpPr/>
            <p:nvPr/>
          </p:nvSpPr>
          <p:spPr>
            <a:xfrm>
              <a:off x="640080" y="33832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0D978402-53B6-709F-7380-EAAD023252AF}"/>
                </a:ext>
              </a:extLst>
            </p:cNvPr>
            <p:cNvSpPr/>
            <p:nvPr/>
          </p:nvSpPr>
          <p:spPr>
            <a:xfrm>
              <a:off x="1261872" y="3328416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Run a security audit</a:t>
              </a:r>
              <a:endParaRPr lang="en-US" sz="14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8B9F9A7B-6FDD-F531-18B2-D02D16AEF015}"/>
                </a:ext>
              </a:extLst>
            </p:cNvPr>
            <p:cNvSpPr/>
            <p:nvPr/>
          </p:nvSpPr>
          <p:spPr>
            <a:xfrm>
              <a:off x="1261872" y="3657600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Spot vulnerabilities — saved to SECURITY.md</a:t>
              </a:r>
              <a:endParaRPr lang="en-US" sz="1200" dirty="0"/>
            </a:p>
          </p:txBody>
        </p:sp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876D5D03-642A-7497-647A-CD8210CFA48E}"/>
                </a:ext>
              </a:extLst>
            </p:cNvPr>
            <p:cNvSpPr/>
            <p:nvPr/>
          </p:nvSpPr>
          <p:spPr>
            <a:xfrm>
              <a:off x="457200" y="4096512"/>
              <a:ext cx="8229600" cy="713232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FE1DCD9A-D95E-9156-89E5-4A95CDD49756}"/>
                </a:ext>
              </a:extLst>
            </p:cNvPr>
            <p:cNvSpPr/>
            <p:nvPr/>
          </p:nvSpPr>
          <p:spPr>
            <a:xfrm>
              <a:off x="640080" y="4224528"/>
              <a:ext cx="457200" cy="457200"/>
            </a:xfrm>
            <a:prstGeom prst="ellipse">
              <a:avLst/>
            </a:prstGeom>
            <a:solidFill>
              <a:srgbClr val="F472B6">
                <a:alpha val="20000"/>
              </a:srgbClr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65A88752-391F-9200-D243-B643DE9725BA}"/>
                </a:ext>
              </a:extLst>
            </p:cNvPr>
            <p:cNvSpPr/>
            <p:nvPr/>
          </p:nvSpPr>
          <p:spPr>
            <a:xfrm>
              <a:off x="640080" y="422452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CF22818B-0131-6BA7-B3E0-D609E1E6E84A}"/>
                </a:ext>
              </a:extLst>
            </p:cNvPr>
            <p:cNvSpPr/>
            <p:nvPr/>
          </p:nvSpPr>
          <p:spPr>
            <a:xfrm>
              <a:off x="1261872" y="4169664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 version 2</a:t>
              </a:r>
              <a:endParaRPr lang="en-US" sz="1400" dirty="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D8783FB7-78CD-2C94-2544-5FE7CBC7B2D4}"/>
                </a:ext>
              </a:extLst>
            </p:cNvPr>
            <p:cNvSpPr/>
            <p:nvPr/>
          </p:nvSpPr>
          <p:spPr>
            <a:xfrm>
              <a:off x="1261872" y="4498848"/>
              <a:ext cx="7132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Ask Copilot what to build next and how long it would take</a:t>
              </a:r>
              <a:endParaRPr lang="en-US" sz="1200" dirty="0"/>
            </a:p>
          </p:txBody>
        </p:sp>
        <p:sp>
          <p:nvSpPr>
            <p:cNvPr id="25" name="Shape 24">
              <a:extLst>
                <a:ext uri="{FF2B5EF4-FFF2-40B4-BE49-F238E27FC236}">
                  <a16:creationId xmlns:a16="http://schemas.microsoft.com/office/drawing/2014/main" id="{D690650B-F92F-0873-38F4-93CE21A3B963}"/>
                </a:ext>
              </a:extLst>
            </p:cNvPr>
            <p:cNvSpPr/>
            <p:nvPr/>
          </p:nvSpPr>
          <p:spPr>
            <a:xfrm>
              <a:off x="457200" y="4828032"/>
              <a:ext cx="8229600" cy="256032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AB0792A0-58D5-8177-F1D0-C66FF45283C8}"/>
                </a:ext>
              </a:extLst>
            </p:cNvPr>
            <p:cNvSpPr/>
            <p:nvPr/>
          </p:nvSpPr>
          <p:spPr>
            <a:xfrm>
              <a:off x="457200" y="4828032"/>
              <a:ext cx="8229600" cy="540411"/>
            </a:xfrm>
            <a:prstGeom prst="rect">
              <a:avLst/>
            </a:prstGeom>
            <a:solidFill>
              <a:srgbClr val="10162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Shape 26">
              <a:extLst>
                <a:ext uri="{FF2B5EF4-FFF2-40B4-BE49-F238E27FC236}">
                  <a16:creationId xmlns:a16="http://schemas.microsoft.com/office/drawing/2014/main" id="{2103D33A-BB7A-88A0-E2DC-C5B5FA2D08AE}"/>
                </a:ext>
              </a:extLst>
            </p:cNvPr>
            <p:cNvSpPr/>
            <p:nvPr/>
          </p:nvSpPr>
          <p:spPr>
            <a:xfrm>
              <a:off x="566928" y="4910328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Shape 27">
              <a:extLst>
                <a:ext uri="{FF2B5EF4-FFF2-40B4-BE49-F238E27FC236}">
                  <a16:creationId xmlns:a16="http://schemas.microsoft.com/office/drawing/2014/main" id="{A422E639-1E7A-C8DA-C5F6-75AE40E24B59}"/>
                </a:ext>
              </a:extLst>
            </p:cNvPr>
            <p:cNvSpPr/>
            <p:nvPr/>
          </p:nvSpPr>
          <p:spPr>
            <a:xfrm>
              <a:off x="768096" y="4910328"/>
              <a:ext cx="109728" cy="109728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BD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Shape 28">
              <a:extLst>
                <a:ext uri="{FF2B5EF4-FFF2-40B4-BE49-F238E27FC236}">
                  <a16:creationId xmlns:a16="http://schemas.microsoft.com/office/drawing/2014/main" id="{A083FAC9-9978-9F68-60FD-DD8448BB2B1C}"/>
                </a:ext>
              </a:extLst>
            </p:cNvPr>
            <p:cNvSpPr/>
            <p:nvPr/>
          </p:nvSpPr>
          <p:spPr>
            <a:xfrm>
              <a:off x="969264" y="4910328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Text 29">
              <a:extLst>
                <a:ext uri="{FF2B5EF4-FFF2-40B4-BE49-F238E27FC236}">
                  <a16:creationId xmlns:a16="http://schemas.microsoft.com/office/drawing/2014/main" id="{A9D965C5-D509-5643-747B-2E5B1100DCAF}"/>
                </a:ext>
              </a:extLst>
            </p:cNvPr>
            <p:cNvSpPr/>
            <p:nvPr/>
          </p:nvSpPr>
          <p:spPr>
            <a:xfrm>
              <a:off x="648893" y="5071088"/>
              <a:ext cx="7772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E8F0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&gt; Review the project for security vulnerabilities and document findings in SECURITY.md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5954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AE0D-2B87-3272-05D6-3914F876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60BF5239-3C12-551D-BF22-87D2C35E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8AB8D86-2299-261C-F8D8-C3242534B2EF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DA642AC2-D3ED-669C-A2CB-7D06D07F3A5A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4E7997B-CA74-310D-EC4A-AF65CD6C8179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01FE69AD-168A-19D2-BE64-3FC42E3A3B21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2C4F57-2034-94FE-7E59-E1197DA0BCEE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7441E28-5638-9744-D32A-F6DE2CE73CC6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4A28BB8-C0E1-6434-C41F-FB8922949ADC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C0E494-768F-87C1-4F4C-93AE9C1965F1}"/>
              </a:ext>
            </a:extLst>
          </p:cNvPr>
          <p:cNvGrpSpPr/>
          <p:nvPr/>
        </p:nvGrpSpPr>
        <p:grpSpPr>
          <a:xfrm>
            <a:off x="929080" y="392550"/>
            <a:ext cx="7261306" cy="4235762"/>
            <a:chOff x="457200" y="384048"/>
            <a:chExt cx="8229600" cy="4800600"/>
          </a:xfrm>
        </p:grpSpPr>
        <p:sp>
          <p:nvSpPr>
            <p:cNvPr id="2" name="Text 1">
              <a:extLst>
                <a:ext uri="{FF2B5EF4-FFF2-40B4-BE49-F238E27FC236}">
                  <a16:creationId xmlns:a16="http://schemas.microsoft.com/office/drawing/2014/main" id="{1CF8D97E-968F-45FF-01E7-F8DBD73B2DAF}"/>
                </a:ext>
              </a:extLst>
            </p:cNvPr>
            <p:cNvSpPr/>
            <p:nvPr/>
          </p:nvSpPr>
          <p:spPr>
            <a:xfrm>
              <a:off x="457200" y="384048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F472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BONUS DEMO</a:t>
              </a:r>
              <a:endParaRPr lang="en-US" sz="1100" dirty="0"/>
            </a:p>
          </p:txBody>
        </p:sp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05B4E8E9-1177-0E57-45A7-5396953615B8}"/>
                </a:ext>
              </a:extLst>
            </p:cNvPr>
            <p:cNvSpPr/>
            <p:nvPr/>
          </p:nvSpPr>
          <p:spPr>
            <a:xfrm>
              <a:off x="457200" y="676656"/>
              <a:ext cx="8229600" cy="685800"/>
            </a:xfrm>
            <a:prstGeom prst="rect">
              <a:avLst/>
            </a:prstGeom>
            <a:noFill/>
            <a:ln/>
            <a:effectLst>
              <a:outerShdw blurRad="228600" dist="50800" dir="16200000" algn="bl" rotWithShape="0">
                <a:srgbClr val="F472B6">
                  <a:alpha val="6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Squad</a:t>
              </a:r>
              <a:endParaRPr lang="en-US" sz="44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50EBF949-2740-23F5-EC8A-F12D4C823EF1}"/>
                </a:ext>
              </a:extLst>
            </p:cNvPr>
            <p:cNvSpPr/>
            <p:nvPr/>
          </p:nvSpPr>
          <p:spPr>
            <a:xfrm>
              <a:off x="457200" y="676656"/>
              <a:ext cx="82296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44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Squad</a:t>
              </a:r>
              <a:endParaRPr lang="en-US" sz="4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B4E445B2-A1A3-C603-1367-DDEC23B7386E}"/>
                </a:ext>
              </a:extLst>
            </p:cNvPr>
            <p:cNvSpPr/>
            <p:nvPr/>
          </p:nvSpPr>
          <p:spPr>
            <a:xfrm>
              <a:off x="457200" y="1371600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happens when Copilot isn't just one agent?</a:t>
              </a:r>
              <a:endParaRPr lang="en-US" sz="1600" dirty="0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6719A91E-1CC7-C2A1-D52A-38EC46FBC1A0}"/>
                </a:ext>
              </a:extLst>
            </p:cNvPr>
            <p:cNvSpPr/>
            <p:nvPr/>
          </p:nvSpPr>
          <p:spPr>
            <a:xfrm>
              <a:off x="457200" y="1847088"/>
              <a:ext cx="8229600" cy="6400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BAAB15B4-D621-1EE7-A0B3-BBA4DDC05033}"/>
                </a:ext>
              </a:extLst>
            </p:cNvPr>
            <p:cNvSpPr/>
            <p:nvPr/>
          </p:nvSpPr>
          <p:spPr>
            <a:xfrm>
              <a:off x="457200" y="1847088"/>
              <a:ext cx="54864" cy="64008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89D38EC1-6502-F910-206D-0EB9D952ABF2}"/>
                </a:ext>
              </a:extLst>
            </p:cNvPr>
            <p:cNvSpPr/>
            <p:nvPr/>
          </p:nvSpPr>
          <p:spPr>
            <a:xfrm>
              <a:off x="685800" y="1911096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Specialized agents</a:t>
              </a:r>
              <a:endParaRPr lang="en-US" sz="1300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9C71633F-4C9F-BE32-D56B-E3D628369649}"/>
                </a:ext>
              </a:extLst>
            </p:cNvPr>
            <p:cNvSpPr/>
            <p:nvPr/>
          </p:nvSpPr>
          <p:spPr>
            <a:xfrm>
              <a:off x="685800" y="2185416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Each agent has a defined role — Lead, Backend, Frontend, Testing, DevOps</a:t>
              </a:r>
              <a:endParaRPr lang="en-US" sz="1200" dirty="0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0CC1AF8B-EAA2-DDBD-1C10-B74A533FCEE6}"/>
                </a:ext>
              </a:extLst>
            </p:cNvPr>
            <p:cNvSpPr/>
            <p:nvPr/>
          </p:nvSpPr>
          <p:spPr>
            <a:xfrm>
              <a:off x="457200" y="2615184"/>
              <a:ext cx="8229600" cy="6400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0DE3689C-64CA-7B99-FEEF-4BE90A263336}"/>
                </a:ext>
              </a:extLst>
            </p:cNvPr>
            <p:cNvSpPr/>
            <p:nvPr/>
          </p:nvSpPr>
          <p:spPr>
            <a:xfrm>
              <a:off x="457200" y="2615184"/>
              <a:ext cx="54864" cy="64008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6AF6E78F-840C-4E9F-73EF-53703F9D8BA7}"/>
                </a:ext>
              </a:extLst>
            </p:cNvPr>
            <p:cNvSpPr/>
            <p:nvPr/>
          </p:nvSpPr>
          <p:spPr>
            <a:xfrm>
              <a:off x="685800" y="2679192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They collaborate</a:t>
              </a:r>
              <a:endParaRPr lang="en-US" sz="13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090084BD-A8A2-A28E-284E-D50071439969}"/>
                </a:ext>
              </a:extLst>
            </p:cNvPr>
            <p:cNvSpPr/>
            <p:nvPr/>
          </p:nvSpPr>
          <p:spPr>
            <a:xfrm>
              <a:off x="685800" y="2953512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Agents hand off tasks, wait on each other, and review each other's work</a:t>
              </a:r>
              <a:endParaRPr lang="en-US" sz="1200" dirty="0"/>
            </a:p>
          </p:txBody>
        </p:sp>
        <p:sp>
          <p:nvSpPr>
            <p:cNvPr id="14" name="Shape 13">
              <a:extLst>
                <a:ext uri="{FF2B5EF4-FFF2-40B4-BE49-F238E27FC236}">
                  <a16:creationId xmlns:a16="http://schemas.microsoft.com/office/drawing/2014/main" id="{CC6A7CC3-9920-CFBD-EF30-56AEDB2C19DE}"/>
                </a:ext>
              </a:extLst>
            </p:cNvPr>
            <p:cNvSpPr/>
            <p:nvPr/>
          </p:nvSpPr>
          <p:spPr>
            <a:xfrm>
              <a:off x="457200" y="3383280"/>
              <a:ext cx="8229600" cy="6400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Shape 14">
              <a:extLst>
                <a:ext uri="{FF2B5EF4-FFF2-40B4-BE49-F238E27FC236}">
                  <a16:creationId xmlns:a16="http://schemas.microsoft.com/office/drawing/2014/main" id="{7596634A-C119-0AC6-2BE4-AA9330FC558B}"/>
                </a:ext>
              </a:extLst>
            </p:cNvPr>
            <p:cNvSpPr/>
            <p:nvPr/>
          </p:nvSpPr>
          <p:spPr>
            <a:xfrm>
              <a:off x="457200" y="3383280"/>
              <a:ext cx="54864" cy="64008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AC5CCDAF-7A5E-A07D-ABC2-9196D15A9100}"/>
                </a:ext>
              </a:extLst>
            </p:cNvPr>
            <p:cNvSpPr/>
            <p:nvPr/>
          </p:nvSpPr>
          <p:spPr>
            <a:xfrm>
              <a:off x="685800" y="3447288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 just prompt once</a:t>
              </a:r>
              <a:endParaRPr lang="en-US" sz="13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F5C5ECD5-182F-E486-3AEA-F1D62F62990D}"/>
                </a:ext>
              </a:extLst>
            </p:cNvPr>
            <p:cNvSpPr/>
            <p:nvPr/>
          </p:nvSpPr>
          <p:spPr>
            <a:xfrm>
              <a:off x="685800" y="3721608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Ask for a feature — Squad figures out who does what</a:t>
              </a:r>
              <a:endParaRPr lang="en-US" sz="1200" dirty="0"/>
            </a:p>
          </p:txBody>
        </p:sp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18D23DB4-30A3-F74B-7520-8E9BE43CF222}"/>
                </a:ext>
              </a:extLst>
            </p:cNvPr>
            <p:cNvSpPr/>
            <p:nvPr/>
          </p:nvSpPr>
          <p:spPr>
            <a:xfrm>
              <a:off x="457200" y="4151376"/>
              <a:ext cx="8229600" cy="640080"/>
            </a:xfrm>
            <a:prstGeom prst="rect">
              <a:avLst/>
            </a:prstGeom>
            <a:solidFill>
              <a:srgbClr val="0D1225"/>
            </a:solidFill>
            <a:ln w="12700">
              <a:solidFill>
                <a:srgbClr val="F472B6"/>
              </a:solidFill>
              <a:prstDash val="solid"/>
            </a:ln>
            <a:effectLst>
              <a:outerShdw blurRad="101600" dist="50800" dir="16200000" algn="bl" rotWithShape="0">
                <a:srgbClr val="F472B6">
                  <a:alpha val="2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44590BE3-E611-C0A9-5ADF-0915F7EF49D2}"/>
                </a:ext>
              </a:extLst>
            </p:cNvPr>
            <p:cNvSpPr/>
            <p:nvPr/>
          </p:nvSpPr>
          <p:spPr>
            <a:xfrm>
              <a:off x="457200" y="4151376"/>
              <a:ext cx="54864" cy="640080"/>
            </a:xfrm>
            <a:prstGeom prst="rect">
              <a:avLst/>
            </a:prstGeom>
            <a:solidFill>
              <a:srgbClr val="F472B6"/>
            </a:solidFill>
            <a:ln w="12700">
              <a:solidFill>
                <a:srgbClr val="F472B6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7C81CA64-A762-C77B-928D-8C57505BF123}"/>
                </a:ext>
              </a:extLst>
            </p:cNvPr>
            <p:cNvSpPr/>
            <p:nvPr/>
          </p:nvSpPr>
          <p:spPr>
            <a:xfrm>
              <a:off x="685800" y="4215384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472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Autopilot mode</a:t>
              </a:r>
              <a:endParaRPr lang="en-US" sz="13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71B49938-2B77-0608-6F40-9F8400AE34B0}"/>
                </a:ext>
              </a:extLst>
            </p:cNvPr>
            <p:cNvSpPr/>
            <p:nvPr/>
          </p:nvSpPr>
          <p:spPr>
            <a:xfrm>
              <a:off x="685800" y="4489704"/>
              <a:ext cx="7772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Let it run autonomously until completion, then review the result</a:t>
              </a:r>
              <a:endParaRPr lang="en-US" sz="12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B54DD8E2-A9C3-DB7C-AEF3-47FD7A68C693}"/>
                </a:ext>
              </a:extLst>
            </p:cNvPr>
            <p:cNvSpPr/>
            <p:nvPr/>
          </p:nvSpPr>
          <p:spPr>
            <a:xfrm>
              <a:off x="457200" y="4956048"/>
              <a:ext cx="8229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5A6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Experimental — but a glimpse of where development is going.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528184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3AE44-92CE-B6CC-4127-B685323F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CA8A70A-5DA4-B3DF-4465-5CFC7205A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857AA14-1949-93BB-7063-89AD8B74999B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B30E5AE9-7F14-847C-65A6-B784EF4F4627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F014B5A-A817-DC69-324C-C91232CEA1AB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BA566011-884C-B30B-D58F-18CBB4925EEB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F088605-EA81-6813-FB91-B2D5D2A4A2F9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19080EA-2DD1-E7F3-2623-5781A2E2B78B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EFBA535-86F4-69ED-0BF1-584F549C9559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3F51BD-F15E-0036-279B-112E022BF89F}"/>
              </a:ext>
            </a:extLst>
          </p:cNvPr>
          <p:cNvGrpSpPr/>
          <p:nvPr/>
        </p:nvGrpSpPr>
        <p:grpSpPr>
          <a:xfrm>
            <a:off x="1261537" y="884663"/>
            <a:ext cx="6511707" cy="3625837"/>
            <a:chOff x="548640" y="640080"/>
            <a:chExt cx="8046720" cy="4480560"/>
          </a:xfrm>
        </p:grpSpPr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DDC44013-2769-1A35-1CD8-CE4D8018FE54}"/>
                </a:ext>
              </a:extLst>
            </p:cNvPr>
            <p:cNvSpPr/>
            <p:nvPr/>
          </p:nvSpPr>
          <p:spPr>
            <a:xfrm>
              <a:off x="548640" y="640080"/>
              <a:ext cx="7772400" cy="1005840"/>
            </a:xfrm>
            <a:prstGeom prst="rect">
              <a:avLst/>
            </a:prstGeom>
            <a:noFill/>
            <a:ln/>
            <a:effectLst>
              <a:outerShdw blurRad="228600" dist="50800" dir="16200000" algn="bl" rotWithShape="0">
                <a:srgbClr val="3B9EFF">
                  <a:alpha val="60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3B9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Let's get started.</a:t>
              </a:r>
              <a:endParaRPr lang="en-US" sz="5200" dirty="0"/>
            </a:p>
          </p:txBody>
        </p:sp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8BAD4408-9D40-0A58-1E96-2C9D72EEFB62}"/>
                </a:ext>
              </a:extLst>
            </p:cNvPr>
            <p:cNvSpPr/>
            <p:nvPr/>
          </p:nvSpPr>
          <p:spPr>
            <a:xfrm>
              <a:off x="548640" y="640080"/>
              <a:ext cx="777240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E8F0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Let's get started.</a:t>
              </a:r>
              <a:endParaRPr lang="en-US" sz="52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3EC0AFD0-3A09-28EB-F3BA-5EFE57D9098A}"/>
                </a:ext>
              </a:extLst>
            </p:cNvPr>
            <p:cNvSpPr/>
            <p:nvPr/>
          </p:nvSpPr>
          <p:spPr>
            <a:xfrm>
              <a:off x="548640" y="1691640"/>
              <a:ext cx="7315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dirty="0">
                  <a:solidFill>
                    <a:srgbClr val="8A9B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your terminal. Type copilot. Start prompting.</a:t>
              </a:r>
              <a:endParaRPr lang="en-US" sz="1700" dirty="0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8291F511-1E97-09ED-6A35-4C983C0EE595}"/>
                </a:ext>
              </a:extLst>
            </p:cNvPr>
            <p:cNvSpPr/>
            <p:nvPr/>
          </p:nvSpPr>
          <p:spPr>
            <a:xfrm>
              <a:off x="548640" y="2331720"/>
              <a:ext cx="8046720" cy="2331720"/>
            </a:xfrm>
            <a:prstGeom prst="rect">
              <a:avLst/>
            </a:prstGeom>
            <a:solidFill>
              <a:srgbClr val="0A0E1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D3F6C6D4-4239-FA20-8F4B-8A96F93BD7E9}"/>
                </a:ext>
              </a:extLst>
            </p:cNvPr>
            <p:cNvSpPr/>
            <p:nvPr/>
          </p:nvSpPr>
          <p:spPr>
            <a:xfrm>
              <a:off x="548640" y="2331720"/>
              <a:ext cx="8046720" cy="292608"/>
            </a:xfrm>
            <a:prstGeom prst="rect">
              <a:avLst/>
            </a:prstGeom>
            <a:solidFill>
              <a:srgbClr val="10162A"/>
            </a:solidFill>
            <a:ln w="12700">
              <a:solidFill>
                <a:srgbClr val="3B9EF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79FC95EE-B989-2302-2FEF-E4D18C75F446}"/>
                </a:ext>
              </a:extLst>
            </p:cNvPr>
            <p:cNvSpPr/>
            <p:nvPr/>
          </p:nvSpPr>
          <p:spPr>
            <a:xfrm>
              <a:off x="658368" y="2414016"/>
              <a:ext cx="109728" cy="109728"/>
            </a:xfrm>
            <a:prstGeom prst="ellipse">
              <a:avLst/>
            </a:prstGeom>
            <a:solidFill>
              <a:srgbClr val="FF5F57"/>
            </a:solidFill>
            <a:ln w="12700">
              <a:solidFill>
                <a:srgbClr val="FF5F57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19C75B25-C728-0DE0-25A6-1C6BD49F6C29}"/>
                </a:ext>
              </a:extLst>
            </p:cNvPr>
            <p:cNvSpPr/>
            <p:nvPr/>
          </p:nvSpPr>
          <p:spPr>
            <a:xfrm>
              <a:off x="859536" y="2414016"/>
              <a:ext cx="109728" cy="109728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BD2E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E9296C01-26C9-48DD-1115-C1E41B8F6190}"/>
                </a:ext>
              </a:extLst>
            </p:cNvPr>
            <p:cNvSpPr/>
            <p:nvPr/>
          </p:nvSpPr>
          <p:spPr>
            <a:xfrm>
              <a:off x="1060704" y="2414016"/>
              <a:ext cx="109728" cy="109728"/>
            </a:xfrm>
            <a:prstGeom prst="ellipse">
              <a:avLst/>
            </a:prstGeom>
            <a:solidFill>
              <a:srgbClr val="28C840"/>
            </a:solidFill>
            <a:ln w="12700">
              <a:solidFill>
                <a:srgbClr val="28C840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75FF9300-7DFA-F427-2897-D2821C2B12F4}"/>
                </a:ext>
              </a:extLst>
            </p:cNvPr>
            <p:cNvSpPr/>
            <p:nvPr/>
          </p:nvSpPr>
          <p:spPr>
            <a:xfrm>
              <a:off x="640080" y="2368296"/>
              <a:ext cx="78638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A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resources</a:t>
              </a:r>
              <a:endParaRPr lang="en-US" sz="10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2CC38654-8411-F2F2-EFDF-4DF7EB5CF4D8}"/>
                </a:ext>
              </a:extLst>
            </p:cNvPr>
            <p:cNvSpPr/>
            <p:nvPr/>
          </p:nvSpPr>
          <p:spPr>
            <a:xfrm>
              <a:off x="777240" y="2724912"/>
              <a:ext cx="7498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D3E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Workshop repo  →  github.com/goldfish047/copilot_cli_workshop</a:t>
              </a:r>
              <a:endParaRPr lang="en-US" sz="1200" dirty="0"/>
            </a:p>
          </p:txBody>
        </p:sp>
        <p:sp>
          <p:nvSpPr>
            <p:cNvPr id="13" name="Text 12">
              <a:extLst>
                <a:ext uri="{FF2B5EF4-FFF2-40B4-BE49-F238E27FC236}">
                  <a16:creationId xmlns:a16="http://schemas.microsoft.com/office/drawing/2014/main" id="{DAE2CCED-EB1C-8C63-31A4-C8040DD0E80E}"/>
                </a:ext>
              </a:extLst>
            </p:cNvPr>
            <p:cNvSpPr/>
            <p:nvPr/>
          </p:nvSpPr>
          <p:spPr>
            <a:xfrm>
              <a:off x="777240" y="3255264"/>
              <a:ext cx="7498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B9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Copilot CLI docs→  docs.github.com/en/copilot</a:t>
              </a:r>
              <a:endParaRPr lang="en-US" sz="1200" dirty="0"/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30A19ACD-E489-68E8-6CA6-2578EADCF31D}"/>
                </a:ext>
              </a:extLst>
            </p:cNvPr>
            <p:cNvSpPr/>
            <p:nvPr/>
          </p:nvSpPr>
          <p:spPr>
            <a:xfrm>
              <a:off x="777240" y="3785616"/>
              <a:ext cx="7498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472B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Squad repo     →  github.com/bradygaster/squad</a:t>
              </a:r>
              <a:endParaRPr lang="en-US" sz="1200" dirty="0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DE92B0FC-F6AE-A780-2E90-519B5E336F09}"/>
                </a:ext>
              </a:extLst>
            </p:cNvPr>
            <p:cNvSpPr/>
            <p:nvPr/>
          </p:nvSpPr>
          <p:spPr>
            <a:xfrm>
              <a:off x="548640" y="48006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A6A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Connect → Build → Document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9153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8909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785515"/>
            <a:ext cx="5001220" cy="357247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539" y="557932"/>
            <a:ext cx="489693" cy="4896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57243" y="1164729"/>
            <a:ext cx="3429365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65"/>
              </a:lnSpc>
              <a:spcAft>
                <a:spcPts val="1010"/>
              </a:spcAft>
              <a:buNone/>
            </a:pPr>
            <a:r>
              <a:rPr lang="en-US" sz="1910" kern="0" spc="-38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Copilot Your </a:t>
            </a:r>
            <a:r>
              <a:rPr lang="en-US" sz="1910" kern="0" spc="-38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Question</a:t>
            </a:r>
            <a:endParaRPr lang="en-US" sz="1910" dirty="0"/>
          </a:p>
        </p:txBody>
      </p:sp>
      <p:sp>
        <p:nvSpPr>
          <p:cNvPr id="8" name="Text 5"/>
          <p:cNvSpPr/>
          <p:nvPr/>
        </p:nvSpPr>
        <p:spPr>
          <a:xfrm>
            <a:off x="2000250" y="1656755"/>
            <a:ext cx="5143500" cy="2227808"/>
          </a:xfrm>
          <a:prstGeom prst="roundRect">
            <a:avLst>
              <a:gd name="adj" fmla="val 3876"/>
            </a:avLst>
          </a:prstGeom>
          <a:solidFill>
            <a:srgbClr val="161B22"/>
          </a:solidFill>
          <a:ln w="9525">
            <a:solidFill>
              <a:srgbClr val="6E40C9">
                <a:alpha val="30000"/>
              </a:srgbClr>
            </a:solidFill>
          </a:ln>
          <a:effectLst>
            <a:outerShdw blurRad="101600" dist="50800" dir="16200000" algn="bl" rotWithShape="0">
              <a:srgbClr val="FFFFFF">
                <a:alpha val="4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09775" y="1666280"/>
            <a:ext cx="5124450" cy="286941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5A32A3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124075" y="1766590"/>
            <a:ext cx="86320" cy="86320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67545" y="1766590"/>
            <a:ext cx="86320" cy="86320"/>
          </a:xfrm>
          <a:prstGeom prst="ellipse">
            <a:avLst/>
          </a:prstGeom>
          <a:solidFill>
            <a:srgbClr val="FFBD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411016" y="1766590"/>
            <a:ext cx="86320" cy="86320"/>
          </a:xfrm>
          <a:prstGeom prst="ellipse">
            <a:avLst/>
          </a:prstGeom>
          <a:solidFill>
            <a:srgbClr val="28CA4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10395" y="2110680"/>
            <a:ext cx="51955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1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sz="2800" dirty="0"/>
            </a:b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0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copilot</a:t>
            </a:r>
            <a:br>
              <a:rPr sz="2800" dirty="0"/>
            </a:b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167235" y="2315171"/>
            <a:ext cx="3739574" cy="1668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1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sz="3200" dirty="0"/>
            </a:b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050" b="1" i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Welcome to GitHub Copilot CLI</a:t>
            </a:r>
            <a:br>
              <a:rPr sz="3200" dirty="0"/>
            </a:b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210395" y="2615505"/>
            <a:ext cx="51955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1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prompt: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10395" y="2806005"/>
            <a:ext cx="4817674" cy="202704"/>
          </a:xfrm>
          <a:prstGeom prst="rect">
            <a:avLst/>
          </a:prstGeom>
          <a:noFill/>
          <a:ln/>
        </p:spPr>
        <p:txBody>
          <a:bodyPr wrap="none" lIns="86360" tIns="0" rIns="0" bIns="0" rtlCol="0" anchor="t"/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 me an overview of this project.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10395" y="2806005"/>
            <a:ext cx="9525" cy="202704"/>
          </a:xfrm>
          <a:prstGeom prst="rect">
            <a:avLst/>
          </a:prstGeom>
          <a:solidFill>
            <a:srgbClr val="6E40C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210395" y="3132534"/>
            <a:ext cx="5195530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2"/>
              </a:lnSpc>
              <a:buNone/>
            </a:pPr>
            <a:r>
              <a:rPr lang="en-US" sz="1000" i="1" kern="0" spc="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Copilot analyzes your current directory and responds —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210395" y="3364833"/>
            <a:ext cx="4817674" cy="412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1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sz="2800" dirty="0"/>
            </a:br>
            <a:r>
              <a:rPr lang="en-US" sz="10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Copilot reads your repo structure, README, and recent changes to give you a tailored summary.</a:t>
            </a:r>
            <a:br>
              <a:rPr sz="2800" dirty="0"/>
            </a:b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171015" y="3998863"/>
            <a:ext cx="480196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900"/>
              </a:spcBef>
              <a:spcAft>
                <a:spcPts val="34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uses the context of your </a:t>
            </a: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directory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give relevant, </a:t>
            </a: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project-aware answers.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532607" y="4202013"/>
            <a:ext cx="20786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1000" kern="0" spc="20" dirty="0">
                <a:solidFill>
                  <a:srgbClr val="8B949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official GitHub Copilot CLI docs.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0" y="0"/>
            <a:ext cx="1286470" cy="2158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57530" y="5121920"/>
            <a:ext cx="1286470" cy="2158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055" y="4890055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90079" y="4897338"/>
            <a:ext cx="10117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CLI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60000">
                <a:srgbClr val="8B5C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7220" y="0"/>
            <a:ext cx="1856780" cy="1856780"/>
          </a:xfrm>
          <a:prstGeom prst="ellipse">
            <a:avLst/>
          </a:prstGeom>
          <a:gradFill rotWithShape="1">
            <a:gsLst>
              <a:gs pos="0">
                <a:srgbClr val="6E40C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6741" y="3500140"/>
            <a:ext cx="1428750" cy="1428750"/>
          </a:xfrm>
          <a:prstGeom prst="ellipse">
            <a:avLst/>
          </a:prstGeom>
          <a:gradFill rotWithShape="1">
            <a:gsLst>
              <a:gs pos="0">
                <a:srgbClr val="6E40C9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1188839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76820" y="1045329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24213" y="1188839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91610" y="1045329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38999" y="1188839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6244" y="1045329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9575" y="2984153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76820" y="2840642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4213" y="2984153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91610" y="2840642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38999" y="2984153"/>
            <a:ext cx="21580" cy="1675952"/>
          </a:xfrm>
          <a:custGeom>
            <a:avLst/>
            <a:gdLst/>
            <a:ahLst/>
            <a:cxnLst/>
            <a:rect l="l" t="t" r="r" b="b"/>
            <a:pathLst>
              <a:path w="21580" h="167595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655860"/>
                </a:lnTo>
                <a:lnTo>
                  <a:pt x="18883" y="1653095"/>
                </a:lnTo>
                <a:lnTo>
                  <a:pt x="16185" y="1650001"/>
                </a:lnTo>
                <a:lnTo>
                  <a:pt x="13488" y="1646504"/>
                </a:lnTo>
                <a:lnTo>
                  <a:pt x="10790" y="1642493"/>
                </a:lnTo>
                <a:lnTo>
                  <a:pt x="8093" y="1637781"/>
                </a:lnTo>
                <a:lnTo>
                  <a:pt x="5395" y="1632004"/>
                </a:lnTo>
                <a:lnTo>
                  <a:pt x="2698" y="1624234"/>
                </a:lnTo>
                <a:lnTo>
                  <a:pt x="0" y="1604832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06244" y="2840642"/>
            <a:ext cx="571500" cy="571500"/>
          </a:xfrm>
          <a:prstGeom prst="rect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0" y="214610"/>
            <a:ext cx="9144000" cy="5143500"/>
          </a:xfrm>
          <a:prstGeom prst="rect">
            <a:avLst/>
          </a:prstGeom>
          <a:gradFill rotWithShape="1">
            <a:gsLst>
              <a:gs pos="0">
                <a:srgbClr val="6E40C9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64560" y="171982"/>
            <a:ext cx="1251198" cy="181228"/>
          </a:xfrm>
          <a:prstGeom prst="roundRect">
            <a:avLst>
              <a:gd name="adj" fmla="val 79188"/>
            </a:avLst>
          </a:prstGeom>
          <a:solidFill>
            <a:srgbClr val="6E40C9">
              <a:alpha val="18000"/>
            </a:srgbClr>
          </a:solidFill>
          <a:ln w="9525">
            <a:solidFill>
              <a:srgbClr val="6E40C9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0050" y="522684"/>
            <a:ext cx="8927973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360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Shortcuts to </a:t>
            </a:r>
            <a:r>
              <a:rPr lang="en-US" sz="3600" kern="0" spc="-2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Master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00050" y="889984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your Copilot CLI session like a pro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0050" y="1179314"/>
            <a:ext cx="2714327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8724" y="1355080"/>
            <a:ext cx="442511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760762" y="133409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6E40C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7925" y="1281258"/>
            <a:ext cx="219441" cy="21944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9900" y="1731764"/>
            <a:ext cx="26491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Operation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76205" y="2060983"/>
            <a:ext cx="2649170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current running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immediately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214688" y="1179314"/>
            <a:ext cx="2714476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26188" y="1339156"/>
            <a:ext cx="760693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575548" y="133409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6E40C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7594" y="1216141"/>
            <a:ext cx="284558" cy="28455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280537" y="1733848"/>
            <a:ext cx="264933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/ Clear / Exit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3362571" y="2079351"/>
            <a:ext cx="2649334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if thinking, clear input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idle, or exit the session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6029474" y="1179314"/>
            <a:ext cx="2714327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175011" y="1316980"/>
            <a:ext cx="760693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4202" y="1368111"/>
            <a:ext cx="132588" cy="132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080306" y="1738650"/>
            <a:ext cx="26491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Screen</a:t>
            </a:r>
            <a:endParaRPr lang="en-US" sz="2000" dirty="0"/>
          </a:p>
        </p:txBody>
      </p:sp>
      <p:sp>
        <p:nvSpPr>
          <p:cNvPr id="39" name="Text 34"/>
          <p:cNvSpPr/>
          <p:nvPr/>
        </p:nvSpPr>
        <p:spPr>
          <a:xfrm>
            <a:off x="6105629" y="2168615"/>
            <a:ext cx="2649170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terminal display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ending your session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400050" y="2974628"/>
            <a:ext cx="2714327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412188" y="3096980"/>
            <a:ext cx="257005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2000" dirty="0"/>
          </a:p>
        </p:txBody>
      </p:sp>
      <p:sp>
        <p:nvSpPr>
          <p:cNvPr id="42" name="Text 37"/>
          <p:cNvSpPr/>
          <p:nvPr/>
        </p:nvSpPr>
        <p:spPr>
          <a:xfrm>
            <a:off x="2588982" y="3054251"/>
            <a:ext cx="372400" cy="275778"/>
          </a:xfrm>
          <a:prstGeom prst="roundRect">
            <a:avLst>
              <a:gd name="adj" fmla="val 21523"/>
            </a:avLst>
          </a:prstGeom>
          <a:solidFill>
            <a:srgbClr val="6E40C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4289" y="3042936"/>
            <a:ext cx="253077" cy="253077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43109" y="3534613"/>
            <a:ext cx="26491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Files</a:t>
            </a:r>
            <a:endParaRPr lang="en-US" sz="2000" dirty="0"/>
          </a:p>
        </p:txBody>
      </p:sp>
      <p:sp>
        <p:nvSpPr>
          <p:cNvPr id="45" name="Text 39"/>
          <p:cNvSpPr/>
          <p:nvPr/>
        </p:nvSpPr>
        <p:spPr>
          <a:xfrm>
            <a:off x="431155" y="3873286"/>
            <a:ext cx="2649170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specific files to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them in Copilot's context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3214688" y="2974628"/>
            <a:ext cx="2714476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3317390" y="3081612"/>
            <a:ext cx="257005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000" dirty="0"/>
          </a:p>
        </p:txBody>
      </p:sp>
      <p:sp>
        <p:nvSpPr>
          <p:cNvPr id="48" name="Text 42"/>
          <p:cNvSpPr/>
          <p:nvPr/>
        </p:nvSpPr>
        <p:spPr>
          <a:xfrm>
            <a:off x="5457594" y="3082677"/>
            <a:ext cx="318574" cy="247352"/>
          </a:xfrm>
          <a:prstGeom prst="roundRect">
            <a:avLst>
              <a:gd name="adj" fmla="val 21523"/>
            </a:avLst>
          </a:prstGeom>
          <a:solidFill>
            <a:srgbClr val="6E40C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5090" y="3078951"/>
            <a:ext cx="217062" cy="217062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3296774" y="3529580"/>
            <a:ext cx="264933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endParaRPr lang="en-US" sz="2000" dirty="0"/>
          </a:p>
        </p:txBody>
      </p:sp>
      <p:sp>
        <p:nvSpPr>
          <p:cNvPr id="51" name="Text 44"/>
          <p:cNvSpPr/>
          <p:nvPr/>
        </p:nvSpPr>
        <p:spPr>
          <a:xfrm>
            <a:off x="3362571" y="3910649"/>
            <a:ext cx="2649334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available slash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like /login, /help</a:t>
            </a:r>
            <a:endParaRPr lang="en-US" sz="1600" dirty="0"/>
          </a:p>
        </p:txBody>
      </p:sp>
      <p:sp>
        <p:nvSpPr>
          <p:cNvPr id="52" name="Text 45"/>
          <p:cNvSpPr/>
          <p:nvPr/>
        </p:nvSpPr>
        <p:spPr>
          <a:xfrm>
            <a:off x="6029474" y="2974628"/>
            <a:ext cx="2714327" cy="1695004"/>
          </a:xfrm>
          <a:prstGeom prst="roundRect">
            <a:avLst>
              <a:gd name="adj" fmla="val 4196"/>
            </a:avLst>
          </a:prstGeom>
          <a:solidFill>
            <a:srgbClr val="161B22"/>
          </a:solidFill>
          <a:ln w="9525">
            <a:solidFill>
              <a:srgbClr val="6E40C9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6096590" y="3082975"/>
            <a:ext cx="257005" cy="234851"/>
          </a:xfrm>
          <a:prstGeom prst="roundRect">
            <a:avLst>
              <a:gd name="adj" fmla="val 18386"/>
            </a:avLst>
          </a:prstGeom>
          <a:solidFill>
            <a:srgbClr val="6E40C9">
              <a:alpha val="12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0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24202" y="3163425"/>
            <a:ext cx="132588" cy="132588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111657" y="3540774"/>
            <a:ext cx="26491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10"/>
              </a:spcBef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Help</a:t>
            </a:r>
            <a:endParaRPr lang="en-US" sz="2000" dirty="0"/>
          </a:p>
        </p:txBody>
      </p:sp>
      <p:sp>
        <p:nvSpPr>
          <p:cNvPr id="57" name="Text 49"/>
          <p:cNvSpPr/>
          <p:nvPr/>
        </p:nvSpPr>
        <p:spPr>
          <a:xfrm>
            <a:off x="6175011" y="3859517"/>
            <a:ext cx="2649170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contextual help in a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interface</a:t>
            </a:r>
            <a:endParaRPr lang="en-US" sz="1600" dirty="0"/>
          </a:p>
        </p:txBody>
      </p:sp>
      <p:sp>
        <p:nvSpPr>
          <p:cNvPr id="58" name="Text 50"/>
          <p:cNvSpPr/>
          <p:nvPr/>
        </p:nvSpPr>
        <p:spPr>
          <a:xfrm>
            <a:off x="7141666" y="4779318"/>
            <a:ext cx="283875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590" dirty="0"/>
          </a:p>
        </p:txBody>
      </p:sp>
      <p:sp>
        <p:nvSpPr>
          <p:cNvPr id="59" name="Text 51"/>
          <p:cNvSpPr/>
          <p:nvPr/>
        </p:nvSpPr>
        <p:spPr>
          <a:xfrm>
            <a:off x="7442895" y="4755952"/>
            <a:ext cx="1327077" cy="158948"/>
          </a:xfrm>
          <a:prstGeom prst="roundRect">
            <a:avLst>
              <a:gd name="adj" fmla="val 5433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153610" tIns="13970" rIns="64770" bIns="1397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GitHub Copilot CLI Docs</a:t>
            </a:r>
            <a:endParaRPr lang="en-US" sz="590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77506" y="4769132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0" y="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6E40C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314920"/>
            <a:ext cx="1453009" cy="191691"/>
          </a:xfrm>
          <a:prstGeom prst="roundRect">
            <a:avLst>
              <a:gd name="adj" fmla="val 15238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740" y="113885"/>
            <a:ext cx="418570" cy="418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0957" y="339524"/>
            <a:ext cx="4520468" cy="2039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32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NON-INTERACTIVE MODE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00050" y="563761"/>
            <a:ext cx="892797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spcAft>
                <a:spcPts val="230"/>
              </a:spcAft>
              <a:buNone/>
            </a:pPr>
            <a:r>
              <a:rPr lang="en-US" sz="1910" kern="0" spc="-19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Copilot CLI </a:t>
            </a:r>
            <a:r>
              <a:rPr lang="en-US" sz="1910" b="1" kern="0" spc="-19" dirty="0">
                <a:solidFill>
                  <a:srgbClr val="C9A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Non-Interactively</a:t>
            </a:r>
            <a:endParaRPr lang="en-US" sz="1910" dirty="0"/>
          </a:p>
        </p:txBody>
      </p:sp>
      <p:sp>
        <p:nvSpPr>
          <p:cNvPr id="7" name="Text 4"/>
          <p:cNvSpPr/>
          <p:nvPr/>
        </p:nvSpPr>
        <p:spPr>
          <a:xfrm>
            <a:off x="400050" y="899815"/>
            <a:ext cx="342900" cy="13841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0050" y="942826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answers without opening a full session — with the </a:t>
            </a:r>
            <a:r>
              <a:rPr lang="en-US" sz="1600" dirty="0">
                <a:solidFill>
                  <a:srgbClr val="A78BDB"/>
                </a:solidFill>
                <a:highlight>
                  <a:srgbClr val="6E40C9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0050" y="1260277"/>
            <a:ext cx="5957590" cy="475059"/>
          </a:xfrm>
          <a:prstGeom prst="roundRect">
            <a:avLst>
              <a:gd name="adj" fmla="val 12030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037" y="1368838"/>
            <a:ext cx="290429" cy="29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2785" y="1348532"/>
            <a:ext cx="5488650" cy="313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prompt directly with </a:t>
            </a:r>
            <a:r>
              <a:rPr lang="en-US" sz="1400" dirty="0">
                <a:solidFill>
                  <a:srgbClr val="C9A8FF"/>
                </a:solidFill>
                <a:highlight>
                  <a:srgbClr val="6E40C9">
                    <a:alpha val="15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skip the interactive session entirely — get your answer and return to the shell instantly.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00050" y="1800076"/>
            <a:ext cx="5957590" cy="425797"/>
          </a:xfrm>
          <a:prstGeom prst="roundRect">
            <a:avLst>
              <a:gd name="adj" fmla="val 13422"/>
            </a:avLst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0050" y="1800076"/>
            <a:ext cx="19050" cy="425797"/>
          </a:xfrm>
          <a:custGeom>
            <a:avLst/>
            <a:gdLst/>
            <a:ahLst/>
            <a:cxnLst/>
            <a:rect l="l" t="t" r="r" b="b"/>
            <a:pathLst>
              <a:path w="19050" h="42579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411244"/>
                </a:lnTo>
                <a:lnTo>
                  <a:pt x="16669" y="408988"/>
                </a:lnTo>
                <a:lnTo>
                  <a:pt x="14288" y="406448"/>
                </a:lnTo>
                <a:lnTo>
                  <a:pt x="11906" y="403563"/>
                </a:lnTo>
                <a:lnTo>
                  <a:pt x="9525" y="400238"/>
                </a:lnTo>
                <a:lnTo>
                  <a:pt x="7144" y="396315"/>
                </a:lnTo>
                <a:lnTo>
                  <a:pt x="4763" y="391487"/>
                </a:lnTo>
                <a:lnTo>
                  <a:pt x="2381" y="384972"/>
                </a:lnTo>
                <a:lnTo>
                  <a:pt x="0" y="368647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381" y="1896433"/>
            <a:ext cx="294894" cy="2948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260" y="1945333"/>
            <a:ext cx="5478935" cy="264765"/>
          </a:xfrm>
          <a:prstGeom prst="roundRect">
            <a:avLst>
              <a:gd name="adj" fmla="val 13431"/>
            </a:avLst>
          </a:prstGeom>
          <a:solidFill>
            <a:srgbClr val="010409"/>
          </a:solidFill>
          <a:ln/>
        </p:spPr>
        <p:txBody>
          <a:bodyPr wrap="none" lIns="100330" tIns="57150" rIns="100330" bIns="5715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 Git, how can I apply a commit from another branch"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00050" y="2290614"/>
            <a:ext cx="5957590" cy="412700"/>
          </a:xfrm>
          <a:prstGeom prst="roundRect">
            <a:avLst>
              <a:gd name="adj" fmla="val 13848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145" y="2407425"/>
            <a:ext cx="282178" cy="2821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2785" y="2378869"/>
            <a:ext cx="5919133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6EDF3"/>
                </a:solidFill>
                <a:latin typeface="Calibri" pitchFamily="34" charset="0"/>
                <a:cs typeface="Calibri" pitchFamily="34" charset="-120"/>
              </a:rPr>
              <a:t>Use </a:t>
            </a:r>
            <a:r>
              <a:rPr lang="en-US" sz="1400" dirty="0">
                <a:solidFill>
                  <a:srgbClr val="C9A8FF"/>
                </a:solidFill>
                <a:highlight>
                  <a:srgbClr val="6E40C9">
                    <a:alpha val="15000"/>
                  </a:srgbClr>
                </a:highlight>
                <a:latin typeface="Consolas" pitchFamily="34" charset="0"/>
                <a:cs typeface="Consolas" pitchFamily="34" charset="-120"/>
              </a:rPr>
              <a:t>-p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cs typeface="Calibri" pitchFamily="34" charset="-120"/>
              </a:rPr>
              <a:t> in shell scripts to automate AI-powered tasks programmatically </a:t>
            </a:r>
          </a:p>
          <a:p>
            <a:r>
              <a:rPr lang="en-US" sz="1400" dirty="0">
                <a:solidFill>
                  <a:srgbClr val="E6EDF3"/>
                </a:solidFill>
                <a:latin typeface="Calibri" pitchFamily="34" charset="0"/>
                <a:cs typeface="Calibri" pitchFamily="34" charset="-120"/>
              </a:rPr>
              <a:t>— no user interaction required.</a:t>
            </a:r>
          </a:p>
        </p:txBody>
      </p:sp>
      <p:sp>
        <p:nvSpPr>
          <p:cNvPr id="22" name="Text 16"/>
          <p:cNvSpPr/>
          <p:nvPr/>
        </p:nvSpPr>
        <p:spPr>
          <a:xfrm>
            <a:off x="400050" y="2768054"/>
            <a:ext cx="5957590" cy="412700"/>
          </a:xfrm>
          <a:prstGeom prst="roundRect">
            <a:avLst>
              <a:gd name="adj" fmla="val 13848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23875" y="2863900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243" y="2872403"/>
            <a:ext cx="238080" cy="238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2785" y="2856309"/>
            <a:ext cx="5919133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</a:t>
            </a:r>
            <a:r>
              <a:rPr lang="en-US" sz="1400" dirty="0">
                <a:solidFill>
                  <a:srgbClr val="C9A8FF"/>
                </a:solidFill>
                <a:highlight>
                  <a:srgbClr val="6E40C9">
                    <a:alpha val="15000"/>
                  </a:srgbClr>
                </a:highlight>
                <a:latin typeface="Consolas" pitchFamily="34" charset="0"/>
                <a:cs typeface="Consolas" pitchFamily="34" charset="-120"/>
              </a:rPr>
              <a:t>-s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 to output only Copilot's response — strips surrounding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usage information.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00050" y="3245495"/>
            <a:ext cx="5957590" cy="425797"/>
          </a:xfrm>
          <a:prstGeom prst="roundRect">
            <a:avLst>
              <a:gd name="adj" fmla="val 13422"/>
            </a:avLst>
          </a:prstGeom>
          <a:solidFill>
            <a:srgbClr val="0D111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00050" y="3245495"/>
            <a:ext cx="19050" cy="425797"/>
          </a:xfrm>
          <a:custGeom>
            <a:avLst/>
            <a:gdLst/>
            <a:ahLst/>
            <a:cxnLst/>
            <a:rect l="l" t="t" r="r" b="b"/>
            <a:pathLst>
              <a:path w="19050" h="425797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411244"/>
                </a:lnTo>
                <a:lnTo>
                  <a:pt x="16669" y="408988"/>
                </a:lnTo>
                <a:lnTo>
                  <a:pt x="14288" y="406448"/>
                </a:lnTo>
                <a:lnTo>
                  <a:pt x="11906" y="403563"/>
                </a:lnTo>
                <a:lnTo>
                  <a:pt x="9525" y="400238"/>
                </a:lnTo>
                <a:lnTo>
                  <a:pt x="7144" y="396315"/>
                </a:lnTo>
                <a:lnTo>
                  <a:pt x="4763" y="391487"/>
                </a:lnTo>
                <a:lnTo>
                  <a:pt x="2381" y="384972"/>
                </a:lnTo>
                <a:lnTo>
                  <a:pt x="0" y="368647"/>
                </a:lnTo>
                <a:close/>
              </a:path>
            </a:pathLst>
          </a:cu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33400" y="3333601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6E40C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902" y="3332238"/>
            <a:ext cx="229092" cy="2290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2310" y="3326011"/>
            <a:ext cx="5478935" cy="264765"/>
          </a:xfrm>
          <a:prstGeom prst="roundRect">
            <a:avLst>
              <a:gd name="adj" fmla="val 13431"/>
            </a:avLst>
          </a:prstGeom>
          <a:solidFill>
            <a:srgbClr val="010409"/>
          </a:solidFill>
          <a:ln/>
        </p:spPr>
        <p:txBody>
          <a:bodyPr wrap="none" lIns="100330" tIns="57150" rIns="100330" bIns="5715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</a:t>
            </a:r>
            <a:r>
              <a:rPr lang="en-US" sz="1100" dirty="0" err="1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PROMPT HERE"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6529090" y="590973"/>
            <a:ext cx="2214860" cy="1592610"/>
          </a:xfrm>
          <a:prstGeom prst="roundRect">
            <a:avLst>
              <a:gd name="adj" fmla="val 4466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6666756" y="714798"/>
            <a:ext cx="347960" cy="288131"/>
          </a:xfrm>
          <a:prstGeom prst="roundRect">
            <a:avLst>
              <a:gd name="adj" fmla="val 14986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085707" y="765697"/>
            <a:ext cx="6838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Flag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666756" y="1033885"/>
            <a:ext cx="1978319" cy="564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your </a:t>
            </a: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directly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Copilot CLI at launch. Bypasses the interactive REPL entirely. Works anywhere you can run a shell command.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666756" y="1875062"/>
            <a:ext cx="1978319" cy="18469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r>
              <a:rPr lang="en-US" sz="1000" kern="0" spc="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kern="0" spc="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666756" y="1875062"/>
            <a:ext cx="193952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6529090" y="2269903"/>
            <a:ext cx="2214860" cy="1592610"/>
          </a:xfrm>
          <a:prstGeom prst="roundRect">
            <a:avLst>
              <a:gd name="adj" fmla="val 4466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6666756" y="2393728"/>
            <a:ext cx="347960" cy="288131"/>
          </a:xfrm>
          <a:prstGeom prst="roundRect">
            <a:avLst>
              <a:gd name="adj" fmla="val 14986"/>
            </a:avLst>
          </a:prstGeom>
          <a:solidFill>
            <a:srgbClr val="6E40C9">
              <a:alpha val="15000"/>
            </a:srgbClr>
          </a:solidFill>
          <a:ln w="9525">
            <a:solidFill>
              <a:srgbClr val="6E40C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085707" y="2444627"/>
            <a:ext cx="59279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Silent Flag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6666756" y="2712815"/>
            <a:ext cx="1978319" cy="564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</a:t>
            </a: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Copilot's response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headers, usage info, or decorators. Designed for </a:t>
            </a: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piping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 into other commands or capturing in variables.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666756" y="3553992"/>
            <a:ext cx="1978319" cy="18469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buNone/>
            </a:pP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r>
              <a:rPr lang="en-US" sz="1000" kern="0" spc="25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-sp</a:t>
            </a: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kern="0" spc="25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r>
              <a:rPr lang="en-US" sz="100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grep ...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6666756" y="3553992"/>
            <a:ext cx="193952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400050" y="4602807"/>
            <a:ext cx="8343900" cy="31209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400050" y="4602807"/>
            <a:ext cx="19050" cy="312093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8841" y="4696355"/>
            <a:ext cx="132588" cy="132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47861" y="4683322"/>
            <a:ext cx="8115830" cy="194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1050" b="1" dirty="0">
                <a:solidFill>
                  <a:srgbClr val="A78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</a:t>
            </a:r>
            <a:r>
              <a:rPr lang="en-US" sz="1050" b="1" dirty="0">
                <a:solidFill>
                  <a:srgbClr val="A78BDB"/>
                </a:solidFill>
                <a:highlight>
                  <a:srgbClr val="6E40C9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-s</a:t>
            </a: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(silent) flag is ideal for piping Copilot's output into other commands or storing it in variables — e.g. </a:t>
            </a:r>
            <a:r>
              <a:rPr lang="en-US" sz="1050" b="1" dirty="0">
                <a:solidFill>
                  <a:srgbClr val="A78BDB"/>
                </a:solidFill>
                <a:highlight>
                  <a:srgbClr val="6E40C9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RESULT=$(copilot -sp "...")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6538615" y="600498"/>
            <a:ext cx="2195808" cy="13841"/>
          </a:xfrm>
          <a:custGeom>
            <a:avLst/>
            <a:gdLst/>
            <a:ahLst/>
            <a:cxnLst/>
            <a:rect l="l" t="t" r="r" b="b"/>
            <a:pathLst>
              <a:path w="2195808" h="13841">
                <a:moveTo>
                  <a:pt x="71120" y="0"/>
                </a:moveTo>
                <a:lnTo>
                  <a:pt x="2124688" y="0"/>
                </a:lnTo>
                <a:lnTo>
                  <a:pt x="2140279" y="1730"/>
                </a:lnTo>
                <a:lnTo>
                  <a:pt x="2146601" y="3460"/>
                </a:lnTo>
                <a:lnTo>
                  <a:pt x="2151359" y="5190"/>
                </a:lnTo>
                <a:lnTo>
                  <a:pt x="2155290" y="6920"/>
                </a:lnTo>
                <a:lnTo>
                  <a:pt x="2158682" y="8651"/>
                </a:lnTo>
                <a:lnTo>
                  <a:pt x="2161685" y="10381"/>
                </a:lnTo>
                <a:lnTo>
                  <a:pt x="2164386" y="12111"/>
                </a:lnTo>
                <a:lnTo>
                  <a:pt x="2166844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6538615" y="2279428"/>
            <a:ext cx="2195808" cy="13841"/>
          </a:xfrm>
          <a:custGeom>
            <a:avLst/>
            <a:gdLst/>
            <a:ahLst/>
            <a:cxnLst/>
            <a:rect l="l" t="t" r="r" b="b"/>
            <a:pathLst>
              <a:path w="2195808" h="13841">
                <a:moveTo>
                  <a:pt x="71120" y="0"/>
                </a:moveTo>
                <a:lnTo>
                  <a:pt x="2124688" y="0"/>
                </a:lnTo>
                <a:lnTo>
                  <a:pt x="2140279" y="1730"/>
                </a:lnTo>
                <a:lnTo>
                  <a:pt x="2146601" y="3460"/>
                </a:lnTo>
                <a:lnTo>
                  <a:pt x="2151359" y="5190"/>
                </a:lnTo>
                <a:lnTo>
                  <a:pt x="2155290" y="6920"/>
                </a:lnTo>
                <a:lnTo>
                  <a:pt x="2158682" y="8651"/>
                </a:lnTo>
                <a:lnTo>
                  <a:pt x="2161685" y="10381"/>
                </a:lnTo>
                <a:lnTo>
                  <a:pt x="2164386" y="12111"/>
                </a:lnTo>
                <a:lnTo>
                  <a:pt x="2166844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6E40C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6E40C9"/>
              </a:gs>
              <a:gs pos="100000">
                <a:srgbClr val="3B1D8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C990D-7735-FAB0-D6ED-738817B7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AE6DE6E-C999-FFDE-5A73-97C57C2240D4}"/>
              </a:ext>
            </a:extLst>
          </p:cNvPr>
          <p:cNvGrpSpPr/>
          <p:nvPr/>
        </p:nvGrpSpPr>
        <p:grpSpPr>
          <a:xfrm>
            <a:off x="601888" y="30956"/>
            <a:ext cx="7631116" cy="5007222"/>
            <a:chOff x="601888" y="30956"/>
            <a:chExt cx="7631116" cy="5007222"/>
          </a:xfrm>
        </p:grpSpPr>
        <p:sp>
          <p:nvSpPr>
            <p:cNvPr id="39" name="Rectangle: Top Corners Rounded 38">
              <a:extLst>
                <a:ext uri="{FF2B5EF4-FFF2-40B4-BE49-F238E27FC236}">
                  <a16:creationId xmlns:a16="http://schemas.microsoft.com/office/drawing/2014/main" id="{F1E49CB9-5880-D52E-E9B8-6217AC832D76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BB9F925-1D60-3104-1532-01F8D06415A4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2" name="Rectangle: Top Corners Rounded 1">
                <a:extLst>
                  <a:ext uri="{FF2B5EF4-FFF2-40B4-BE49-F238E27FC236}">
                    <a16:creationId xmlns:a16="http://schemas.microsoft.com/office/drawing/2014/main" id="{563CD15B-47B0-B562-2073-E84700742ED2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D5CD1E9-F01B-DECD-1D52-7D606217867E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B23236F-C7B0-2291-8BE2-60ACE193AE47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B449B21-242C-6B4F-CC8C-E0E8E0CC0E0C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0968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849FBD-5EE3-1C74-C18C-CC36620D1D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F30E29D8-55A5-2CC5-1D3A-D89C65EE520E}"/>
              </a:ext>
            </a:extLst>
          </p:cNvPr>
          <p:cNvSpPr/>
          <p:nvPr/>
        </p:nvSpPr>
        <p:spPr>
          <a:xfrm>
            <a:off x="1035198" y="2400300"/>
            <a:ext cx="7163922" cy="97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>
                <a:srgbClr val="5E8DCD"/>
              </a:buClr>
            </a:pPr>
            <a:r>
              <a:rPr lang="en-US" sz="12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Copilot can write, test and debug code  right from your termina. Describe a task to get started or enter ? for help. Copilot uses AI, check for mistakes.</a:t>
            </a:r>
          </a:p>
          <a:p>
            <a:pPr>
              <a:buClr>
                <a:srgbClr val="5E8DCD"/>
              </a:buClr>
            </a:pPr>
            <a:endParaRPr lang="en-US" sz="1200" dirty="0">
              <a:solidFill>
                <a:srgbClr val="C8C9C9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285750" indent="-285750">
              <a:buClr>
                <a:srgbClr val="5E8DCD"/>
              </a:buClr>
              <a:buFont typeface="DejaVu Sans Mono" panose="020B0609030804020204" pitchFamily="49" charset="0"/>
              <a:buChar char="●"/>
            </a:pPr>
            <a:r>
              <a:rPr lang="en-US" sz="1200" dirty="0">
                <a:solidFill>
                  <a:srgbClr val="C8C9C9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Connected to GitHub MCP Server</a:t>
            </a:r>
          </a:p>
        </p:txBody>
      </p:sp>
    </p:spTree>
    <p:extLst>
      <p:ext uri="{BB962C8B-B14F-4D97-AF65-F5344CB8AC3E}">
        <p14:creationId xmlns:p14="http://schemas.microsoft.com/office/powerpoint/2010/main" val="3981253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FA75-8969-E6E2-9D60-AC08B5D9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B6029252-DC82-7507-21E1-7464F7EFEA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3CA7AE08-4246-55DC-68FF-9BDCD6AA7262}"/>
              </a:ext>
            </a:extLst>
          </p:cNvPr>
          <p:cNvGrpSpPr/>
          <p:nvPr/>
        </p:nvGrpSpPr>
        <p:grpSpPr>
          <a:xfrm>
            <a:off x="756442" y="0"/>
            <a:ext cx="7631116" cy="5018062"/>
            <a:chOff x="756442" y="0"/>
            <a:chExt cx="7631116" cy="501806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37B93FC4-9DE5-E712-7C18-8F09EAAF317E}"/>
                </a:ext>
              </a:extLst>
            </p:cNvPr>
            <p:cNvSpPr>
              <a:spLocks/>
            </p:cNvSpPr>
            <p:nvPr/>
          </p:nvSpPr>
          <p:spPr>
            <a:xfrm rot="10800000">
              <a:off x="756443" y="233338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8E8B4621-0127-792F-9413-B15E1AE17FE8}"/>
                </a:ext>
              </a:extLst>
            </p:cNvPr>
            <p:cNvSpPr/>
            <p:nvPr/>
          </p:nvSpPr>
          <p:spPr>
            <a:xfrm>
              <a:off x="756442" y="0"/>
              <a:ext cx="7631116" cy="22542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12E1ED1-426B-6B2E-36F6-F871E5532C92}"/>
                </a:ext>
              </a:extLst>
            </p:cNvPr>
            <p:cNvSpPr/>
            <p:nvPr/>
          </p:nvSpPr>
          <p:spPr>
            <a:xfrm>
              <a:off x="1163833" y="74366"/>
              <a:ext cx="1077716" cy="151061"/>
            </a:xfrm>
            <a:prstGeom prst="roundRect">
              <a:avLst>
                <a:gd name="adj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CFE89C7-F951-D58F-A879-8B7EE0BD6C77}"/>
                </a:ext>
              </a:extLst>
            </p:cNvPr>
            <p:cNvSpPr/>
            <p:nvPr/>
          </p:nvSpPr>
          <p:spPr>
            <a:xfrm>
              <a:off x="771890" y="41275"/>
              <a:ext cx="501878" cy="184152"/>
            </a:xfrm>
            <a:prstGeom prst="round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E6683EE-7DC6-EF16-4A54-9CCAA362E2A0}"/>
                </a:ext>
              </a:extLst>
            </p:cNvPr>
            <p:cNvSpPr/>
            <p:nvPr/>
          </p:nvSpPr>
          <p:spPr>
            <a:xfrm>
              <a:off x="983229" y="74366"/>
              <a:ext cx="79200" cy="79200"/>
            </a:xfrm>
            <a:prstGeom prst="ellipse">
              <a:avLst/>
            </a:prstGeom>
            <a:solidFill>
              <a:srgbClr val="EBC4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B227FD8-C8A4-4846-396C-6551D9CD4DC7}"/>
                </a:ext>
              </a:extLst>
            </p:cNvPr>
            <p:cNvSpPr/>
            <p:nvPr/>
          </p:nvSpPr>
          <p:spPr>
            <a:xfrm>
              <a:off x="849879" y="74366"/>
              <a:ext cx="79200" cy="79200"/>
            </a:xfrm>
            <a:prstGeom prst="ellipse">
              <a:avLst/>
            </a:prstGeom>
            <a:solidFill>
              <a:srgbClr val="FE5A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3D0DE41-FDF3-FB5D-2AA9-1766FD993CB8}"/>
                </a:ext>
              </a:extLst>
            </p:cNvPr>
            <p:cNvSpPr/>
            <p:nvPr/>
          </p:nvSpPr>
          <p:spPr>
            <a:xfrm>
              <a:off x="1116579" y="74366"/>
              <a:ext cx="79200" cy="79200"/>
            </a:xfrm>
            <a:prstGeom prst="ellipse">
              <a:avLst/>
            </a:prstGeom>
            <a:solidFill>
              <a:srgbClr val="52C2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57A54AD-5519-F372-786C-441967FC0AEA}"/>
                </a:ext>
              </a:extLst>
            </p:cNvPr>
            <p:cNvSpPr/>
            <p:nvPr/>
          </p:nvSpPr>
          <p:spPr>
            <a:xfrm>
              <a:off x="1273768" y="34433"/>
              <a:ext cx="967781" cy="151061"/>
            </a:xfrm>
            <a:prstGeom prst="roundRect">
              <a:avLst>
                <a:gd name="adj" fmla="val 27932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542A050-5F7E-BDE3-696B-51DB70EC4771}"/>
                </a:ext>
              </a:extLst>
            </p:cNvPr>
            <p:cNvGrpSpPr/>
            <p:nvPr/>
          </p:nvGrpSpPr>
          <p:grpSpPr>
            <a:xfrm>
              <a:off x="2110772" y="100930"/>
              <a:ext cx="50210" cy="47625"/>
              <a:chOff x="3102565" y="108195"/>
              <a:chExt cx="50210" cy="47625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AF68272-7808-AD53-C495-3F3EC39206A2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DB8DF48-F3FF-1399-859A-D827F66A71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2FB0E11-28D7-BF6B-9B23-3D6D550544A3}"/>
                </a:ext>
              </a:extLst>
            </p:cNvPr>
            <p:cNvSpPr/>
            <p:nvPr/>
          </p:nvSpPr>
          <p:spPr>
            <a:xfrm>
              <a:off x="2087104" y="153566"/>
              <a:ext cx="6107006" cy="179580"/>
            </a:xfrm>
            <a:prstGeom prst="roundRect">
              <a:avLst>
                <a:gd name="adj" fmla="val 27932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862440DB-6052-4155-6E02-47488E15E94E}"/>
                </a:ext>
              </a:extLst>
            </p:cNvPr>
            <p:cNvSpPr/>
            <p:nvPr/>
          </p:nvSpPr>
          <p:spPr>
            <a:xfrm rot="10800000">
              <a:off x="2241549" y="36330"/>
              <a:ext cx="6052572" cy="188671"/>
            </a:xfrm>
            <a:prstGeom prst="round2SameRect">
              <a:avLst>
                <a:gd name="adj1" fmla="val 27605"/>
                <a:gd name="adj2" fmla="val 0"/>
              </a:avLst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9939112-CC6C-50BB-A9A9-ACC0C15CE8B5}"/>
                </a:ext>
              </a:extLst>
            </p:cNvPr>
            <p:cNvGrpSpPr/>
            <p:nvPr/>
          </p:nvGrpSpPr>
          <p:grpSpPr>
            <a:xfrm>
              <a:off x="3102565" y="108195"/>
              <a:ext cx="50210" cy="47625"/>
              <a:chOff x="3102565" y="108195"/>
              <a:chExt cx="50210" cy="47625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E68C508-C771-3FEC-82CC-EEB34C4E3812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164543C-A2A1-E0FF-3FB6-B61E3C5D6C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DFD09E9-85CD-5670-0606-80D8BDDCD33C}"/>
                </a:ext>
              </a:extLst>
            </p:cNvPr>
            <p:cNvCxnSpPr>
              <a:cxnSpLocks/>
            </p:cNvCxnSpPr>
            <p:nvPr/>
          </p:nvCxnSpPr>
          <p:spPr>
            <a:xfrm>
              <a:off x="3238500" y="89145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5897AAE-3FC4-4205-978B-5B0E56DEC016}"/>
                </a:ext>
              </a:extLst>
            </p:cNvPr>
            <p:cNvSpPr txBox="1"/>
            <p:nvPr/>
          </p:nvSpPr>
          <p:spPr>
            <a:xfrm>
              <a:off x="2226404" y="22690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New Tab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43" name="Picture 42" descr="ChatGPT - Simple English Wikipedia, the free encyclopedia">
              <a:extLst>
                <a:ext uri="{FF2B5EF4-FFF2-40B4-BE49-F238E27FC236}">
                  <a16:creationId xmlns:a16="http://schemas.microsoft.com/office/drawing/2014/main" id="{60811358-7501-4294-FFE0-F8C465374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7472" y="58935"/>
              <a:ext cx="122371" cy="12237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A5B8835-341B-1A95-2BEA-B45A52F8045F}"/>
                </a:ext>
              </a:extLst>
            </p:cNvPr>
            <p:cNvSpPr txBox="1"/>
            <p:nvPr/>
          </p:nvSpPr>
          <p:spPr>
            <a:xfrm>
              <a:off x="3496213" y="30637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ChatGPT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C8F8844-D543-C46D-04EA-C7E791B638FE}"/>
                </a:ext>
              </a:extLst>
            </p:cNvPr>
            <p:cNvGrpSpPr/>
            <p:nvPr/>
          </p:nvGrpSpPr>
          <p:grpSpPr>
            <a:xfrm>
              <a:off x="4180300" y="105725"/>
              <a:ext cx="50210" cy="47625"/>
              <a:chOff x="3102565" y="108195"/>
              <a:chExt cx="50210" cy="47625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C7FAF6A-805B-FC01-BED5-A8F6489A1E0B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32F26F0-8884-6989-9554-204B78045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2149A80-250B-501D-B52B-7C9C9E68E7EE}"/>
                </a:ext>
              </a:extLst>
            </p:cNvPr>
            <p:cNvCxnSpPr>
              <a:cxnSpLocks/>
            </p:cNvCxnSpPr>
            <p:nvPr/>
          </p:nvCxnSpPr>
          <p:spPr>
            <a:xfrm>
              <a:off x="4316235" y="86675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9A58B65-BBD7-0967-9FA4-3F41D2967FCF}"/>
                </a:ext>
              </a:extLst>
            </p:cNvPr>
            <p:cNvSpPr txBox="1"/>
            <p:nvPr/>
          </p:nvSpPr>
          <p:spPr>
            <a:xfrm>
              <a:off x="4519136" y="34014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Claude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920AB8C-D7AA-711F-6913-B473630A7682}"/>
                </a:ext>
              </a:extLst>
            </p:cNvPr>
            <p:cNvGrpSpPr/>
            <p:nvPr/>
          </p:nvGrpSpPr>
          <p:grpSpPr>
            <a:xfrm>
              <a:off x="5263082" y="109102"/>
              <a:ext cx="50210" cy="47625"/>
              <a:chOff x="3102565" y="108195"/>
              <a:chExt cx="50210" cy="47625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E24C6C7-2EE6-46EA-53EB-C85A1576A324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981A2CA-6219-32E7-53D4-32DE28AA8A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3E8B1C8-DEB2-F9DF-AC42-731CDCC1CC94}"/>
                </a:ext>
              </a:extLst>
            </p:cNvPr>
            <p:cNvCxnSpPr>
              <a:cxnSpLocks/>
            </p:cNvCxnSpPr>
            <p:nvPr/>
          </p:nvCxnSpPr>
          <p:spPr>
            <a:xfrm>
              <a:off x="5399017" y="90052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6592D8E1-2ADF-CB75-9750-05E024F0E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053" y="75617"/>
              <a:ext cx="115256" cy="115256"/>
            </a:xfrm>
            <a:prstGeom prst="rect">
              <a:avLst/>
            </a:prstGeom>
          </p:spPr>
        </p:pic>
        <p:pic>
          <p:nvPicPr>
            <p:cNvPr id="59" name="Picture 58" descr="File:Google Gemini icon 2025.svg - Wikimedia Commons">
              <a:extLst>
                <a:ext uri="{FF2B5EF4-FFF2-40B4-BE49-F238E27FC236}">
                  <a16:creationId xmlns:a16="http://schemas.microsoft.com/office/drawing/2014/main" id="{0B8DB27C-66FD-E8E6-803E-E8EBD3539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0966" y="85289"/>
              <a:ext cx="95872" cy="95872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B12DB8-4F4C-0385-6321-B52FA9E58D0E}"/>
                </a:ext>
              </a:extLst>
            </p:cNvPr>
            <p:cNvSpPr txBox="1"/>
            <p:nvPr/>
          </p:nvSpPr>
          <p:spPr>
            <a:xfrm>
              <a:off x="5557786" y="37368"/>
              <a:ext cx="7492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Google Gemini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74B6772-9C39-59FA-4C80-1E5DDFCB7F2A}"/>
                </a:ext>
              </a:extLst>
            </p:cNvPr>
            <p:cNvGrpSpPr/>
            <p:nvPr/>
          </p:nvGrpSpPr>
          <p:grpSpPr>
            <a:xfrm>
              <a:off x="6292351" y="105941"/>
              <a:ext cx="50210" cy="47625"/>
              <a:chOff x="3102565" y="108195"/>
              <a:chExt cx="50210" cy="47625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1854227-9712-1481-704B-9DD451A996AA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FE79BBA-8084-3A32-2EC4-73DDCDE426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4EAD1C3-CA7F-B76F-F87A-9A0851A182E1}"/>
                </a:ext>
              </a:extLst>
            </p:cNvPr>
            <p:cNvCxnSpPr>
              <a:cxnSpLocks/>
            </p:cNvCxnSpPr>
            <p:nvPr/>
          </p:nvCxnSpPr>
          <p:spPr>
            <a:xfrm>
              <a:off x="6428286" y="86891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483C8E7-C176-B414-12C6-BA01AC5AFC40}"/>
                </a:ext>
              </a:extLst>
            </p:cNvPr>
            <p:cNvGrpSpPr/>
            <p:nvPr/>
          </p:nvGrpSpPr>
          <p:grpSpPr>
            <a:xfrm rot="2700000">
              <a:off x="7508961" y="103972"/>
              <a:ext cx="50210" cy="47625"/>
              <a:chOff x="3102565" y="108195"/>
              <a:chExt cx="50210" cy="47625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06FFC41-24E0-DF58-BFA7-3689AB50D8DA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3F41BD0-F131-DEF4-5E22-C9230B0D3E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FD9DEB7-9AE4-C49A-1F1A-CB3FF59EB67F}"/>
                </a:ext>
              </a:extLst>
            </p:cNvPr>
            <p:cNvSpPr txBox="1"/>
            <p:nvPr/>
          </p:nvSpPr>
          <p:spPr>
            <a:xfrm>
              <a:off x="6584137" y="30637"/>
              <a:ext cx="74923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95000"/>
                    </a:schemeClr>
                  </a:solidFill>
                </a:rPr>
                <a:t>GitHub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7B91D85-F3D4-12FF-AE36-0FC20AD060BA}"/>
                </a:ext>
              </a:extLst>
            </p:cNvPr>
            <p:cNvGrpSpPr/>
            <p:nvPr/>
          </p:nvGrpSpPr>
          <p:grpSpPr>
            <a:xfrm>
              <a:off x="7283165" y="109008"/>
              <a:ext cx="50210" cy="47625"/>
              <a:chOff x="3102565" y="108195"/>
              <a:chExt cx="50210" cy="47625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96FABA5A-AB17-6CD7-4A37-AA9A9C2CA453}"/>
                  </a:ext>
                </a:extLst>
              </p:cNvPr>
              <p:cNvCxnSpPr/>
              <p:nvPr/>
            </p:nvCxnSpPr>
            <p:spPr>
              <a:xfrm>
                <a:off x="3102769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B9BC885-0463-9327-1AF7-5687B4E988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2565" y="108195"/>
                <a:ext cx="50006" cy="47625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3F424A8-D293-921B-4A09-C2D95E097CE0}"/>
                </a:ext>
              </a:extLst>
            </p:cNvPr>
            <p:cNvCxnSpPr>
              <a:cxnSpLocks/>
            </p:cNvCxnSpPr>
            <p:nvPr/>
          </p:nvCxnSpPr>
          <p:spPr>
            <a:xfrm>
              <a:off x="7419100" y="80160"/>
              <a:ext cx="0" cy="952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 descr="Download Github, Github Logo, Github Icon. Royalty-Free ...">
              <a:extLst>
                <a:ext uri="{FF2B5EF4-FFF2-40B4-BE49-F238E27FC236}">
                  <a16:creationId xmlns:a16="http://schemas.microsoft.com/office/drawing/2014/main" id="{087E8CD0-7AF9-03B2-9379-E023CBF34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5977" y="59896"/>
              <a:ext cx="137276" cy="137276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73891BA-4387-96F6-368F-6465A55ED15C}"/>
                </a:ext>
              </a:extLst>
            </p:cNvPr>
            <p:cNvSpPr txBox="1"/>
            <p:nvPr/>
          </p:nvSpPr>
          <p:spPr>
            <a:xfrm>
              <a:off x="1514345" y="30968"/>
              <a:ext cx="6000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>
                  <a:solidFill>
                    <a:schemeClr val="bg1">
                      <a:lumMod val="95000"/>
                    </a:schemeClr>
                  </a:solidFill>
                </a:rPr>
                <a:t>Copilot CLI</a:t>
              </a:r>
              <a:endParaRPr lang="en-CA" sz="7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EB4D3A7-F470-6900-C098-A2BEB5198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2845" t="9362" r="12845" b="56235"/>
            <a:stretch>
              <a:fillRect/>
            </a:stretch>
          </p:blipFill>
          <p:spPr>
            <a:xfrm>
              <a:off x="1388707" y="76458"/>
              <a:ext cx="136133" cy="1083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8686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87AF-B04A-CA33-847B-A8FF2A9C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CEBB17BB-82B5-16A7-104C-33E91559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76E0E6-AFB9-49BA-14E7-01700F588972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6F58D8-0CA8-65FD-1A03-18DA9462C79B}"/>
              </a:ext>
            </a:extLst>
          </p:cNvPr>
          <p:cNvGrpSpPr/>
          <p:nvPr/>
        </p:nvGrpSpPr>
        <p:grpSpPr>
          <a:xfrm>
            <a:off x="756442" y="0"/>
            <a:ext cx="7631116" cy="5007222"/>
            <a:chOff x="601888" y="30956"/>
            <a:chExt cx="7631116" cy="5007222"/>
          </a:xfrm>
        </p:grpSpPr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DFFD92B5-299B-5E0F-99CA-6991767508AE}"/>
                </a:ext>
              </a:extLst>
            </p:cNvPr>
            <p:cNvSpPr>
              <a:spLocks/>
            </p:cNvSpPr>
            <p:nvPr/>
          </p:nvSpPr>
          <p:spPr>
            <a:xfrm rot="10800000">
              <a:off x="601888" y="253454"/>
              <a:ext cx="7631115" cy="4784724"/>
            </a:xfrm>
            <a:prstGeom prst="round2SameRect">
              <a:avLst>
                <a:gd name="adj1" fmla="val 2436"/>
                <a:gd name="adj2" fmla="val 0"/>
              </a:avLst>
            </a:prstGeom>
            <a:solidFill>
              <a:srgbClr val="171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7731CBF-128A-5462-FAA9-898340E820FC}"/>
                </a:ext>
              </a:extLst>
            </p:cNvPr>
            <p:cNvGrpSpPr/>
            <p:nvPr/>
          </p:nvGrpSpPr>
          <p:grpSpPr>
            <a:xfrm>
              <a:off x="601888" y="30956"/>
              <a:ext cx="7631116" cy="225427"/>
              <a:chOff x="601888" y="30956"/>
              <a:chExt cx="7631116" cy="225427"/>
            </a:xfrm>
          </p:grpSpPr>
          <p:sp>
            <p:nvSpPr>
              <p:cNvPr id="34" name="Rectangle: Top Corners Rounded 33">
                <a:extLst>
                  <a:ext uri="{FF2B5EF4-FFF2-40B4-BE49-F238E27FC236}">
                    <a16:creationId xmlns:a16="http://schemas.microsoft.com/office/drawing/2014/main" id="{FEEF449F-EF6C-909F-1A6A-E54B6B99775E}"/>
                  </a:ext>
                </a:extLst>
              </p:cNvPr>
              <p:cNvSpPr/>
              <p:nvPr/>
            </p:nvSpPr>
            <p:spPr>
              <a:xfrm>
                <a:off x="601888" y="30956"/>
                <a:ext cx="7631116" cy="22542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26262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E3FFD74-E875-9AA3-F939-31A49CF25D07}"/>
                  </a:ext>
                </a:extLst>
              </p:cNvPr>
              <p:cNvSpPr/>
              <p:nvPr/>
            </p:nvSpPr>
            <p:spPr>
              <a:xfrm>
                <a:off x="828675" y="105322"/>
                <a:ext cx="79200" cy="79200"/>
              </a:xfrm>
              <a:prstGeom prst="ellipse">
                <a:avLst/>
              </a:prstGeom>
              <a:solidFill>
                <a:srgbClr val="EBC4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C92A041-B864-5C7E-CEBE-1285E58C3397}"/>
                  </a:ext>
                </a:extLst>
              </p:cNvPr>
              <p:cNvSpPr/>
              <p:nvPr/>
            </p:nvSpPr>
            <p:spPr>
              <a:xfrm>
                <a:off x="695325" y="105322"/>
                <a:ext cx="79200" cy="79200"/>
              </a:xfrm>
              <a:prstGeom prst="ellipse">
                <a:avLst/>
              </a:prstGeom>
              <a:solidFill>
                <a:srgbClr val="FE5A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E1AEB2A-F22F-3882-1ABB-7C3939DB7E21}"/>
                  </a:ext>
                </a:extLst>
              </p:cNvPr>
              <p:cNvSpPr/>
              <p:nvPr/>
            </p:nvSpPr>
            <p:spPr>
              <a:xfrm>
                <a:off x="962025" y="105322"/>
                <a:ext cx="79200" cy="79200"/>
              </a:xfrm>
              <a:prstGeom prst="ellipse">
                <a:avLst/>
              </a:prstGeom>
              <a:solidFill>
                <a:srgbClr val="52C2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28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1350</Words>
  <Application>Microsoft Macintosh PowerPoint</Application>
  <PresentationFormat>On-screen Show (16:9)</PresentationFormat>
  <Paragraphs>255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0xProto Nerd Font</vt:lpstr>
      <vt:lpstr>Arial</vt:lpstr>
      <vt:lpstr>Calibri</vt:lpstr>
      <vt:lpstr>Calibri Light</vt:lpstr>
      <vt:lpstr>Consolas</vt:lpstr>
      <vt:lpstr>DejaVu Sans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with Copilot CLI</dc:title>
  <dc:subject>PptxGenJS Presentation</dc:subject>
  <dc:creator>PptxGenJS</dc:creator>
  <cp:lastModifiedBy>Medhat Elmasry</cp:lastModifiedBy>
  <cp:revision>15</cp:revision>
  <dcterms:created xsi:type="dcterms:W3CDTF">2026-05-16T06:21:43Z</dcterms:created>
  <dcterms:modified xsi:type="dcterms:W3CDTF">2026-05-18T04:03:57Z</dcterms:modified>
</cp:coreProperties>
</file>