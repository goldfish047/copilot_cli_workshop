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78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svg"/><Relationship Id="rId18" Type="http://schemas.openxmlformats.org/officeDocument/2006/relationships/image" Target="../media/image3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17" Type="http://schemas.openxmlformats.org/officeDocument/2006/relationships/image" Target="../media/image3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0" Type="http://schemas.openxmlformats.org/officeDocument/2006/relationships/image" Target="../media/image57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9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12" Type="http://schemas.openxmlformats.org/officeDocument/2006/relationships/image" Target="../media/image6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svg"/><Relationship Id="rId11" Type="http://schemas.openxmlformats.org/officeDocument/2006/relationships/image" Target="../media/image67.svg"/><Relationship Id="rId5" Type="http://schemas.openxmlformats.org/officeDocument/2006/relationships/image" Target="../media/image61.svg"/><Relationship Id="rId15" Type="http://schemas.openxmlformats.org/officeDocument/2006/relationships/image" Target="../media/image71.svg"/><Relationship Id="rId10" Type="http://schemas.openxmlformats.org/officeDocument/2006/relationships/image" Target="../media/image66.svg"/><Relationship Id="rId4" Type="http://schemas.openxmlformats.org/officeDocument/2006/relationships/image" Target="../media/image60.svg"/><Relationship Id="rId9" Type="http://schemas.openxmlformats.org/officeDocument/2006/relationships/image" Target="../media/image65.svg"/><Relationship Id="rId14" Type="http://schemas.openxmlformats.org/officeDocument/2006/relationships/image" Target="../media/image7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svg"/><Relationship Id="rId7" Type="http://schemas.openxmlformats.org/officeDocument/2006/relationships/image" Target="../media/image7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svg"/><Relationship Id="rId5" Type="http://schemas.openxmlformats.org/officeDocument/2006/relationships/image" Target="../media/image74.svg"/><Relationship Id="rId4" Type="http://schemas.openxmlformats.org/officeDocument/2006/relationships/image" Target="../media/image7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svg"/><Relationship Id="rId7" Type="http://schemas.openxmlformats.org/officeDocument/2006/relationships/image" Target="../media/image8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svg"/><Relationship Id="rId5" Type="http://schemas.openxmlformats.org/officeDocument/2006/relationships/image" Target="../media/image84.sv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13" Type="http://schemas.openxmlformats.org/officeDocument/2006/relationships/image" Target="../media/image100.svg"/><Relationship Id="rId3" Type="http://schemas.openxmlformats.org/officeDocument/2006/relationships/image" Target="../media/image90.png"/><Relationship Id="rId7" Type="http://schemas.openxmlformats.org/officeDocument/2006/relationships/image" Target="../media/image94.svg"/><Relationship Id="rId12" Type="http://schemas.openxmlformats.org/officeDocument/2006/relationships/image" Target="../media/image9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svg"/><Relationship Id="rId11" Type="http://schemas.openxmlformats.org/officeDocument/2006/relationships/image" Target="../media/image98.svg"/><Relationship Id="rId5" Type="http://schemas.openxmlformats.org/officeDocument/2006/relationships/image" Target="../media/image92.png"/><Relationship Id="rId10" Type="http://schemas.openxmlformats.org/officeDocument/2006/relationships/image" Target="../media/image97.svg"/><Relationship Id="rId4" Type="http://schemas.openxmlformats.org/officeDocument/2006/relationships/image" Target="../media/image91.png"/><Relationship Id="rId9" Type="http://schemas.openxmlformats.org/officeDocument/2006/relationships/image" Target="../media/image96.svg"/><Relationship Id="rId14" Type="http://schemas.openxmlformats.org/officeDocument/2006/relationships/image" Target="../media/image10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svg"/><Relationship Id="rId13" Type="http://schemas.openxmlformats.org/officeDocument/2006/relationships/image" Target="../media/image112.svg"/><Relationship Id="rId3" Type="http://schemas.openxmlformats.org/officeDocument/2006/relationships/image" Target="../media/image102.svg"/><Relationship Id="rId7" Type="http://schemas.openxmlformats.org/officeDocument/2006/relationships/image" Target="../media/image106.svg"/><Relationship Id="rId12" Type="http://schemas.openxmlformats.org/officeDocument/2006/relationships/image" Target="../media/image111.sv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svg"/><Relationship Id="rId11" Type="http://schemas.openxmlformats.org/officeDocument/2006/relationships/image" Target="../media/image110.svg"/><Relationship Id="rId5" Type="http://schemas.openxmlformats.org/officeDocument/2006/relationships/image" Target="../media/image104.svg"/><Relationship Id="rId15" Type="http://schemas.openxmlformats.org/officeDocument/2006/relationships/image" Target="../media/image114.svg"/><Relationship Id="rId10" Type="http://schemas.openxmlformats.org/officeDocument/2006/relationships/image" Target="../media/image109.svg"/><Relationship Id="rId4" Type="http://schemas.openxmlformats.org/officeDocument/2006/relationships/image" Target="../media/image103.svg"/><Relationship Id="rId9" Type="http://schemas.openxmlformats.org/officeDocument/2006/relationships/image" Target="../media/image108.svg"/><Relationship Id="rId14" Type="http://schemas.openxmlformats.org/officeDocument/2006/relationships/image" Target="../media/image1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svg"/><Relationship Id="rId3" Type="http://schemas.openxmlformats.org/officeDocument/2006/relationships/image" Target="../media/image116.svg"/><Relationship Id="rId7" Type="http://schemas.openxmlformats.org/officeDocument/2006/relationships/image" Target="../media/image12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svg"/><Relationship Id="rId5" Type="http://schemas.openxmlformats.org/officeDocument/2006/relationships/image" Target="../media/image118.svg"/><Relationship Id="rId4" Type="http://schemas.openxmlformats.org/officeDocument/2006/relationships/image" Target="../media/image1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svg"/><Relationship Id="rId7" Type="http://schemas.openxmlformats.org/officeDocument/2006/relationships/image" Target="../media/image12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svg"/><Relationship Id="rId5" Type="http://schemas.openxmlformats.org/officeDocument/2006/relationships/image" Target="../media/image124.svg"/><Relationship Id="rId4" Type="http://schemas.openxmlformats.org/officeDocument/2006/relationships/image" Target="../media/image1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7809" y="0"/>
            <a:ext cx="5001220" cy="4143970"/>
          </a:xfrm>
          <a:prstGeom prst="rect">
            <a:avLst/>
          </a:prstGeom>
          <a:gradFill rotWithShape="1">
            <a:gsLst>
              <a:gs pos="0">
                <a:srgbClr val="7C3AED">
                  <a:alpha val="22000"/>
                </a:srgbClr>
              </a:gs>
              <a:gs pos="40000">
                <a:srgbClr val="7C3AED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999780"/>
            <a:ext cx="3571280" cy="2143720"/>
          </a:xfrm>
          <a:prstGeom prst="rect">
            <a:avLst/>
          </a:prstGeom>
          <a:gradFill rotWithShape="1">
            <a:gsLst>
              <a:gs pos="0">
                <a:srgbClr val="7C3AED">
                  <a:alpha val="12000"/>
                </a:srgbClr>
              </a:gs>
              <a:gs pos="65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72220" y="628650"/>
            <a:ext cx="21580" cy="21580"/>
          </a:xfrm>
          <a:prstGeom prst="ellipse">
            <a:avLst/>
          </a:prstGeom>
          <a:solidFill>
            <a:srgbClr val="A855F7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43970" y="1143000"/>
            <a:ext cx="13841" cy="13841"/>
          </a:xfrm>
          <a:prstGeom prst="ellipse">
            <a:avLst/>
          </a:prstGeom>
          <a:solidFill>
            <a:srgbClr val="A855F7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900" y="2214860"/>
            <a:ext cx="29170" cy="29170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14860" y="3072110"/>
            <a:ext cx="13841" cy="13841"/>
          </a:xfrm>
          <a:prstGeom prst="ellipse">
            <a:avLst/>
          </a:prstGeom>
          <a:solidFill>
            <a:srgbClr val="A855F7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0720" y="4000500"/>
            <a:ext cx="21580" cy="21580"/>
          </a:xfrm>
          <a:prstGeom prst="ellipse">
            <a:avLst/>
          </a:prstGeom>
          <a:solidFill>
            <a:srgbClr val="A855F7">
              <a:alpha val="1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58720" y="1428750"/>
            <a:ext cx="35421" cy="35421"/>
          </a:xfrm>
          <a:prstGeom prst="ellipse">
            <a:avLst/>
          </a:prstGeom>
          <a:solidFill>
            <a:srgbClr val="A855F7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430220" y="3429000"/>
            <a:ext cx="21580" cy="21580"/>
          </a:xfrm>
          <a:prstGeom prst="ellipse">
            <a:avLst/>
          </a:prstGeom>
          <a:solidFill>
            <a:srgbClr val="A855F7">
              <a:alpha val="1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29970" y="4286250"/>
            <a:ext cx="13841" cy="13841"/>
          </a:xfrm>
          <a:prstGeom prst="ellipse">
            <a:avLst/>
          </a:prstGeom>
          <a:solidFill>
            <a:srgbClr val="A855F7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86970" y="714970"/>
            <a:ext cx="29170" cy="29170"/>
          </a:xfrm>
          <a:prstGeom prst="ellipse">
            <a:avLst/>
          </a:prstGeom>
          <a:solidFill>
            <a:srgbClr val="A855F7">
              <a:alpha val="1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571500"/>
            <a:ext cx="21580" cy="400050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7C3AED"/>
              </a:gs>
              <a:gs pos="60000">
                <a:srgbClr val="A855F7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alphaModFix amt="12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3410" y="342900"/>
            <a:ext cx="750540" cy="7505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1349722"/>
            <a:ext cx="1280220" cy="244376"/>
          </a:xfrm>
          <a:prstGeom prst="roundRect">
            <a:avLst>
              <a:gd name="adj" fmla="val 58725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66316" y="1443335"/>
            <a:ext cx="57150" cy="5715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94457" y="1402407"/>
            <a:ext cx="104251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685800" y="1794718"/>
            <a:ext cx="3294162" cy="1068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4007"/>
              </a:lnSpc>
              <a:spcAft>
                <a:spcPts val="450"/>
              </a:spcAft>
              <a:buNone/>
            </a:pPr>
            <a:r>
              <a:rPr lang="en-US" sz="3710" kern="0" spc="-74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</a:t>
            </a:r>
            <a:br/>
            <a:r>
              <a:rPr lang="en-US" sz="3710" kern="0" spc="-74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3710" b="1" kern="0" spc="-7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endParaRPr lang="en-US" sz="3710" dirty="0"/>
          </a:p>
        </p:txBody>
      </p:sp>
      <p:sp>
        <p:nvSpPr>
          <p:cNvPr id="21" name="Text 18"/>
          <p:cNvSpPr/>
          <p:nvPr/>
        </p:nvSpPr>
        <p:spPr>
          <a:xfrm>
            <a:off x="685800" y="2997696"/>
            <a:ext cx="3206115" cy="427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5"/>
              </a:lnSpc>
              <a:spcBef>
                <a:spcPts val="1010"/>
              </a:spcBef>
              <a:spcAft>
                <a:spcPts val="1800"/>
              </a:spcAft>
              <a:buNone/>
            </a:pPr>
            <a:r>
              <a:rPr lang="en-US" sz="107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Development,</a:t>
            </a:r>
            <a:br/>
            <a:r>
              <a:rPr lang="en-US" sz="107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in Your Terminal</a:t>
            </a:r>
            <a:endParaRPr lang="en-US" sz="1070" dirty="0"/>
          </a:p>
        </p:txBody>
      </p:sp>
      <p:sp>
        <p:nvSpPr>
          <p:cNvPr id="22" name="Text 19"/>
          <p:cNvSpPr/>
          <p:nvPr/>
        </p:nvSpPr>
        <p:spPr>
          <a:xfrm>
            <a:off x="685800" y="3708648"/>
            <a:ext cx="228600" cy="10120"/>
          </a:xfrm>
          <a:prstGeom prst="roundRect">
            <a:avLst>
              <a:gd name="adj" fmla="val 75296"/>
            </a:avLst>
          </a:prstGeom>
          <a:solidFill>
            <a:srgbClr val="A855F7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000720" y="3633788"/>
            <a:ext cx="2360712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switching contexts. Start shipping faster.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4729460" y="1157288"/>
            <a:ext cx="3714750" cy="2828925"/>
          </a:xfrm>
          <a:prstGeom prst="roundRect">
            <a:avLst>
              <a:gd name="adj" fmla="val 3053"/>
            </a:avLst>
          </a:prstGeom>
          <a:solidFill>
            <a:srgbClr val="0A0D12"/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738985" y="1166813"/>
            <a:ext cx="3695700" cy="311646"/>
          </a:xfrm>
          <a:prstGeom prst="rect">
            <a:avLst/>
          </a:prstGeom>
          <a:solidFill>
            <a:srgbClr val="1116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8985" y="1468934"/>
            <a:ext cx="3695700" cy="9525"/>
          </a:xfrm>
          <a:prstGeom prst="rect">
            <a:avLst/>
          </a:prstGeom>
          <a:solidFill>
            <a:srgbClr val="7C3AED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53285" y="1278434"/>
            <a:ext cx="78730" cy="78730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989165" y="1278434"/>
            <a:ext cx="78730" cy="78730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125045" y="1278434"/>
            <a:ext cx="78730" cy="78730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107952" y="1253133"/>
            <a:ext cx="336540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 — ~/projects/my-app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4882455" y="1621929"/>
            <a:ext cx="1069312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7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~/projects/my-app $</a:t>
            </a:r>
            <a:endParaRPr lang="en-US" sz="760" dirty="0"/>
          </a:p>
        </p:txBody>
      </p:sp>
      <p:sp>
        <p:nvSpPr>
          <p:cNvPr id="32" name="Text 29"/>
          <p:cNvSpPr/>
          <p:nvPr/>
        </p:nvSpPr>
        <p:spPr>
          <a:xfrm>
            <a:off x="5930801" y="1621929"/>
            <a:ext cx="2407622" cy="35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76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--yolo -p "find large files over 100MB"</a:t>
            </a:r>
            <a:endParaRPr lang="en-US" sz="760" dirty="0"/>
          </a:p>
        </p:txBody>
      </p:sp>
      <p:sp>
        <p:nvSpPr>
          <p:cNvPr id="33" name="Text 30"/>
          <p:cNvSpPr/>
          <p:nvPr/>
        </p:nvSpPr>
        <p:spPr>
          <a:xfrm>
            <a:off x="4882455" y="2056805"/>
            <a:ext cx="43160" cy="43160"/>
          </a:xfrm>
          <a:prstGeom prst="ellipse">
            <a:avLst/>
          </a:prstGeom>
          <a:solidFill>
            <a:srgbClr val="A855F7"/>
          </a:solidFill>
          <a:ln/>
          <a:effectLst>
            <a:outerShdw blurRad="4318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68776" y="2002929"/>
            <a:ext cx="1255499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68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is thinking...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4882455" y="2254151"/>
            <a:ext cx="3408759" cy="1311176"/>
          </a:xfrm>
          <a:prstGeom prst="roundRect">
            <a:avLst>
              <a:gd name="adj" fmla="val 3293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>
                <a:alpha val="2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006132" y="2334667"/>
            <a:ext cx="3492773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620" kern="0" spc="25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SUGGESTION</a:t>
            </a:r>
            <a:endParaRPr lang="en-US" sz="620" dirty="0"/>
          </a:p>
        </p:txBody>
      </p:sp>
      <p:sp>
        <p:nvSpPr>
          <p:cNvPr id="37" name="Text 34"/>
          <p:cNvSpPr/>
          <p:nvPr/>
        </p:nvSpPr>
        <p:spPr>
          <a:xfrm>
            <a:off x="4992291" y="2515493"/>
            <a:ext cx="3252871" cy="3406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7"/>
              </a:lnSpc>
              <a:buNone/>
            </a:pPr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find / -type f -size +100M 2&gt;/dev/null</a:t>
            </a:r>
            <a:br/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sort -rh | head -20</a:t>
            </a:r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730" dirty="0"/>
          </a:p>
        </p:txBody>
      </p:sp>
      <p:sp>
        <p:nvSpPr>
          <p:cNvPr id="38" name="Text 35"/>
          <p:cNvSpPr/>
          <p:nvPr/>
        </p:nvSpPr>
        <p:spPr>
          <a:xfrm>
            <a:off x="4992291" y="2926259"/>
            <a:ext cx="3252871" cy="27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Searches all directories for files larger</a:t>
            </a:r>
            <a:br/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than 100MB, sorted by size (largest first).</a:t>
            </a:r>
            <a:br/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4992291" y="3302645"/>
            <a:ext cx="456590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Execute?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5521672" y="3271540"/>
            <a:ext cx="479078" cy="219669"/>
          </a:xfrm>
          <a:prstGeom prst="roundRect">
            <a:avLst>
              <a:gd name="adj" fmla="val 13297"/>
            </a:avLst>
          </a:prstGeom>
          <a:solidFill>
            <a:srgbClr val="3FB950">
              <a:alpha val="15000"/>
            </a:srgbClr>
          </a:solidFill>
          <a:ln w="9525">
            <a:solidFill>
              <a:srgbClr val="3FB950"/>
            </a:solidFill>
          </a:ln>
        </p:spPr>
        <p:txBody>
          <a:bodyPr wrap="none" lIns="100330" tIns="21590" rIns="100330" bIns="2159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Yes</a:t>
            </a:r>
            <a:endParaRPr lang="en-US" sz="680" dirty="0"/>
          </a:p>
        </p:txBody>
      </p:sp>
      <p:sp>
        <p:nvSpPr>
          <p:cNvPr id="41" name="Text 38"/>
          <p:cNvSpPr/>
          <p:nvPr/>
        </p:nvSpPr>
        <p:spPr>
          <a:xfrm>
            <a:off x="6115050" y="3271540"/>
            <a:ext cx="427286" cy="219669"/>
          </a:xfrm>
          <a:prstGeom prst="roundRect">
            <a:avLst>
              <a:gd name="adj" fmla="val 13297"/>
            </a:avLst>
          </a:prstGeom>
          <a:solidFill>
            <a:srgbClr val="8B949E">
              <a:alpha val="8000"/>
            </a:srgbClr>
          </a:solidFill>
          <a:ln w="9525">
            <a:solidFill>
              <a:srgbClr val="8B949E">
                <a:alpha val="40000"/>
              </a:srgbClr>
            </a:solidFill>
          </a:ln>
        </p:spPr>
        <p:txBody>
          <a:bodyPr wrap="none" lIns="100330" tIns="21590" rIns="100330" bIns="2159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</a:t>
            </a:r>
            <a:endParaRPr lang="en-US" sz="680" dirty="0"/>
          </a:p>
        </p:txBody>
      </p:sp>
      <p:sp>
        <p:nvSpPr>
          <p:cNvPr id="42" name="Text 39"/>
          <p:cNvSpPr/>
          <p:nvPr/>
        </p:nvSpPr>
        <p:spPr>
          <a:xfrm>
            <a:off x="4882455" y="3636318"/>
            <a:ext cx="1276782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30"/>
              </a:lnSpc>
              <a:buNone/>
            </a:pPr>
            <a:r>
              <a:rPr lang="en-US" sz="76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~/projects/my-app $</a:t>
            </a:r>
            <a:endParaRPr lang="en-US" sz="760" dirty="0"/>
          </a:p>
        </p:txBody>
      </p:sp>
      <p:sp>
        <p:nvSpPr>
          <p:cNvPr id="43" name="Text 40"/>
          <p:cNvSpPr/>
          <p:nvPr/>
        </p:nvSpPr>
        <p:spPr>
          <a:xfrm>
            <a:off x="6057007" y="3636318"/>
            <a:ext cx="57150" cy="100310"/>
          </a:xfrm>
          <a:prstGeom prst="rect">
            <a:avLst/>
          </a:prstGeom>
          <a:solidFill>
            <a:srgbClr val="A855F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solidFill>
            <a:srgbClr val="161B22">
              <a:alpha val="8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77" y="4895933"/>
            <a:ext cx="132588" cy="13258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624334" y="4892725"/>
            <a:ext cx="67072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58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730" dirty="0"/>
          </a:p>
        </p:txBody>
      </p:sp>
      <p:sp>
        <p:nvSpPr>
          <p:cNvPr id="48" name="Text 44"/>
          <p:cNvSpPr/>
          <p:nvPr/>
        </p:nvSpPr>
        <p:spPr>
          <a:xfrm>
            <a:off x="1305074" y="4905077"/>
            <a:ext cx="7590" cy="114300"/>
          </a:xfrm>
          <a:prstGeom prst="rect">
            <a:avLst/>
          </a:prstGeom>
          <a:solidFill>
            <a:srgbClr val="8B949E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1383655" y="4892725"/>
            <a:ext cx="2511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44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30" dirty="0"/>
          </a:p>
        </p:txBody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2682" y="4895859"/>
            <a:ext cx="132588" cy="132588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7249716" y="4897487"/>
            <a:ext cx="158079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GitHub Copilot &amp; OpenAI</a:t>
            </a:r>
            <a:endParaRPr lang="en-US" sz="680" dirty="0"/>
          </a:p>
        </p:txBody>
      </p:sp>
      <p:sp>
        <p:nvSpPr>
          <p:cNvPr id="52" name="Text 47"/>
          <p:cNvSpPr/>
          <p:nvPr/>
        </p:nvSpPr>
        <p:spPr>
          <a:xfrm>
            <a:off x="0" y="0"/>
            <a:ext cx="914400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7C3AED"/>
              </a:gs>
              <a:gs pos="6000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4C1D95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030" y="0"/>
            <a:ext cx="5286970" cy="38570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56780"/>
            <a:ext cx="5286970" cy="3286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6250" y="1235422"/>
            <a:ext cx="4314825" cy="628353"/>
          </a:xfrm>
          <a:prstGeom prst="roundRect">
            <a:avLst>
              <a:gd name="adj" fmla="val 11318"/>
            </a:avLst>
          </a:prstGeom>
          <a:gradFill rotWithShape="1">
            <a:gsLst>
              <a:gs pos="0">
                <a:srgbClr val="7C3AED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476250" y="1975396"/>
            <a:ext cx="4314825" cy="628353"/>
          </a:xfrm>
          <a:prstGeom prst="roundRect">
            <a:avLst>
              <a:gd name="adj" fmla="val 11318"/>
            </a:avLst>
          </a:prstGeom>
          <a:gradFill rotWithShape="1">
            <a:gsLst>
              <a:gs pos="0">
                <a:srgbClr val="7C3AED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76250" y="2715369"/>
            <a:ext cx="4314825" cy="628353"/>
          </a:xfrm>
          <a:prstGeom prst="roundRect">
            <a:avLst>
              <a:gd name="adj" fmla="val 11318"/>
            </a:avLst>
          </a:prstGeom>
          <a:gradFill rotWithShape="1">
            <a:gsLst>
              <a:gs pos="0">
                <a:srgbClr val="7C3AED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76250" y="3455343"/>
            <a:ext cx="4314825" cy="628353"/>
          </a:xfrm>
          <a:prstGeom prst="roundRect">
            <a:avLst>
              <a:gd name="adj" fmla="val 11318"/>
            </a:avLst>
          </a:prstGeom>
          <a:gradFill rotWithShape="1">
            <a:gsLst>
              <a:gs pos="0">
                <a:srgbClr val="7C3AED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200" y="372070"/>
            <a:ext cx="477774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102" dirty="0">
                <a:solidFill>
                  <a:srgbClr val="A78BFA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◈  DEFINING THE TOOL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457200" y="572542"/>
            <a:ext cx="4647438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14"/>
              </a:lnSpc>
              <a:buNone/>
            </a:pPr>
            <a:r>
              <a:rPr lang="en-US" sz="236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</a:t>
            </a:r>
            <a:r>
              <a:rPr lang="en-US" sz="2360" b="1" kern="0" spc="-3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CLI?</a:t>
            </a:r>
            <a:endParaRPr lang="en-US" sz="2360" dirty="0"/>
          </a:p>
        </p:txBody>
      </p:sp>
      <p:sp>
        <p:nvSpPr>
          <p:cNvPr id="13" name="Text 9"/>
          <p:cNvSpPr/>
          <p:nvPr/>
        </p:nvSpPr>
        <p:spPr>
          <a:xfrm>
            <a:off x="457200" y="1003548"/>
            <a:ext cx="40005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57200" y="1225897"/>
            <a:ext cx="4343400" cy="647402"/>
          </a:xfrm>
          <a:prstGeom prst="roundRect">
            <a:avLst>
              <a:gd name="adj" fmla="val 1098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57200" y="1225897"/>
            <a:ext cx="19050" cy="647402"/>
          </a:xfrm>
          <a:custGeom>
            <a:avLst/>
            <a:gdLst/>
            <a:ahLst/>
            <a:cxnLst/>
            <a:rect l="l" t="t" r="r" b="b"/>
            <a:pathLst>
              <a:path w="19050" h="6474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24726"/>
                </a:lnTo>
                <a:lnTo>
                  <a:pt x="16669" y="622033"/>
                </a:lnTo>
                <a:lnTo>
                  <a:pt x="14288" y="619039"/>
                </a:lnTo>
                <a:lnTo>
                  <a:pt x="11906" y="615675"/>
                </a:lnTo>
                <a:lnTo>
                  <a:pt x="9525" y="611837"/>
                </a:lnTo>
                <a:lnTo>
                  <a:pt x="7144" y="607348"/>
                </a:lnTo>
                <a:lnTo>
                  <a:pt x="4763" y="601870"/>
                </a:lnTo>
                <a:lnTo>
                  <a:pt x="2381" y="594532"/>
                </a:lnTo>
                <a:lnTo>
                  <a:pt x="0" y="576282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19720" y="136356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253" y="1480096"/>
            <a:ext cx="139005" cy="1390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9932" y="1384250"/>
            <a:ext cx="292338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that lives in your terminal</a:t>
            </a:r>
            <a:endParaRPr lang="en-US" sz="1070" dirty="0"/>
          </a:p>
        </p:txBody>
      </p:sp>
      <p:sp>
        <p:nvSpPr>
          <p:cNvPr id="19" name="Text 14"/>
          <p:cNvSpPr/>
          <p:nvPr/>
        </p:nvSpPr>
        <p:spPr>
          <a:xfrm>
            <a:off x="1119932" y="1574602"/>
            <a:ext cx="2923386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 required — works directly in your shell environment</a:t>
            </a:r>
            <a:endParaRPr lang="en-US" sz="790" dirty="0"/>
          </a:p>
        </p:txBody>
      </p:sp>
      <p:sp>
        <p:nvSpPr>
          <p:cNvPr id="20" name="Text 15"/>
          <p:cNvSpPr/>
          <p:nvPr/>
        </p:nvSpPr>
        <p:spPr>
          <a:xfrm>
            <a:off x="4580334" y="1306413"/>
            <a:ext cx="1214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20" dirty="0"/>
          </a:p>
        </p:txBody>
      </p:sp>
      <p:sp>
        <p:nvSpPr>
          <p:cNvPr id="21" name="Text 16"/>
          <p:cNvSpPr/>
          <p:nvPr/>
        </p:nvSpPr>
        <p:spPr>
          <a:xfrm>
            <a:off x="457200" y="1965871"/>
            <a:ext cx="4343400" cy="647402"/>
          </a:xfrm>
          <a:prstGeom prst="roundRect">
            <a:avLst>
              <a:gd name="adj" fmla="val 1098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57200" y="1965871"/>
            <a:ext cx="19050" cy="647402"/>
          </a:xfrm>
          <a:custGeom>
            <a:avLst/>
            <a:gdLst/>
            <a:ahLst/>
            <a:cxnLst/>
            <a:rect l="l" t="t" r="r" b="b"/>
            <a:pathLst>
              <a:path w="19050" h="6474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24726"/>
                </a:lnTo>
                <a:lnTo>
                  <a:pt x="16669" y="622033"/>
                </a:lnTo>
                <a:lnTo>
                  <a:pt x="14288" y="619039"/>
                </a:lnTo>
                <a:lnTo>
                  <a:pt x="11906" y="615675"/>
                </a:lnTo>
                <a:lnTo>
                  <a:pt x="9525" y="611837"/>
                </a:lnTo>
                <a:lnTo>
                  <a:pt x="7144" y="607348"/>
                </a:lnTo>
                <a:lnTo>
                  <a:pt x="4763" y="601870"/>
                </a:lnTo>
                <a:lnTo>
                  <a:pt x="2381" y="594532"/>
                </a:lnTo>
                <a:lnTo>
                  <a:pt x="0" y="576282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19720" y="210353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253" y="2220069"/>
            <a:ext cx="139005" cy="13900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9932" y="2124224"/>
            <a:ext cx="297855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language commands</a:t>
            </a:r>
            <a:endParaRPr lang="en-US" sz="1070" dirty="0"/>
          </a:p>
        </p:txBody>
      </p:sp>
      <p:sp>
        <p:nvSpPr>
          <p:cNvPr id="26" name="Text 20"/>
          <p:cNvSpPr/>
          <p:nvPr/>
        </p:nvSpPr>
        <p:spPr>
          <a:xfrm>
            <a:off x="1119932" y="2314575"/>
            <a:ext cx="297855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plain English — no memorizing syntax</a:t>
            </a:r>
            <a:endParaRPr lang="en-US" sz="790" dirty="0"/>
          </a:p>
        </p:txBody>
      </p:sp>
      <p:sp>
        <p:nvSpPr>
          <p:cNvPr id="27" name="Text 21"/>
          <p:cNvSpPr/>
          <p:nvPr/>
        </p:nvSpPr>
        <p:spPr>
          <a:xfrm>
            <a:off x="4580334" y="2046387"/>
            <a:ext cx="1214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20" dirty="0"/>
          </a:p>
        </p:txBody>
      </p:sp>
      <p:sp>
        <p:nvSpPr>
          <p:cNvPr id="28" name="Text 22"/>
          <p:cNvSpPr/>
          <p:nvPr/>
        </p:nvSpPr>
        <p:spPr>
          <a:xfrm>
            <a:off x="457200" y="2705844"/>
            <a:ext cx="4343400" cy="647402"/>
          </a:xfrm>
          <a:prstGeom prst="roundRect">
            <a:avLst>
              <a:gd name="adj" fmla="val 1098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57200" y="2705844"/>
            <a:ext cx="19050" cy="647402"/>
          </a:xfrm>
          <a:custGeom>
            <a:avLst/>
            <a:gdLst/>
            <a:ahLst/>
            <a:cxnLst/>
            <a:rect l="l" t="t" r="r" b="b"/>
            <a:pathLst>
              <a:path w="19050" h="6474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24726"/>
                </a:lnTo>
                <a:lnTo>
                  <a:pt x="16669" y="622033"/>
                </a:lnTo>
                <a:lnTo>
                  <a:pt x="14288" y="619039"/>
                </a:lnTo>
                <a:lnTo>
                  <a:pt x="11906" y="615675"/>
                </a:lnTo>
                <a:lnTo>
                  <a:pt x="9525" y="611837"/>
                </a:lnTo>
                <a:lnTo>
                  <a:pt x="7144" y="607348"/>
                </a:lnTo>
                <a:lnTo>
                  <a:pt x="4763" y="601870"/>
                </a:lnTo>
                <a:lnTo>
                  <a:pt x="2381" y="594532"/>
                </a:lnTo>
                <a:lnTo>
                  <a:pt x="0" y="576282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619720" y="2843510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253" y="2960043"/>
            <a:ext cx="139005" cy="13900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19932" y="2864197"/>
            <a:ext cx="365140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Generates, explains, and executes shell commands</a:t>
            </a:r>
            <a:endParaRPr lang="en-US" sz="1070" dirty="0"/>
          </a:p>
        </p:txBody>
      </p:sp>
      <p:sp>
        <p:nvSpPr>
          <p:cNvPr id="33" name="Text 26"/>
          <p:cNvSpPr/>
          <p:nvPr/>
        </p:nvSpPr>
        <p:spPr>
          <a:xfrm>
            <a:off x="1119932" y="3054548"/>
            <a:ext cx="3651409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suggestion to execution — with a confirmation gate</a:t>
            </a:r>
            <a:endParaRPr lang="en-US" sz="790" dirty="0"/>
          </a:p>
        </p:txBody>
      </p:sp>
      <p:sp>
        <p:nvSpPr>
          <p:cNvPr id="34" name="Text 27"/>
          <p:cNvSpPr/>
          <p:nvPr/>
        </p:nvSpPr>
        <p:spPr>
          <a:xfrm>
            <a:off x="4580334" y="2786360"/>
            <a:ext cx="1214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20" dirty="0"/>
          </a:p>
        </p:txBody>
      </p:sp>
      <p:sp>
        <p:nvSpPr>
          <p:cNvPr id="35" name="Text 28"/>
          <p:cNvSpPr/>
          <p:nvPr/>
        </p:nvSpPr>
        <p:spPr>
          <a:xfrm>
            <a:off x="457200" y="3445818"/>
            <a:ext cx="4343400" cy="647402"/>
          </a:xfrm>
          <a:prstGeom prst="roundRect">
            <a:avLst>
              <a:gd name="adj" fmla="val 10985"/>
            </a:avLst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457200" y="3445818"/>
            <a:ext cx="19050" cy="647402"/>
          </a:xfrm>
          <a:custGeom>
            <a:avLst/>
            <a:gdLst/>
            <a:ahLst/>
            <a:cxnLst/>
            <a:rect l="l" t="t" r="r" b="b"/>
            <a:pathLst>
              <a:path w="19050" h="647402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24726"/>
                </a:lnTo>
                <a:lnTo>
                  <a:pt x="16669" y="622033"/>
                </a:lnTo>
                <a:lnTo>
                  <a:pt x="14288" y="619039"/>
                </a:lnTo>
                <a:lnTo>
                  <a:pt x="11906" y="615675"/>
                </a:lnTo>
                <a:lnTo>
                  <a:pt x="9525" y="611837"/>
                </a:lnTo>
                <a:lnTo>
                  <a:pt x="7144" y="607348"/>
                </a:lnTo>
                <a:lnTo>
                  <a:pt x="4763" y="601870"/>
                </a:lnTo>
                <a:lnTo>
                  <a:pt x="2381" y="594532"/>
                </a:lnTo>
                <a:lnTo>
                  <a:pt x="0" y="576282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619720" y="3583484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253" y="3700016"/>
            <a:ext cx="139005" cy="13900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119932" y="3604171"/>
            <a:ext cx="278046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1"/>
              </a:lnSpc>
              <a:buNone/>
            </a:pPr>
            <a:r>
              <a:rPr lang="en-US" sz="107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GitHub Copilot ecosystem</a:t>
            </a:r>
            <a:endParaRPr lang="en-US" sz="1070" dirty="0"/>
          </a:p>
        </p:txBody>
      </p:sp>
      <p:sp>
        <p:nvSpPr>
          <p:cNvPr id="40" name="Text 32"/>
          <p:cNvSpPr/>
          <p:nvPr/>
        </p:nvSpPr>
        <p:spPr>
          <a:xfrm>
            <a:off x="1119932" y="3794522"/>
            <a:ext cx="2780467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Copilot beyond the IDE into your entire workflow</a:t>
            </a:r>
            <a:endParaRPr lang="en-US" sz="790" dirty="0"/>
          </a:p>
        </p:txBody>
      </p:sp>
      <p:sp>
        <p:nvSpPr>
          <p:cNvPr id="41" name="Text 33"/>
          <p:cNvSpPr/>
          <p:nvPr/>
        </p:nvSpPr>
        <p:spPr>
          <a:xfrm>
            <a:off x="4580334" y="3526334"/>
            <a:ext cx="1214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20" dirty="0"/>
          </a:p>
        </p:txBody>
      </p:sp>
      <p:sp>
        <p:nvSpPr>
          <p:cNvPr id="42" name="Text 34"/>
          <p:cNvSpPr/>
          <p:nvPr/>
        </p:nvSpPr>
        <p:spPr>
          <a:xfrm>
            <a:off x="457200" y="4266009"/>
            <a:ext cx="4343400" cy="562570"/>
          </a:xfrm>
          <a:prstGeom prst="roundRect">
            <a:avLst>
              <a:gd name="adj" fmla="val 12642"/>
            </a:avLst>
          </a:prstGeom>
          <a:gradFill rotWithShape="1">
            <a:gsLst>
              <a:gs pos="0">
                <a:srgbClr val="7C3AED">
                  <a:alpha val="18000"/>
                </a:srgbClr>
              </a:gs>
              <a:gs pos="100000">
                <a:srgbClr val="4C1D95">
                  <a:alpha val="12000"/>
                </a:srgbClr>
              </a:gs>
            </a:gsLst>
            <a:lin ang="2700000" scaled="1"/>
          </a:gra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185" y="4488210"/>
            <a:ext cx="157460" cy="118021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881955" y="4375845"/>
            <a:ext cx="3826693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more tab-switching between IDE and browser — your AI pair programmer is now in the CLI."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5314950" y="669280"/>
            <a:ext cx="1238271" cy="228898"/>
          </a:xfrm>
          <a:prstGeom prst="roundRect">
            <a:avLst>
              <a:gd name="adj" fmla="val 62696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200025" tIns="35560" rIns="100330" bIns="3556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CLI</a:t>
            </a:r>
            <a:endParaRPr lang="en-US" sz="73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58194" y="717435"/>
            <a:ext cx="132588" cy="13258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599932" y="724644"/>
            <a:ext cx="10929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v2.x  ·  gh extension</a:t>
            </a:r>
            <a:endParaRPr lang="en-US" sz="620" dirty="0"/>
          </a:p>
        </p:txBody>
      </p:sp>
      <p:sp>
        <p:nvSpPr>
          <p:cNvPr id="48" name="Text 38"/>
          <p:cNvSpPr/>
          <p:nvPr/>
        </p:nvSpPr>
        <p:spPr>
          <a:xfrm>
            <a:off x="5314950" y="1041648"/>
            <a:ext cx="3429000" cy="2079129"/>
          </a:xfrm>
          <a:prstGeom prst="roundRect">
            <a:avLst>
              <a:gd name="adj" fmla="val 3421"/>
            </a:avLst>
          </a:prstGeom>
          <a:solidFill>
            <a:srgbClr val="0D1117"/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9"/>
          <p:cNvSpPr/>
          <p:nvPr/>
        </p:nvSpPr>
        <p:spPr>
          <a:xfrm>
            <a:off x="5467945" y="1383655"/>
            <a:ext cx="3123009" cy="9525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5467945" y="1202829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1"/>
          <p:cNvSpPr/>
          <p:nvPr/>
        </p:nvSpPr>
        <p:spPr>
          <a:xfrm>
            <a:off x="5596086" y="1202829"/>
            <a:ext cx="70991" cy="70991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2"/>
          <p:cNvSpPr/>
          <p:nvPr/>
        </p:nvSpPr>
        <p:spPr>
          <a:xfrm>
            <a:off x="5724227" y="1202829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5881539" y="1179314"/>
            <a:ext cx="109293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bash  —  gh copilot</a:t>
            </a:r>
            <a:endParaRPr lang="en-US" sz="620" dirty="0"/>
          </a:p>
        </p:txBody>
      </p:sp>
      <p:sp>
        <p:nvSpPr>
          <p:cNvPr id="54" name="Text 44"/>
          <p:cNvSpPr/>
          <p:nvPr/>
        </p:nvSpPr>
        <p:spPr>
          <a:xfrm>
            <a:off x="5467945" y="1507480"/>
            <a:ext cx="3435310" cy="1668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73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</a:t>
            </a:r>
            <a:r>
              <a:rPr lang="en-US" sz="73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large files over 100MB"</a:t>
            </a:r>
            <a:endParaRPr lang="en-US" sz="730" dirty="0"/>
          </a:p>
        </p:txBody>
      </p:sp>
      <p:sp>
        <p:nvSpPr>
          <p:cNvPr id="55" name="Text 45"/>
          <p:cNvSpPr/>
          <p:nvPr/>
        </p:nvSpPr>
        <p:spPr>
          <a:xfrm>
            <a:off x="5467945" y="1717477"/>
            <a:ext cx="34353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✦ Copilot suggests:</a:t>
            </a:r>
            <a:endParaRPr lang="en-US" sz="730" dirty="0"/>
          </a:p>
        </p:txBody>
      </p:sp>
      <p:sp>
        <p:nvSpPr>
          <p:cNvPr id="56" name="Text 46"/>
          <p:cNvSpPr/>
          <p:nvPr/>
        </p:nvSpPr>
        <p:spPr>
          <a:xfrm>
            <a:off x="5568255" y="1872853"/>
            <a:ext cx="3324969" cy="166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73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-type f -size +100M</a:t>
            </a:r>
            <a:endParaRPr lang="en-US" sz="730" dirty="0"/>
          </a:p>
        </p:txBody>
      </p:sp>
      <p:sp>
        <p:nvSpPr>
          <p:cNvPr id="57" name="Text 47"/>
          <p:cNvSpPr/>
          <p:nvPr/>
        </p:nvSpPr>
        <p:spPr>
          <a:xfrm>
            <a:off x="5467945" y="2096839"/>
            <a:ext cx="34353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</a:t>
            </a:r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 this command? </a:t>
            </a:r>
            <a:r>
              <a:rPr lang="en-US" sz="73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[Y/n]</a:t>
            </a:r>
            <a:endParaRPr lang="en-US" sz="730" dirty="0"/>
          </a:p>
        </p:txBody>
      </p:sp>
      <p:sp>
        <p:nvSpPr>
          <p:cNvPr id="58" name="Text 48"/>
          <p:cNvSpPr/>
          <p:nvPr/>
        </p:nvSpPr>
        <p:spPr>
          <a:xfrm>
            <a:off x="5467945" y="2352526"/>
            <a:ext cx="3123009" cy="9525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9"/>
          <p:cNvSpPr/>
          <p:nvPr/>
        </p:nvSpPr>
        <p:spPr>
          <a:xfrm>
            <a:off x="5467945" y="2462361"/>
            <a:ext cx="3435310" cy="1668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730" dirty="0">
                <a:solidFill>
                  <a:srgbClr val="28C8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</a:t>
            </a:r>
            <a:r>
              <a:rPr lang="en-US" sz="73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explain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"awk '{print $2}' log.txt"</a:t>
            </a:r>
            <a:endParaRPr lang="en-US" sz="730" dirty="0"/>
          </a:p>
        </p:txBody>
      </p:sp>
      <p:sp>
        <p:nvSpPr>
          <p:cNvPr id="60" name="Text 50"/>
          <p:cNvSpPr/>
          <p:nvPr/>
        </p:nvSpPr>
        <p:spPr>
          <a:xfrm>
            <a:off x="5467945" y="2672358"/>
            <a:ext cx="34353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14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✦ Prints the 2nd column of each line in log.txt</a:t>
            </a:r>
            <a:endParaRPr lang="en-US" sz="730" dirty="0"/>
          </a:p>
        </p:txBody>
      </p:sp>
      <p:sp>
        <p:nvSpPr>
          <p:cNvPr id="61" name="Text 51"/>
          <p:cNvSpPr/>
          <p:nvPr/>
        </p:nvSpPr>
        <p:spPr>
          <a:xfrm>
            <a:off x="5582245" y="2827734"/>
            <a:ext cx="33095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4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space as the default field separator.</a:t>
            </a:r>
            <a:endParaRPr lang="en-US" sz="680" dirty="0"/>
          </a:p>
        </p:txBody>
      </p:sp>
      <p:sp>
        <p:nvSpPr>
          <p:cNvPr id="62" name="Text 52"/>
          <p:cNvSpPr/>
          <p:nvPr/>
        </p:nvSpPr>
        <p:spPr>
          <a:xfrm>
            <a:off x="5314950" y="3264247"/>
            <a:ext cx="1106504" cy="244376"/>
          </a:xfrm>
          <a:prstGeom prst="roundRect">
            <a:avLst>
              <a:gd name="adj" fmla="val 58725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none" lIns="219362" tIns="43180" rIns="100330" bIns="4318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copilot suggest</a:t>
            </a:r>
            <a:endParaRPr lang="en-US" sz="73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93243" y="3320067"/>
            <a:ext cx="132588" cy="132588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470749" y="3264247"/>
            <a:ext cx="1075081" cy="244376"/>
          </a:xfrm>
          <a:prstGeom prst="roundRect">
            <a:avLst>
              <a:gd name="adj" fmla="val 58725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none" lIns="219362" tIns="43180" rIns="100330" bIns="4318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copilot explain</a:t>
            </a:r>
            <a:endParaRPr lang="en-US" sz="730" dirty="0"/>
          </a:p>
        </p:txBody>
      </p:sp>
      <p:pic>
        <p:nvPicPr>
          <p:cNvPr id="6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49042" y="3320067"/>
            <a:ext cx="132588" cy="132588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7595741" y="3264247"/>
            <a:ext cx="838873" cy="244376"/>
          </a:xfrm>
          <a:prstGeom prst="roundRect">
            <a:avLst>
              <a:gd name="adj" fmla="val 58725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none" lIns="219362" tIns="43180" rIns="100330" bIns="4318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Shell-native</a:t>
            </a:r>
            <a:endParaRPr lang="en-US" sz="730" dirty="0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74034" y="3320067"/>
            <a:ext cx="132588" cy="132588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5314950" y="3579614"/>
            <a:ext cx="1090717" cy="244376"/>
          </a:xfrm>
          <a:prstGeom prst="roundRect">
            <a:avLst>
              <a:gd name="adj" fmla="val 58725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none" lIns="219362" tIns="43180" rIns="100330" bIns="4318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gate</a:t>
            </a:r>
            <a:endParaRPr lang="en-US" sz="730" dirty="0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393243" y="3635434"/>
            <a:ext cx="132588" cy="132588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5314950" y="3981450"/>
            <a:ext cx="3429000" cy="549771"/>
          </a:xfrm>
          <a:prstGeom prst="roundRect">
            <a:avLst>
              <a:gd name="adj" fmla="val 10395"/>
            </a:avLst>
          </a:prstGeom>
          <a:solidFill>
            <a:srgbClr val="161B22">
              <a:alpha val="90000"/>
            </a:srgbClr>
          </a:solidFill>
          <a:ln w="9525">
            <a:solidFill>
              <a:srgbClr val="7C3AED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14488" y="4190042"/>
            <a:ext cx="176716" cy="132588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5653236" y="4077295"/>
            <a:ext cx="3026226" cy="37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ecosystem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works alongside Copilot for IDE, Chat &amp; PRs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785515"/>
            <a:ext cx="3143250" cy="3572470"/>
          </a:xfrm>
          <a:prstGeom prst="rect">
            <a:avLst/>
          </a:prstGeom>
          <a:gradFill rotWithShape="1">
            <a:gsLst>
              <a:gs pos="0">
                <a:srgbClr val="F85149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00750" y="785515"/>
            <a:ext cx="3143250" cy="3572470"/>
          </a:xfrm>
          <a:prstGeom prst="rect">
            <a:avLst/>
          </a:prstGeom>
          <a:gradFill rotWithShape="1">
            <a:gsLst>
              <a:gs pos="0">
                <a:srgbClr val="7C3AED">
                  <a:alpha val="1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57625" y="428625"/>
            <a:ext cx="1428750" cy="4286250"/>
          </a:xfrm>
          <a:prstGeom prst="rect">
            <a:avLst/>
          </a:prstGeom>
          <a:gradFill rotWithShape="1">
            <a:gsLst>
              <a:gs pos="0">
                <a:srgbClr val="7C3AED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77170" y="4727674"/>
            <a:ext cx="4273454" cy="244376"/>
          </a:xfrm>
          <a:prstGeom prst="roundRect">
            <a:avLst>
              <a:gd name="adj" fmla="val 58725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none" lIns="157480" tIns="43180" rIns="157480" bIns="4318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</a:t>
            </a:r>
            <a:r>
              <a:rPr lang="en-US" sz="730" kern="0" spc="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eliminates context-switching — your AI pair programmer lives in the terminal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342900" y="279053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85149">
              <a:alpha val="12000"/>
            </a:srgbClr>
          </a:solidFill>
          <a:ln w="9525">
            <a:solidFill>
              <a:srgbClr val="F8514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407" y="355559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2950" y="228600"/>
            <a:ext cx="3994688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045"/>
              </a:lnSpc>
              <a:buNone/>
            </a:pPr>
            <a:r>
              <a:rPr lang="en-US" sz="2030" kern="0" spc="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</a:t>
            </a:r>
            <a:r>
              <a:rPr lang="en-US" sz="2030" kern="0" spc="3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Context-Switching</a:t>
            </a:r>
            <a:r>
              <a:rPr lang="en-US" sz="2030" kern="0" spc="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Problem</a:t>
            </a:r>
            <a:endParaRPr lang="en-US" sz="2030" dirty="0"/>
          </a:p>
        </p:txBody>
      </p:sp>
      <p:sp>
        <p:nvSpPr>
          <p:cNvPr id="11" name="Text 8"/>
          <p:cNvSpPr/>
          <p:nvPr/>
        </p:nvSpPr>
        <p:spPr>
          <a:xfrm>
            <a:off x="7180659" y="318492"/>
            <a:ext cx="1652849" cy="206871"/>
          </a:xfrm>
          <a:prstGeom prst="roundRect">
            <a:avLst>
              <a:gd name="adj" fmla="val 55252"/>
            </a:avLst>
          </a:prstGeom>
          <a:solidFill>
            <a:srgbClr val="F85149">
              <a:alpha val="10000"/>
            </a:srgbClr>
          </a:solidFill>
          <a:ln w="9525">
            <a:solidFill>
              <a:srgbClr val="F85149">
                <a:alpha val="25000"/>
              </a:srgbClr>
            </a:solidFill>
          </a:ln>
        </p:spPr>
        <p:txBody>
          <a:bodyPr wrap="none" lIns="196790" tIns="29210" rIns="100330" bIns="29210" rtlCol="0" anchor="ctr"/>
          <a:lstStyle/>
          <a:p>
            <a:pPr marL="0" indent="0" algn="l">
              <a:buNone/>
            </a:pPr>
            <a:r>
              <a:rPr lang="en-US" sz="680" b="1" kern="0" spc="6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FLOW KILLER</a:t>
            </a:r>
            <a:endParaRPr lang="en-US" sz="68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0841" y="355634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" y="758726"/>
            <a:ext cx="4143375" cy="3927574"/>
          </a:xfrm>
          <a:prstGeom prst="roundRect">
            <a:avLst>
              <a:gd name="adj" fmla="val 2199"/>
            </a:avLst>
          </a:prstGeom>
          <a:gradFill rotWithShape="1">
            <a:gsLst>
              <a:gs pos="0">
                <a:srgbClr val="1C1010"/>
              </a:gs>
              <a:gs pos="60000">
                <a:srgbClr val="161B22"/>
              </a:gs>
              <a:gs pos="100000">
                <a:srgbClr val="161B22"/>
              </a:gs>
            </a:gsLst>
            <a:lin ang="4200000" scaled="1"/>
          </a:gradFill>
          <a:ln w="9525">
            <a:solidFill>
              <a:srgbClr val="F85149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380905" y="4446984"/>
            <a:ext cx="9525" cy="143470"/>
          </a:xfrm>
          <a:prstGeom prst="rect">
            <a:avLst/>
          </a:prstGeom>
          <a:solidFill>
            <a:srgbClr val="F85149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53045" y="968871"/>
            <a:ext cx="3723084" cy="313432"/>
          </a:xfrm>
          <a:prstGeom prst="roundRect">
            <a:avLst>
              <a:gd name="adj" fmla="val 9319"/>
            </a:avLst>
          </a:prstGeom>
          <a:gradFill rotWithShape="1">
            <a:gsLst>
              <a:gs pos="0">
                <a:srgbClr val="F85149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53045" y="968871"/>
            <a:ext cx="19050" cy="313432"/>
          </a:xfrm>
          <a:custGeom>
            <a:avLst/>
            <a:gdLst/>
            <a:ahLst/>
            <a:cxnLst/>
            <a:rect l="l" t="t" r="r" b="b"/>
            <a:pathLst>
              <a:path w="19050" h="313432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311608"/>
                </a:lnTo>
                <a:lnTo>
                  <a:pt x="16669" y="310603"/>
                </a:lnTo>
                <a:lnTo>
                  <a:pt x="14288" y="309333"/>
                </a:lnTo>
                <a:lnTo>
                  <a:pt x="11906" y="307755"/>
                </a:lnTo>
                <a:lnTo>
                  <a:pt x="9525" y="305803"/>
                </a:lnTo>
                <a:lnTo>
                  <a:pt x="7144" y="303361"/>
                </a:lnTo>
                <a:lnTo>
                  <a:pt x="4763" y="300208"/>
                </a:lnTo>
                <a:lnTo>
                  <a:pt x="2381" y="295774"/>
                </a:lnTo>
                <a:lnTo>
                  <a:pt x="0" y="284222"/>
                </a:lnTo>
                <a:close/>
              </a:path>
            </a:pathLst>
          </a:custGeom>
          <a:solidFill>
            <a:srgbClr val="F85149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173" y="1059293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529" y="1039862"/>
            <a:ext cx="16302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COPILOT CLI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53045" y="1439763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48891" y="1578620"/>
            <a:ext cx="57150" cy="57150"/>
          </a:xfrm>
          <a:prstGeom prst="ellipse">
            <a:avLst/>
          </a:prstGeom>
          <a:solidFill>
            <a:srgbClr val="F85149"/>
          </a:solidFill>
          <a:ln/>
          <a:effectLst>
            <a:outerShdw blurRad="57150" dist="50800" dir="16200000" algn="bl" rotWithShape="0">
              <a:srgbClr val="F85149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8128" y="1540901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2804" y="1528018"/>
            <a:ext cx="254848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D1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Stack Overflow for every command</a:t>
            </a:r>
            <a:endParaRPr lang="en-US" sz="960" dirty="0"/>
          </a:p>
        </p:txBody>
      </p:sp>
      <p:sp>
        <p:nvSpPr>
          <p:cNvPr id="23" name="Text 17"/>
          <p:cNvSpPr/>
          <p:nvPr/>
        </p:nvSpPr>
        <p:spPr>
          <a:xfrm>
            <a:off x="553045" y="1845618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648891" y="1984474"/>
            <a:ext cx="57150" cy="57150"/>
          </a:xfrm>
          <a:prstGeom prst="ellipse">
            <a:avLst/>
          </a:prstGeom>
          <a:solidFill>
            <a:srgbClr val="F85149"/>
          </a:solidFill>
          <a:ln/>
          <a:effectLst>
            <a:outerShdw blurRad="57150" dist="50800" dir="16200000" algn="bl" rotWithShape="0">
              <a:srgbClr val="F85149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8128" y="1946755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2804" y="1933873"/>
            <a:ext cx="2586142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D1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commands and hope they work</a:t>
            </a:r>
            <a:endParaRPr lang="en-US" sz="960" dirty="0"/>
          </a:p>
        </p:txBody>
      </p:sp>
      <p:sp>
        <p:nvSpPr>
          <p:cNvPr id="27" name="Text 20"/>
          <p:cNvSpPr/>
          <p:nvPr/>
        </p:nvSpPr>
        <p:spPr>
          <a:xfrm>
            <a:off x="553045" y="2251472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648891" y="2390329"/>
            <a:ext cx="57150" cy="57150"/>
          </a:xfrm>
          <a:prstGeom prst="ellipse">
            <a:avLst/>
          </a:prstGeom>
          <a:solidFill>
            <a:srgbClr val="F85149"/>
          </a:solidFill>
          <a:ln/>
          <a:effectLst>
            <a:outerShdw blurRad="57150" dist="50800" dir="16200000" algn="bl" rotWithShape="0">
              <a:srgbClr val="F85149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8128" y="2352610"/>
            <a:ext cx="132588" cy="132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2804" y="2339727"/>
            <a:ext cx="1948979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D1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Alt+Tab to browser — repeatedly</a:t>
            </a:r>
            <a:endParaRPr lang="en-US" sz="960" dirty="0"/>
          </a:p>
        </p:txBody>
      </p:sp>
      <p:sp>
        <p:nvSpPr>
          <p:cNvPr id="31" name="Text 23"/>
          <p:cNvSpPr/>
          <p:nvPr/>
        </p:nvSpPr>
        <p:spPr>
          <a:xfrm>
            <a:off x="553045" y="2657326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648891" y="2796183"/>
            <a:ext cx="57150" cy="57150"/>
          </a:xfrm>
          <a:prstGeom prst="ellipse">
            <a:avLst/>
          </a:prstGeom>
          <a:solidFill>
            <a:srgbClr val="F85149"/>
          </a:solidFill>
          <a:ln/>
          <a:effectLst>
            <a:outerShdw blurRad="57150" dist="50800" dir="16200000" algn="bl" rotWithShape="0">
              <a:srgbClr val="F85149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8128" y="2758464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02804" y="2745581"/>
            <a:ext cx="192491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D1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 with syntax errors</a:t>
            </a:r>
            <a:endParaRPr lang="en-US" sz="960" dirty="0"/>
          </a:p>
        </p:txBody>
      </p:sp>
      <p:sp>
        <p:nvSpPr>
          <p:cNvPr id="35" name="Text 26"/>
          <p:cNvSpPr/>
          <p:nvPr/>
        </p:nvSpPr>
        <p:spPr>
          <a:xfrm>
            <a:off x="553045" y="3063180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F85149">
              <a:alpha val="6000"/>
            </a:srgbClr>
          </a:solidFill>
          <a:ln w="9525">
            <a:solidFill>
              <a:srgbClr val="F85149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648891" y="3202037"/>
            <a:ext cx="57150" cy="57150"/>
          </a:xfrm>
          <a:prstGeom prst="ellipse">
            <a:avLst/>
          </a:prstGeom>
          <a:solidFill>
            <a:srgbClr val="F85149"/>
          </a:solidFill>
          <a:ln/>
          <a:effectLst>
            <a:outerShdw blurRad="57150" dist="50800" dir="16200000" algn="bl" rotWithShape="0">
              <a:srgbClr val="F85149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8128" y="3164318"/>
            <a:ext cx="132588" cy="132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1002804" y="3151436"/>
            <a:ext cx="1870397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your flow state entirely</a:t>
            </a:r>
            <a:endParaRPr lang="en-US" sz="960" dirty="0"/>
          </a:p>
        </p:txBody>
      </p:sp>
      <p:sp>
        <p:nvSpPr>
          <p:cNvPr id="39" name="Text 29"/>
          <p:cNvSpPr/>
          <p:nvPr/>
        </p:nvSpPr>
        <p:spPr>
          <a:xfrm>
            <a:off x="553045" y="4242495"/>
            <a:ext cx="3723084" cy="9525"/>
          </a:xfrm>
          <a:prstGeom prst="rect">
            <a:avLst/>
          </a:prstGeom>
          <a:solidFill>
            <a:srgbClr val="F85149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4330" y="4369454"/>
            <a:ext cx="132588" cy="13258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99195" y="4366320"/>
            <a:ext cx="221009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8B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interruption costs ~23 min to recover focus</a:t>
            </a:r>
            <a:endParaRPr lang="en-US" sz="730" dirty="0"/>
          </a:p>
        </p:txBody>
      </p:sp>
      <p:sp>
        <p:nvSpPr>
          <p:cNvPr id="42" name="Text 31"/>
          <p:cNvSpPr/>
          <p:nvPr/>
        </p:nvSpPr>
        <p:spPr>
          <a:xfrm>
            <a:off x="4657725" y="758726"/>
            <a:ext cx="4143375" cy="3927574"/>
          </a:xfrm>
          <a:prstGeom prst="roundRect">
            <a:avLst>
              <a:gd name="adj" fmla="val 2199"/>
            </a:avLst>
          </a:prstGeom>
          <a:gradFill rotWithShape="1">
            <a:gsLst>
              <a:gs pos="0">
                <a:srgbClr val="0E1420"/>
              </a:gs>
              <a:gs pos="60000">
                <a:srgbClr val="161B22"/>
              </a:gs>
              <a:gs pos="100000">
                <a:srgbClr val="161B22"/>
              </a:gs>
            </a:gsLst>
            <a:lin ang="4200000" scaled="1"/>
          </a:gra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4753570" y="4446984"/>
            <a:ext cx="9525" cy="14347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4867870" y="968871"/>
            <a:ext cx="3723084" cy="313432"/>
          </a:xfrm>
          <a:prstGeom prst="roundRect">
            <a:avLst>
              <a:gd name="adj" fmla="val 9319"/>
            </a:avLst>
          </a:prstGeom>
          <a:gradFill rotWithShape="1">
            <a:gsLst>
              <a:gs pos="0">
                <a:srgbClr val="7C3AED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4"/>
          <p:cNvSpPr/>
          <p:nvPr/>
        </p:nvSpPr>
        <p:spPr>
          <a:xfrm>
            <a:off x="4867870" y="968871"/>
            <a:ext cx="19050" cy="313432"/>
          </a:xfrm>
          <a:custGeom>
            <a:avLst/>
            <a:gdLst/>
            <a:ahLst/>
            <a:cxnLst/>
            <a:rect l="l" t="t" r="r" b="b"/>
            <a:pathLst>
              <a:path w="19050" h="313432">
                <a:moveTo>
                  <a:pt x="0" y="29210"/>
                </a:moveTo>
                <a:lnTo>
                  <a:pt x="2381" y="17658"/>
                </a:lnTo>
                <a:lnTo>
                  <a:pt x="4763" y="13224"/>
                </a:lnTo>
                <a:lnTo>
                  <a:pt x="7144" y="10071"/>
                </a:lnTo>
                <a:lnTo>
                  <a:pt x="9525" y="7629"/>
                </a:lnTo>
                <a:lnTo>
                  <a:pt x="11906" y="5677"/>
                </a:lnTo>
                <a:lnTo>
                  <a:pt x="14288" y="4099"/>
                </a:lnTo>
                <a:lnTo>
                  <a:pt x="16669" y="2829"/>
                </a:lnTo>
                <a:lnTo>
                  <a:pt x="19050" y="1824"/>
                </a:lnTo>
                <a:lnTo>
                  <a:pt x="19050" y="311608"/>
                </a:lnTo>
                <a:lnTo>
                  <a:pt x="16669" y="310603"/>
                </a:lnTo>
                <a:lnTo>
                  <a:pt x="14288" y="309333"/>
                </a:lnTo>
                <a:lnTo>
                  <a:pt x="11906" y="307755"/>
                </a:lnTo>
                <a:lnTo>
                  <a:pt x="9525" y="305803"/>
                </a:lnTo>
                <a:lnTo>
                  <a:pt x="7144" y="303361"/>
                </a:lnTo>
                <a:lnTo>
                  <a:pt x="4763" y="300208"/>
                </a:lnTo>
                <a:lnTo>
                  <a:pt x="2381" y="295774"/>
                </a:lnTo>
                <a:lnTo>
                  <a:pt x="0" y="284222"/>
                </a:lnTo>
                <a:close/>
              </a:path>
            </a:pathLst>
          </a:custGeom>
          <a:solidFill>
            <a:srgbClr val="A371F7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82998" y="1059293"/>
            <a:ext cx="132588" cy="132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168354" y="1039862"/>
            <a:ext cx="13312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COPILOT CLI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4867870" y="1439763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7C3AED">
              <a:alpha val="7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7"/>
          <p:cNvSpPr/>
          <p:nvPr/>
        </p:nvSpPr>
        <p:spPr>
          <a:xfrm>
            <a:off x="4963716" y="1578620"/>
            <a:ext cx="57150" cy="57150"/>
          </a:xfrm>
          <a:prstGeom prst="ellipse">
            <a:avLst/>
          </a:prstGeom>
          <a:solidFill>
            <a:srgbClr val="3FB950"/>
          </a:solidFill>
          <a:ln/>
          <a:effectLst>
            <a:outerShdw blurRad="57150" dist="50800" dir="16200000" algn="bl" rotWithShape="0">
              <a:srgbClr val="3FB950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02953" y="1540901"/>
            <a:ext cx="132588" cy="13258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317629" y="1528018"/>
            <a:ext cx="2429798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C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 — no syntax needed</a:t>
            </a:r>
            <a:endParaRPr lang="en-US" sz="960" dirty="0"/>
          </a:p>
        </p:txBody>
      </p:sp>
      <p:sp>
        <p:nvSpPr>
          <p:cNvPr id="52" name="Text 39"/>
          <p:cNvSpPr/>
          <p:nvPr/>
        </p:nvSpPr>
        <p:spPr>
          <a:xfrm>
            <a:off x="4867870" y="1845618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7C3AED">
              <a:alpha val="7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0"/>
          <p:cNvSpPr/>
          <p:nvPr/>
        </p:nvSpPr>
        <p:spPr>
          <a:xfrm>
            <a:off x="4963716" y="1984474"/>
            <a:ext cx="57150" cy="57150"/>
          </a:xfrm>
          <a:prstGeom prst="ellipse">
            <a:avLst/>
          </a:prstGeom>
          <a:solidFill>
            <a:srgbClr val="3FB950"/>
          </a:solidFill>
          <a:ln/>
          <a:effectLst>
            <a:outerShdw blurRad="57150" dist="50800" dir="16200000" algn="bl" rotWithShape="0">
              <a:srgbClr val="3FB950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02953" y="1946755"/>
            <a:ext cx="132588" cy="132588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317629" y="1933873"/>
            <a:ext cx="2496756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C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the exact command instantly</a:t>
            </a:r>
            <a:endParaRPr lang="en-US" sz="960" dirty="0"/>
          </a:p>
        </p:txBody>
      </p:sp>
      <p:sp>
        <p:nvSpPr>
          <p:cNvPr id="56" name="Text 42"/>
          <p:cNvSpPr/>
          <p:nvPr/>
        </p:nvSpPr>
        <p:spPr>
          <a:xfrm>
            <a:off x="4867870" y="2251472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7C3AED">
              <a:alpha val="7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3"/>
          <p:cNvSpPr/>
          <p:nvPr/>
        </p:nvSpPr>
        <p:spPr>
          <a:xfrm>
            <a:off x="4963716" y="2390329"/>
            <a:ext cx="57150" cy="57150"/>
          </a:xfrm>
          <a:prstGeom prst="ellipse">
            <a:avLst/>
          </a:prstGeom>
          <a:solidFill>
            <a:srgbClr val="3FB950"/>
          </a:solidFill>
          <a:ln/>
          <a:effectLst>
            <a:outerShdw blurRad="57150" dist="50800" dir="16200000" algn="bl" rotWithShape="0">
              <a:srgbClr val="3FB950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02953" y="2352610"/>
            <a:ext cx="132588" cy="132588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5317629" y="2339727"/>
            <a:ext cx="2511817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C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confirm, and execute in one place</a:t>
            </a:r>
            <a:endParaRPr lang="en-US" sz="960" dirty="0"/>
          </a:p>
        </p:txBody>
      </p:sp>
      <p:sp>
        <p:nvSpPr>
          <p:cNvPr id="60" name="Text 45"/>
          <p:cNvSpPr/>
          <p:nvPr/>
        </p:nvSpPr>
        <p:spPr>
          <a:xfrm>
            <a:off x="4867870" y="2657326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7C3AED">
              <a:alpha val="7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6"/>
          <p:cNvSpPr/>
          <p:nvPr/>
        </p:nvSpPr>
        <p:spPr>
          <a:xfrm>
            <a:off x="4963716" y="2796183"/>
            <a:ext cx="57150" cy="57150"/>
          </a:xfrm>
          <a:prstGeom prst="ellipse">
            <a:avLst/>
          </a:prstGeom>
          <a:solidFill>
            <a:srgbClr val="3FB950"/>
          </a:solidFill>
          <a:ln/>
          <a:effectLst>
            <a:outerShdw blurRad="57150" dist="50800" dir="16200000" algn="bl" rotWithShape="0">
              <a:srgbClr val="3FB950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02953" y="2758464"/>
            <a:ext cx="132588" cy="132588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317629" y="2745581"/>
            <a:ext cx="2429470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dirty="0">
                <a:solidFill>
                  <a:srgbClr val="C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terminal — zero tab switching</a:t>
            </a:r>
            <a:endParaRPr lang="en-US" sz="960" dirty="0"/>
          </a:p>
        </p:txBody>
      </p:sp>
      <p:sp>
        <p:nvSpPr>
          <p:cNvPr id="64" name="Text 48"/>
          <p:cNvSpPr/>
          <p:nvPr/>
        </p:nvSpPr>
        <p:spPr>
          <a:xfrm>
            <a:off x="4867870" y="3063180"/>
            <a:ext cx="3723084" cy="334863"/>
          </a:xfrm>
          <a:prstGeom prst="roundRect">
            <a:avLst>
              <a:gd name="adj" fmla="val 17067"/>
            </a:avLst>
          </a:prstGeom>
          <a:solidFill>
            <a:srgbClr val="7C3AED">
              <a:alpha val="7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49"/>
          <p:cNvSpPr/>
          <p:nvPr/>
        </p:nvSpPr>
        <p:spPr>
          <a:xfrm>
            <a:off x="4963716" y="3202037"/>
            <a:ext cx="57150" cy="57150"/>
          </a:xfrm>
          <a:prstGeom prst="ellipse">
            <a:avLst/>
          </a:prstGeom>
          <a:solidFill>
            <a:srgbClr val="3FB950"/>
          </a:solidFill>
          <a:ln/>
          <a:effectLst>
            <a:outerShdw blurRad="57150" dist="50800" dir="16200000" algn="bl" rotWithShape="0">
              <a:srgbClr val="3FB950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02953" y="3164318"/>
            <a:ext cx="132588" cy="132588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5317629" y="3151436"/>
            <a:ext cx="1907396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the zone — ship faster</a:t>
            </a:r>
            <a:endParaRPr lang="en-US" sz="960" dirty="0"/>
          </a:p>
        </p:txBody>
      </p:sp>
      <p:sp>
        <p:nvSpPr>
          <p:cNvPr id="68" name="Text 51"/>
          <p:cNvSpPr/>
          <p:nvPr/>
        </p:nvSpPr>
        <p:spPr>
          <a:xfrm>
            <a:off x="4867870" y="4242495"/>
            <a:ext cx="3723084" cy="9525"/>
          </a:xfrm>
          <a:prstGeom prst="rect">
            <a:avLst/>
          </a:prstGeom>
          <a:solidFill>
            <a:srgbClr val="7C3AED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39155" y="4369454"/>
            <a:ext cx="132588" cy="132588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5014020" y="4366320"/>
            <a:ext cx="231503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4A6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report up to 55% faster task completion</a:t>
            </a:r>
            <a:endParaRPr lang="en-US" sz="730" dirty="0"/>
          </a:p>
        </p:txBody>
      </p:sp>
      <p:sp>
        <p:nvSpPr>
          <p:cNvPr id="71" name="Text 53"/>
          <p:cNvSpPr/>
          <p:nvPr/>
        </p:nvSpPr>
        <p:spPr>
          <a:xfrm>
            <a:off x="4568130" y="850553"/>
            <a:ext cx="7590" cy="1714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7C3AED">
                  <a:alpha val="40000"/>
                </a:srgbClr>
              </a:gs>
              <a:gs pos="66667">
                <a:srgbClr val="F85149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4"/>
          <p:cNvSpPr/>
          <p:nvPr/>
        </p:nvSpPr>
        <p:spPr>
          <a:xfrm>
            <a:off x="4414540" y="2565053"/>
            <a:ext cx="314920" cy="346412"/>
          </a:xfrm>
          <a:prstGeom prst="ellipse">
            <a:avLst/>
          </a:prstGeom>
          <a:solidFill>
            <a:srgbClr val="0D1117"/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kern="0" spc="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30" dirty="0"/>
          </a:p>
        </p:txBody>
      </p:sp>
      <p:sp>
        <p:nvSpPr>
          <p:cNvPr id="73" name="Text 55"/>
          <p:cNvSpPr/>
          <p:nvPr/>
        </p:nvSpPr>
        <p:spPr>
          <a:xfrm>
            <a:off x="4568130" y="2879973"/>
            <a:ext cx="7590" cy="1714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7C3AED">
                  <a:alpha val="40000"/>
                </a:srgbClr>
              </a:gs>
              <a:gs pos="66667">
                <a:srgbClr val="F85149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7C3AED"/>
              </a:gs>
              <a:gs pos="6000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745" y="1696492"/>
            <a:ext cx="1827609" cy="1650797"/>
          </a:xfrm>
          <a:prstGeom prst="roundRect">
            <a:avLst>
              <a:gd name="adj" fmla="val 6924"/>
            </a:avLst>
          </a:prstGeom>
          <a:gradFill rotWithShape="1">
            <a:gsLst>
              <a:gs pos="0">
                <a:srgbClr val="7C3AED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84996" y="1696492"/>
            <a:ext cx="1827762" cy="1650797"/>
          </a:xfrm>
          <a:prstGeom prst="roundRect">
            <a:avLst>
              <a:gd name="adj" fmla="val 6924"/>
            </a:avLst>
          </a:prstGeom>
          <a:gradFill rotWithShape="1">
            <a:gsLst>
              <a:gs pos="0">
                <a:srgbClr val="7C3AED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31395" y="1696492"/>
            <a:ext cx="1827609" cy="1650797"/>
          </a:xfrm>
          <a:prstGeom prst="roundRect">
            <a:avLst>
              <a:gd name="adj" fmla="val 6924"/>
            </a:avLst>
          </a:prstGeom>
          <a:gradFill rotWithShape="1">
            <a:gsLst>
              <a:gs pos="0">
                <a:srgbClr val="7C3AED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77645" y="1696492"/>
            <a:ext cx="1827609" cy="1650797"/>
          </a:xfrm>
          <a:prstGeom prst="roundRect">
            <a:avLst>
              <a:gd name="adj" fmla="val 6924"/>
            </a:avLst>
          </a:prstGeom>
          <a:gradFill rotWithShape="1">
            <a:gsLst>
              <a:gs pos="0">
                <a:srgbClr val="7C3AED">
                  <a:alpha val="8000"/>
                </a:srgbClr>
              </a:gs>
              <a:gs pos="60000">
                <a:srgbClr val="000000">
                  <a:alpha val="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23665" y="1568351"/>
            <a:ext cx="257770" cy="283547"/>
          </a:xfrm>
          <a:prstGeom prst="ellipse">
            <a:avLst/>
          </a:prstGeom>
          <a:solidFill>
            <a:srgbClr val="7C3AED"/>
          </a:solidFill>
          <a:ln w="9525">
            <a:solidFill>
              <a:srgbClr val="FFFFFF">
                <a:alpha val="15000"/>
              </a:srgbClr>
            </a:solidFill>
          </a:ln>
          <a:effectLst>
            <a:outerShdw blurRad="114300" dist="50800" dir="16200000" algn="bl" rotWithShape="0">
              <a:srgbClr val="7C3AED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69915" y="1568351"/>
            <a:ext cx="257770" cy="283547"/>
          </a:xfrm>
          <a:prstGeom prst="ellipse">
            <a:avLst/>
          </a:prstGeom>
          <a:solidFill>
            <a:srgbClr val="7C3AED"/>
          </a:solidFill>
          <a:ln w="9525">
            <a:solidFill>
              <a:srgbClr val="FFFFFF">
                <a:alpha val="15000"/>
              </a:srgbClr>
            </a:solidFill>
          </a:ln>
          <a:effectLst>
            <a:outerShdw blurRad="114300" dist="50800" dir="16200000" algn="bl" rotWithShape="0">
              <a:srgbClr val="7C3AED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16314" y="1568351"/>
            <a:ext cx="257770" cy="283547"/>
          </a:xfrm>
          <a:prstGeom prst="ellipse">
            <a:avLst/>
          </a:prstGeom>
          <a:solidFill>
            <a:srgbClr val="7C3AED"/>
          </a:solidFill>
          <a:ln w="9525">
            <a:solidFill>
              <a:srgbClr val="FFFFFF">
                <a:alpha val="15000"/>
              </a:srgbClr>
            </a:solidFill>
          </a:ln>
          <a:effectLst>
            <a:outerShdw blurRad="114300" dist="50800" dir="16200000" algn="bl" rotWithShape="0">
              <a:srgbClr val="7C3AED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62565" y="1568351"/>
            <a:ext cx="257770" cy="283547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A855F7"/>
              </a:gs>
            </a:gsLst>
            <a:lin ang="2700000" scaled="1"/>
          </a:gradFill>
          <a:ln w="9525">
            <a:solidFill>
              <a:srgbClr val="FFFFFF">
                <a:alpha val="15000"/>
              </a:srgbClr>
            </a:solidFill>
          </a:ln>
          <a:effectLst>
            <a:outerShdw blurRad="114300" dist="50800" dir="16200000" algn="bl" rotWithShape="0">
              <a:srgbClr val="7C3AED">
                <a:alpha val="6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714970"/>
            <a:ext cx="2286000" cy="356741"/>
          </a:xfrm>
          <a:prstGeom prst="rect">
            <a:avLst/>
          </a:prstGeom>
          <a:gradFill rotWithShape="1">
            <a:gsLst>
              <a:gs pos="0">
                <a:srgbClr val="7C3AED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942" y="314920"/>
            <a:ext cx="911411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kern="0" spc="14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22081" y="487561"/>
            <a:ext cx="8699837" cy="361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49"/>
              </a:lnSpc>
              <a:spcBef>
                <a:spcPts val="340"/>
              </a:spcBef>
              <a:buNone/>
            </a:pPr>
            <a:r>
              <a:rPr lang="en-US" sz="259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It </a:t>
            </a:r>
            <a:r>
              <a:rPr lang="en-US" sz="2590" b="1" kern="0" spc="-30" dirty="0">
                <a:solidFill>
                  <a:srgbClr val="A855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Works</a:t>
            </a:r>
            <a:endParaRPr lang="en-US" sz="2590" dirty="0"/>
          </a:p>
        </p:txBody>
      </p:sp>
      <p:sp>
        <p:nvSpPr>
          <p:cNvPr id="16" name="Text 14"/>
          <p:cNvSpPr/>
          <p:nvPr/>
        </p:nvSpPr>
        <p:spPr>
          <a:xfrm>
            <a:off x="429220" y="1686967"/>
            <a:ext cx="1846659" cy="1669852"/>
          </a:xfrm>
          <a:prstGeom prst="roundRect">
            <a:avLst>
              <a:gd name="adj" fmla="val 6845"/>
            </a:avLst>
          </a:prstGeom>
          <a:solidFill>
            <a:srgbClr val="161B22"/>
          </a:solidFill>
          <a:ln w="9525">
            <a:solidFill>
              <a:srgbClr val="7C3AED">
                <a:alpha val="25000"/>
              </a:srgbClr>
            </a:solidFill>
          </a:ln>
          <a:effectLst>
            <a:outerShdw blurRad="171450" dist="2921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09365" y="1954262"/>
            <a:ext cx="486370" cy="486370"/>
          </a:xfrm>
          <a:prstGeom prst="roundRect">
            <a:avLst>
              <a:gd name="adj" fmla="val 20628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5812" y="2100709"/>
            <a:ext cx="193328" cy="1933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66809" y="2559100"/>
            <a:ext cx="1571482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natural language request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566809" y="2897832"/>
            <a:ext cx="1571482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— no memorizing shell syntax required</a:t>
            </a:r>
            <a:endParaRPr lang="en-US" sz="730" dirty="0"/>
          </a:p>
        </p:txBody>
      </p:sp>
      <p:sp>
        <p:nvSpPr>
          <p:cNvPr id="21" name="Text 18"/>
          <p:cNvSpPr/>
          <p:nvPr/>
        </p:nvSpPr>
        <p:spPr>
          <a:xfrm>
            <a:off x="2275880" y="2515046"/>
            <a:ext cx="299591" cy="13841"/>
          </a:xfrm>
          <a:prstGeom prst="rect">
            <a:avLst/>
          </a:prstGeom>
          <a:gradFill rotWithShape="1">
            <a:gsLst>
              <a:gs pos="0">
                <a:srgbClr val="7C3AED">
                  <a:alpha val="40000"/>
                </a:srgbClr>
              </a:gs>
              <a:gs pos="100000">
                <a:srgbClr val="A855F7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 rot="5400000">
            <a:off x="2508796" y="2474268"/>
            <a:ext cx="66675" cy="95250"/>
          </a:xfrm>
          <a:prstGeom prst="triangle">
            <a:avLst/>
          </a:prstGeom>
          <a:solidFill>
            <a:srgbClr val="A855F7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575471" y="1686967"/>
            <a:ext cx="1846808" cy="1669852"/>
          </a:xfrm>
          <a:prstGeom prst="roundRect">
            <a:avLst>
              <a:gd name="adj" fmla="val 6845"/>
            </a:avLst>
          </a:prstGeom>
          <a:solidFill>
            <a:srgbClr val="161B22"/>
          </a:solidFill>
          <a:ln w="9525">
            <a:solidFill>
              <a:srgbClr val="7C3AED">
                <a:alpha val="25000"/>
              </a:srgbClr>
            </a:solidFill>
          </a:ln>
          <a:effectLst>
            <a:outerShdw blurRad="171450" dist="2921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255615" y="1954262"/>
            <a:ext cx="486370" cy="486370"/>
          </a:xfrm>
          <a:prstGeom prst="roundRect">
            <a:avLst>
              <a:gd name="adj" fmla="val 20628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2062" y="2100709"/>
            <a:ext cx="193328" cy="19332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13058" y="2559100"/>
            <a:ext cx="1571634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sends it to GitHub AI backend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2713058" y="2897832"/>
            <a:ext cx="1571634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transmitted to GitHub's Copilot API endpoint</a:t>
            </a:r>
            <a:endParaRPr lang="en-US" sz="730" dirty="0"/>
          </a:p>
        </p:txBody>
      </p:sp>
      <p:sp>
        <p:nvSpPr>
          <p:cNvPr id="28" name="Text 24"/>
          <p:cNvSpPr/>
          <p:nvPr/>
        </p:nvSpPr>
        <p:spPr>
          <a:xfrm>
            <a:off x="4422279" y="2515046"/>
            <a:ext cx="299591" cy="13841"/>
          </a:xfrm>
          <a:prstGeom prst="rect">
            <a:avLst/>
          </a:prstGeom>
          <a:gradFill rotWithShape="1">
            <a:gsLst>
              <a:gs pos="0">
                <a:srgbClr val="7C3AED">
                  <a:alpha val="40000"/>
                </a:srgbClr>
              </a:gs>
              <a:gs pos="100000">
                <a:srgbClr val="A855F7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 rot="5400000">
            <a:off x="4655195" y="2474268"/>
            <a:ext cx="66675" cy="95250"/>
          </a:xfrm>
          <a:prstGeom prst="triangle">
            <a:avLst/>
          </a:prstGeom>
          <a:solidFill>
            <a:srgbClr val="A855F7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4721870" y="1686967"/>
            <a:ext cx="1846659" cy="1669852"/>
          </a:xfrm>
          <a:prstGeom prst="roundRect">
            <a:avLst>
              <a:gd name="adj" fmla="val 6845"/>
            </a:avLst>
          </a:prstGeom>
          <a:solidFill>
            <a:srgbClr val="161B22"/>
          </a:solidFill>
          <a:ln w="9525">
            <a:solidFill>
              <a:srgbClr val="7C3AED">
                <a:alpha val="25000"/>
              </a:srgbClr>
            </a:solidFill>
          </a:ln>
          <a:effectLst>
            <a:outerShdw blurRad="171450" dist="29210" dir="5400000" algn="bl" rotWithShape="0">
              <a:srgbClr val="000000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5402014" y="1954262"/>
            <a:ext cx="486370" cy="486370"/>
          </a:xfrm>
          <a:prstGeom prst="roundRect">
            <a:avLst>
              <a:gd name="adj" fmla="val 20628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8461" y="2100709"/>
            <a:ext cx="193328" cy="19332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859459" y="2559100"/>
            <a:ext cx="1571482" cy="2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a shell command + explanation</a:t>
            </a:r>
            <a:endParaRPr lang="en-US" sz="840" dirty="0"/>
          </a:p>
        </p:txBody>
      </p:sp>
      <p:sp>
        <p:nvSpPr>
          <p:cNvPr id="34" name="Text 29"/>
          <p:cNvSpPr/>
          <p:nvPr/>
        </p:nvSpPr>
        <p:spPr>
          <a:xfrm>
            <a:off x="4859459" y="2897832"/>
            <a:ext cx="1571482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models generate a precise command with context</a:t>
            </a:r>
            <a:endParaRPr lang="en-US" sz="730" dirty="0"/>
          </a:p>
        </p:txBody>
      </p:sp>
      <p:sp>
        <p:nvSpPr>
          <p:cNvPr id="35" name="Text 30"/>
          <p:cNvSpPr/>
          <p:nvPr/>
        </p:nvSpPr>
        <p:spPr>
          <a:xfrm>
            <a:off x="6568529" y="2515046"/>
            <a:ext cx="299591" cy="13841"/>
          </a:xfrm>
          <a:prstGeom prst="rect">
            <a:avLst/>
          </a:prstGeom>
          <a:gradFill rotWithShape="1">
            <a:gsLst>
              <a:gs pos="0">
                <a:srgbClr val="7C3AED">
                  <a:alpha val="40000"/>
                </a:srgbClr>
              </a:gs>
              <a:gs pos="100000">
                <a:srgbClr val="A855F7">
                  <a:alpha val="9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 rot="5400000">
            <a:off x="6801445" y="2474268"/>
            <a:ext cx="66675" cy="95250"/>
          </a:xfrm>
          <a:prstGeom prst="triangle">
            <a:avLst/>
          </a:prstGeom>
          <a:solidFill>
            <a:srgbClr val="A855F7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6868120" y="1686967"/>
            <a:ext cx="1846659" cy="1669852"/>
          </a:xfrm>
          <a:prstGeom prst="roundRect">
            <a:avLst>
              <a:gd name="adj" fmla="val 6845"/>
            </a:avLst>
          </a:prstGeom>
          <a:solidFill>
            <a:srgbClr val="161B22"/>
          </a:solidFill>
          <a:ln w="9525">
            <a:solidFill>
              <a:srgbClr val="7C3AED">
                <a:alpha val="50000"/>
              </a:srgbClr>
            </a:solidFill>
          </a:ln>
          <a:effectLst>
            <a:outerShdw blurRad="228600" dist="29210" dir="5400000" algn="bl" rotWithShape="0">
              <a:srgbClr val="7C3AED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7548265" y="1954262"/>
            <a:ext cx="486370" cy="486370"/>
          </a:xfrm>
          <a:prstGeom prst="roundRect">
            <a:avLst>
              <a:gd name="adj" fmla="val 20628"/>
            </a:avLst>
          </a:prstGeom>
          <a:solidFill>
            <a:srgbClr val="7C3AED">
              <a:alpha val="20000"/>
            </a:srgbClr>
          </a:solidFill>
          <a:ln w="9525">
            <a:solidFill>
              <a:srgbClr val="7C3AED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4712" y="2100709"/>
            <a:ext cx="193328" cy="19332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7098789" y="2628454"/>
            <a:ext cx="1385322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92"/>
              </a:lnSpc>
              <a:buNone/>
            </a:pPr>
            <a:r>
              <a:rPr lang="en-US" sz="840" b="1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and execute</a:t>
            </a:r>
            <a:endParaRPr lang="en-US" sz="840" dirty="0"/>
          </a:p>
        </p:txBody>
      </p:sp>
      <p:sp>
        <p:nvSpPr>
          <p:cNvPr id="41" name="Text 35"/>
          <p:cNvSpPr/>
          <p:nvPr/>
        </p:nvSpPr>
        <p:spPr>
          <a:xfrm>
            <a:off x="7005709" y="2897832"/>
            <a:ext cx="1571482" cy="291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approve, and run — you're always in control</a:t>
            </a:r>
            <a:endParaRPr lang="en-US" sz="730" dirty="0"/>
          </a:p>
        </p:txBody>
      </p:sp>
      <p:sp>
        <p:nvSpPr>
          <p:cNvPr id="42" name="Text 36"/>
          <p:cNvSpPr/>
          <p:nvPr/>
        </p:nvSpPr>
        <p:spPr>
          <a:xfrm>
            <a:off x="3913584" y="4051548"/>
            <a:ext cx="42922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7C3AED">
                  <a:alpha val="4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4399955" y="4036963"/>
            <a:ext cx="43160" cy="431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500265" y="4036963"/>
            <a:ext cx="43160" cy="43160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600575" y="4036963"/>
            <a:ext cx="43160" cy="43160"/>
          </a:xfrm>
          <a:prstGeom prst="ellipse">
            <a:avLst/>
          </a:prstGeom>
          <a:solidFill>
            <a:srgbClr val="A855F7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700885" y="4036963"/>
            <a:ext cx="43160" cy="43160"/>
          </a:xfrm>
          <a:prstGeom prst="ellipse">
            <a:avLst/>
          </a:prstGeom>
          <a:solidFill>
            <a:srgbClr val="A855F7">
              <a:alpha val="9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801195" y="4051548"/>
            <a:ext cx="429220" cy="13841"/>
          </a:xfrm>
          <a:prstGeom prst="rect">
            <a:avLst/>
          </a:prstGeom>
          <a:gradFill rotWithShape="1">
            <a:gsLst>
              <a:gs pos="0">
                <a:srgbClr val="7C3AED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3029545" y="4223593"/>
            <a:ext cx="3084761" cy="311497"/>
          </a:xfrm>
          <a:prstGeom prst="roundRect">
            <a:avLst>
              <a:gd name="adj" fmla="val 2283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3239691" y="4350693"/>
            <a:ext cx="57150" cy="57150"/>
          </a:xfrm>
          <a:prstGeom prst="ellipse">
            <a:avLst/>
          </a:prstGeom>
          <a:solidFill>
            <a:srgbClr val="A855F7"/>
          </a:solidFill>
          <a:ln/>
          <a:effectLst>
            <a:outerShdw blurRad="57150" dist="50800" dir="16200000" algn="bl" rotWithShape="0">
              <a:srgbClr val="A855F7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44400" y="4312974"/>
            <a:ext cx="132588" cy="13258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3524548" y="4304109"/>
            <a:ext cx="261757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models via GitHub's Copilot API</a:t>
            </a:r>
            <a:endParaRPr lang="en-US" sz="7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7C3AED"/>
              </a:gs>
              <a:gs pos="50000">
                <a:srgbClr val="A78BFA"/>
              </a:gs>
              <a:gs pos="80000">
                <a:srgbClr val="7C3AED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79271" y="258961"/>
            <a:ext cx="57150" cy="57150"/>
          </a:xfrm>
          <a:prstGeom prst="ellipse">
            <a:avLst/>
          </a:prstGeom>
          <a:solidFill>
            <a:srgbClr val="FF5F56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93571" y="258961"/>
            <a:ext cx="57150" cy="57150"/>
          </a:xfrm>
          <a:prstGeom prst="ellipse">
            <a:avLst/>
          </a:prstGeom>
          <a:solidFill>
            <a:srgbClr val="FFBD2E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07871" y="258961"/>
            <a:ext cx="57150" cy="57150"/>
          </a:xfrm>
          <a:prstGeom prst="ellipse">
            <a:avLst/>
          </a:prstGeom>
          <a:solidFill>
            <a:srgbClr val="27C93F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65331" y="228600"/>
            <a:ext cx="4164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400050" y="25777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7" dirty="0">
                <a:solidFill>
                  <a:srgbClr val="A78BFA">
                    <a:alpha val="8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INSTALLATION &amp; SETUP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400050" y="404961"/>
            <a:ext cx="8927973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buNone/>
            </a:pPr>
            <a:r>
              <a:rPr lang="en-US" sz="214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Getting Started </a:t>
            </a:r>
            <a:r>
              <a:rPr lang="en-US" sz="2140" kern="0" spc="-3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Minutes</a:t>
            </a:r>
            <a:endParaRPr lang="en-US" sz="2140" dirty="0"/>
          </a:p>
        </p:txBody>
      </p:sp>
      <p:sp>
        <p:nvSpPr>
          <p:cNvPr id="11" name="Text 9"/>
          <p:cNvSpPr/>
          <p:nvPr/>
        </p:nvSpPr>
        <p:spPr>
          <a:xfrm>
            <a:off x="400050" y="768846"/>
            <a:ext cx="3842891" cy="848618"/>
          </a:xfrm>
          <a:prstGeom prst="roundRect">
            <a:avLst>
              <a:gd name="adj" fmla="val 8381"/>
            </a:avLst>
          </a:prstGeom>
          <a:solidFill>
            <a:srgbClr val="161B22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36704" y="864691"/>
            <a:ext cx="96409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 GitHub CLI</a:t>
            </a:r>
            <a:endParaRPr lang="en-US" sz="79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5243" y="873630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630091" y="1050578"/>
            <a:ext cx="1489025" cy="486370"/>
          </a:xfrm>
          <a:prstGeom prst="roundRect">
            <a:avLst>
              <a:gd name="adj" fmla="val 7311"/>
            </a:avLst>
          </a:prstGeom>
          <a:solidFill>
            <a:srgbClr val="0D1117">
              <a:alpha val="70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195727" y="1105049"/>
            <a:ext cx="546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225641" y="1105049"/>
            <a:ext cx="81921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gh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171126" y="1237208"/>
            <a:ext cx="87372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on Windows: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2699385" y="1369368"/>
            <a:ext cx="546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2679665" y="1369368"/>
            <a:ext cx="136518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GitHub.cli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901059" y="1638598"/>
            <a:ext cx="3842891" cy="716459"/>
          </a:xfrm>
          <a:prstGeom prst="roundRect">
            <a:avLst>
              <a:gd name="adj" fmla="val 9927"/>
            </a:avLst>
          </a:prstGeom>
          <a:solidFill>
            <a:srgbClr val="161B22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6169" y="1743382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43202" y="1734443"/>
            <a:ext cx="693807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Authenticate</a:t>
            </a:r>
            <a:endParaRPr lang="en-US" sz="790" dirty="0"/>
          </a:p>
        </p:txBody>
      </p:sp>
      <p:sp>
        <p:nvSpPr>
          <p:cNvPr id="23" name="Text 19"/>
          <p:cNvSpPr/>
          <p:nvPr/>
        </p:nvSpPr>
        <p:spPr>
          <a:xfrm>
            <a:off x="5024884" y="1920329"/>
            <a:ext cx="1737122" cy="354211"/>
          </a:xfrm>
          <a:prstGeom prst="roundRect">
            <a:avLst>
              <a:gd name="adj" fmla="val 10039"/>
            </a:avLst>
          </a:prstGeom>
          <a:solidFill>
            <a:srgbClr val="0D1117">
              <a:alpha val="70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099149" y="1974800"/>
            <a:ext cx="546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650" dirty="0"/>
          </a:p>
        </p:txBody>
      </p:sp>
      <p:sp>
        <p:nvSpPr>
          <p:cNvPr id="25" name="Text 21"/>
          <p:cNvSpPr/>
          <p:nvPr/>
        </p:nvSpPr>
        <p:spPr>
          <a:xfrm>
            <a:off x="5198566" y="1974800"/>
            <a:ext cx="7098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auth login</a:t>
            </a:r>
            <a:endParaRPr lang="en-US" sz="650" dirty="0"/>
          </a:p>
        </p:txBody>
      </p:sp>
      <p:sp>
        <p:nvSpPr>
          <p:cNvPr id="26" name="Text 22"/>
          <p:cNvSpPr/>
          <p:nvPr/>
        </p:nvSpPr>
        <p:spPr>
          <a:xfrm>
            <a:off x="5099149" y="2106960"/>
            <a:ext cx="174745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Follow the interactive prompts</a:t>
            </a:r>
            <a:endParaRPr lang="en-US" sz="650" dirty="0"/>
          </a:p>
        </p:txBody>
      </p:sp>
      <p:sp>
        <p:nvSpPr>
          <p:cNvPr id="27" name="Text 23"/>
          <p:cNvSpPr/>
          <p:nvPr/>
        </p:nvSpPr>
        <p:spPr>
          <a:xfrm>
            <a:off x="400050" y="2442121"/>
            <a:ext cx="3842891" cy="716459"/>
          </a:xfrm>
          <a:prstGeom prst="roundRect">
            <a:avLst>
              <a:gd name="adj" fmla="val 9927"/>
            </a:avLst>
          </a:prstGeom>
          <a:solidFill>
            <a:srgbClr val="161B22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660005" y="2537966"/>
            <a:ext cx="1340793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 Copilot Extension</a:t>
            </a:r>
            <a:endParaRPr lang="en-US" sz="79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5243" y="2546905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878336" y="2723852"/>
            <a:ext cx="1240780" cy="354211"/>
          </a:xfrm>
          <a:prstGeom prst="roundRect">
            <a:avLst>
              <a:gd name="adj" fmla="val 10039"/>
            </a:avLst>
          </a:prstGeom>
          <a:solidFill>
            <a:srgbClr val="0D1117">
              <a:alpha val="70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2947630" y="2778323"/>
            <a:ext cx="546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2952735" y="2778323"/>
            <a:ext cx="109211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extension install</a:t>
            </a:r>
            <a:endParaRPr lang="en-US" sz="650" dirty="0"/>
          </a:p>
        </p:txBody>
      </p:sp>
      <p:sp>
        <p:nvSpPr>
          <p:cNvPr id="33" name="Text 28"/>
          <p:cNvSpPr/>
          <p:nvPr/>
        </p:nvSpPr>
        <p:spPr>
          <a:xfrm>
            <a:off x="3021494" y="2910483"/>
            <a:ext cx="1023357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github/gh-copilot</a:t>
            </a:r>
            <a:endParaRPr lang="en-US" sz="650" dirty="0"/>
          </a:p>
        </p:txBody>
      </p:sp>
      <p:sp>
        <p:nvSpPr>
          <p:cNvPr id="34" name="Text 29"/>
          <p:cNvSpPr/>
          <p:nvPr/>
        </p:nvSpPr>
        <p:spPr>
          <a:xfrm>
            <a:off x="4901059" y="3245793"/>
            <a:ext cx="3842891" cy="716459"/>
          </a:xfrm>
          <a:prstGeom prst="roundRect">
            <a:avLst>
              <a:gd name="adj" fmla="val 9927"/>
            </a:avLst>
          </a:prstGeom>
          <a:solidFill>
            <a:srgbClr val="161B22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6169" y="3350577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43202" y="3341638"/>
            <a:ext cx="792361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 Up Aliases</a:t>
            </a:r>
            <a:endParaRPr lang="en-US" sz="790" dirty="0"/>
          </a:p>
        </p:txBody>
      </p:sp>
      <p:sp>
        <p:nvSpPr>
          <p:cNvPr id="37" name="Text 31"/>
          <p:cNvSpPr/>
          <p:nvPr/>
        </p:nvSpPr>
        <p:spPr>
          <a:xfrm>
            <a:off x="5935861" y="3351163"/>
            <a:ext cx="432941" cy="144393"/>
          </a:xfrm>
          <a:prstGeom prst="roundRect">
            <a:avLst>
              <a:gd name="adj" fmla="val 14952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endParaRPr lang="en-US" sz="510" dirty="0"/>
          </a:p>
        </p:txBody>
      </p:sp>
      <p:sp>
        <p:nvSpPr>
          <p:cNvPr id="38" name="Text 32"/>
          <p:cNvSpPr/>
          <p:nvPr/>
        </p:nvSpPr>
        <p:spPr>
          <a:xfrm>
            <a:off x="5024884" y="3527524"/>
            <a:ext cx="1588294" cy="354211"/>
          </a:xfrm>
          <a:prstGeom prst="roundRect">
            <a:avLst>
              <a:gd name="adj" fmla="val 10039"/>
            </a:avLst>
          </a:prstGeom>
          <a:solidFill>
            <a:srgbClr val="0D1117">
              <a:alpha val="70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099149" y="3581995"/>
            <a:ext cx="546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650" dirty="0"/>
          </a:p>
        </p:txBody>
      </p:sp>
      <p:sp>
        <p:nvSpPr>
          <p:cNvPr id="40" name="Text 34"/>
          <p:cNvSpPr/>
          <p:nvPr/>
        </p:nvSpPr>
        <p:spPr>
          <a:xfrm>
            <a:off x="5198566" y="3581995"/>
            <a:ext cx="131050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alias -- bash</a:t>
            </a:r>
            <a:endParaRPr lang="en-US" sz="650" dirty="0"/>
          </a:p>
        </p:txBody>
      </p:sp>
      <p:sp>
        <p:nvSpPr>
          <p:cNvPr id="41" name="Text 35"/>
          <p:cNvSpPr/>
          <p:nvPr/>
        </p:nvSpPr>
        <p:spPr>
          <a:xfrm>
            <a:off x="5099149" y="3714155"/>
            <a:ext cx="27307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</a:t>
            </a:r>
            <a:endParaRPr lang="en-US" sz="650" dirty="0"/>
          </a:p>
        </p:txBody>
      </p:sp>
      <p:sp>
        <p:nvSpPr>
          <p:cNvPr id="42" name="Text 36"/>
          <p:cNvSpPr/>
          <p:nvPr/>
        </p:nvSpPr>
        <p:spPr>
          <a:xfrm>
            <a:off x="5397103" y="3714155"/>
            <a:ext cx="125599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alias -- zsh</a:t>
            </a:r>
            <a:endParaRPr lang="en-US" sz="650" dirty="0"/>
          </a:p>
        </p:txBody>
      </p:sp>
      <p:sp>
        <p:nvSpPr>
          <p:cNvPr id="43" name="Text 37"/>
          <p:cNvSpPr/>
          <p:nvPr/>
        </p:nvSpPr>
        <p:spPr>
          <a:xfrm>
            <a:off x="400050" y="4049316"/>
            <a:ext cx="3842891" cy="716459"/>
          </a:xfrm>
          <a:prstGeom prst="roundRect">
            <a:avLst>
              <a:gd name="adj" fmla="val 9927"/>
            </a:avLst>
          </a:prstGeom>
          <a:gradFill rotWithShape="1">
            <a:gsLst>
              <a:gs pos="0">
                <a:srgbClr val="7C3AED">
                  <a:alpha val="8000"/>
                </a:srgbClr>
              </a:gs>
              <a:gs pos="100000">
                <a:srgbClr val="161B22"/>
              </a:gs>
            </a:gsLst>
            <a:lin ang="2700000" scaled="1"/>
          </a:gradFill>
          <a:ln w="9525">
            <a:solidFill>
              <a:srgbClr val="7C3AED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2744153" y="4145161"/>
            <a:ext cx="125664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Using Copilot CLI</a:t>
            </a:r>
            <a:endParaRPr lang="en-US" sz="790" dirty="0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15243" y="4154100"/>
            <a:ext cx="132588" cy="13258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2232868" y="4331047"/>
            <a:ext cx="1886248" cy="354211"/>
          </a:xfrm>
          <a:prstGeom prst="roundRect">
            <a:avLst>
              <a:gd name="adj" fmla="val 10039"/>
            </a:avLst>
          </a:prstGeom>
          <a:solidFill>
            <a:srgbClr val="0D1117">
              <a:alpha val="70000"/>
            </a:srgbClr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2302163" y="4385518"/>
            <a:ext cx="546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650" dirty="0"/>
          </a:p>
        </p:txBody>
      </p:sp>
      <p:sp>
        <p:nvSpPr>
          <p:cNvPr id="48" name="Text 41"/>
          <p:cNvSpPr/>
          <p:nvPr/>
        </p:nvSpPr>
        <p:spPr>
          <a:xfrm>
            <a:off x="2317194" y="4385518"/>
            <a:ext cx="98292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</a:t>
            </a:r>
            <a:endParaRPr lang="en-US" sz="650" dirty="0"/>
          </a:p>
        </p:txBody>
      </p:sp>
      <p:sp>
        <p:nvSpPr>
          <p:cNvPr id="49" name="Text 42"/>
          <p:cNvSpPr/>
          <p:nvPr/>
        </p:nvSpPr>
        <p:spPr>
          <a:xfrm>
            <a:off x="3280321" y="4385518"/>
            <a:ext cx="76453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request"</a:t>
            </a:r>
            <a:endParaRPr lang="en-US" sz="650" dirty="0"/>
          </a:p>
        </p:txBody>
      </p:sp>
      <p:sp>
        <p:nvSpPr>
          <p:cNvPr id="50" name="Text 43"/>
          <p:cNvSpPr/>
          <p:nvPr/>
        </p:nvSpPr>
        <p:spPr>
          <a:xfrm>
            <a:off x="2550408" y="4517678"/>
            <a:ext cx="54679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650" dirty="0"/>
          </a:p>
        </p:txBody>
      </p:sp>
      <p:sp>
        <p:nvSpPr>
          <p:cNvPr id="51" name="Text 44"/>
          <p:cNvSpPr/>
          <p:nvPr/>
        </p:nvSpPr>
        <p:spPr>
          <a:xfrm>
            <a:off x="2565440" y="4517678"/>
            <a:ext cx="98292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explain</a:t>
            </a:r>
            <a:endParaRPr lang="en-US" sz="650" dirty="0"/>
          </a:p>
        </p:txBody>
      </p:sp>
      <p:sp>
        <p:nvSpPr>
          <p:cNvPr id="52" name="Text 45"/>
          <p:cNvSpPr/>
          <p:nvPr/>
        </p:nvSpPr>
        <p:spPr>
          <a:xfrm>
            <a:off x="3553391" y="4517678"/>
            <a:ext cx="49146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"command"</a:t>
            </a:r>
            <a:endParaRPr lang="en-US" sz="650" dirty="0"/>
          </a:p>
        </p:txBody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0261" y="4867135"/>
            <a:ext cx="132588" cy="13258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2880717" y="4866829"/>
            <a:ext cx="3851627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active GitHub Copilot subscription — Individual, Business, or Enterprise</a:t>
            </a:r>
            <a:endParaRPr lang="en-US" sz="700" dirty="0"/>
          </a:p>
        </p:txBody>
      </p:sp>
      <p:sp>
        <p:nvSpPr>
          <p:cNvPr id="55" name="Text 47"/>
          <p:cNvSpPr/>
          <p:nvPr/>
        </p:nvSpPr>
        <p:spPr>
          <a:xfrm>
            <a:off x="4241006" y="1136005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8"/>
          <p:cNvSpPr/>
          <p:nvPr/>
        </p:nvSpPr>
        <p:spPr>
          <a:xfrm>
            <a:off x="4845814" y="1939677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4241006" y="2743200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4845814" y="3546872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4241006" y="4350395"/>
            <a:ext cx="57150" cy="114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2"/>
          <p:cNvSpPr/>
          <p:nvPr/>
        </p:nvSpPr>
        <p:spPr>
          <a:xfrm>
            <a:off x="4565079" y="857250"/>
            <a:ext cx="13841" cy="38862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">
                <a:srgbClr val="7C3AED"/>
              </a:gs>
              <a:gs pos="95000">
                <a:srgbClr val="7C3AED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3"/>
          <p:cNvSpPr/>
          <p:nvPr/>
        </p:nvSpPr>
        <p:spPr>
          <a:xfrm>
            <a:off x="4443115" y="1064270"/>
            <a:ext cx="257770" cy="283547"/>
          </a:xfrm>
          <a:prstGeom prst="ellipse">
            <a:avLst/>
          </a:prstGeom>
          <a:solidFill>
            <a:srgbClr val="0D1117"/>
          </a:solidFill>
          <a:ln w="9525">
            <a:solidFill>
              <a:srgbClr val="7C3AED"/>
            </a:solidFill>
          </a:ln>
          <a:effectLst>
            <a:outerShdw blurRad="114300" dist="50800" dir="16200000" algn="bl" rotWithShape="0">
              <a:srgbClr val="7C3AED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790" dirty="0"/>
          </a:p>
        </p:txBody>
      </p:sp>
      <p:sp>
        <p:nvSpPr>
          <p:cNvPr id="62" name="Text 54"/>
          <p:cNvSpPr/>
          <p:nvPr/>
        </p:nvSpPr>
        <p:spPr>
          <a:xfrm>
            <a:off x="4443115" y="1867942"/>
            <a:ext cx="257770" cy="283547"/>
          </a:xfrm>
          <a:prstGeom prst="ellipse">
            <a:avLst/>
          </a:prstGeom>
          <a:solidFill>
            <a:srgbClr val="0D1117"/>
          </a:solidFill>
          <a:ln w="9525">
            <a:solidFill>
              <a:srgbClr val="7C3AED"/>
            </a:solidFill>
          </a:ln>
          <a:effectLst>
            <a:outerShdw blurRad="114300" dist="50800" dir="16200000" algn="bl" rotWithShape="0">
              <a:srgbClr val="7C3AED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790" dirty="0"/>
          </a:p>
        </p:txBody>
      </p:sp>
      <p:sp>
        <p:nvSpPr>
          <p:cNvPr id="63" name="Text 55"/>
          <p:cNvSpPr/>
          <p:nvPr/>
        </p:nvSpPr>
        <p:spPr>
          <a:xfrm>
            <a:off x="4443115" y="2671465"/>
            <a:ext cx="257770" cy="283547"/>
          </a:xfrm>
          <a:prstGeom prst="ellipse">
            <a:avLst/>
          </a:prstGeom>
          <a:solidFill>
            <a:srgbClr val="0D1117"/>
          </a:solidFill>
          <a:ln w="9525">
            <a:solidFill>
              <a:srgbClr val="7C3AED"/>
            </a:solidFill>
          </a:ln>
          <a:effectLst>
            <a:outerShdw blurRad="114300" dist="50800" dir="16200000" algn="bl" rotWithShape="0">
              <a:srgbClr val="7C3AED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790" dirty="0"/>
          </a:p>
        </p:txBody>
      </p:sp>
      <p:sp>
        <p:nvSpPr>
          <p:cNvPr id="64" name="Text 56"/>
          <p:cNvSpPr/>
          <p:nvPr/>
        </p:nvSpPr>
        <p:spPr>
          <a:xfrm>
            <a:off x="4443115" y="3475137"/>
            <a:ext cx="257770" cy="283547"/>
          </a:xfrm>
          <a:prstGeom prst="ellipse">
            <a:avLst/>
          </a:prstGeom>
          <a:solidFill>
            <a:srgbClr val="0D1117"/>
          </a:solidFill>
          <a:ln w="9525">
            <a:solidFill>
              <a:srgbClr val="7C3AED"/>
            </a:solidFill>
          </a:ln>
          <a:effectLst>
            <a:outerShdw blurRad="114300" dist="50800" dir="16200000" algn="bl" rotWithShape="0">
              <a:srgbClr val="7C3AED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790" dirty="0"/>
          </a:p>
        </p:txBody>
      </p:sp>
      <p:sp>
        <p:nvSpPr>
          <p:cNvPr id="65" name="Text 57"/>
          <p:cNvSpPr/>
          <p:nvPr/>
        </p:nvSpPr>
        <p:spPr>
          <a:xfrm>
            <a:off x="4443115" y="4278660"/>
            <a:ext cx="257770" cy="257770"/>
          </a:xfrm>
          <a:prstGeom prst="ellipse">
            <a:avLst/>
          </a:prstGeom>
          <a:solidFill>
            <a:srgbClr val="7C3AED"/>
          </a:solidFill>
          <a:ln w="9525">
            <a:solidFill>
              <a:srgbClr val="A78BFA"/>
            </a:solidFill>
          </a:ln>
          <a:effectLst>
            <a:outerShdw blurRad="171450" dist="50800" dir="16200000" algn="bl" rotWithShape="0">
              <a:srgbClr val="7C3AED">
                <a:alpha val="7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05706" y="434125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A855F7"/>
              </a:gs>
              <a:gs pos="100000">
                <a:srgbClr val="6366F1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179040"/>
            <a:ext cx="2737918" cy="26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spcAft>
                <a:spcPts val="230"/>
              </a:spcAft>
              <a:buNone/>
            </a:pPr>
            <a:r>
              <a:rPr lang="en-US" sz="1910" kern="0" spc="-3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00050" y="475059"/>
            <a:ext cx="202575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</a:t>
            </a:r>
            <a:r>
              <a:rPr lang="en-US" sz="96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Shell Command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7835950" y="304949"/>
            <a:ext cx="908000" cy="210860"/>
          </a:xfrm>
          <a:prstGeom prst="roundRect">
            <a:avLst>
              <a:gd name="adj" fmla="val 13853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COMMAND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7821364" y="539800"/>
            <a:ext cx="101484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Copilot CLI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00050" y="758130"/>
            <a:ext cx="8343900" cy="759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893862"/>
            <a:ext cx="4121795" cy="1303883"/>
          </a:xfrm>
          <a:prstGeom prst="roundRect">
            <a:avLst>
              <a:gd name="adj" fmla="val 5454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7035" y="1046857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552" y="1109374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1126" y="1084362"/>
            <a:ext cx="82805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It Does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567035" y="1375618"/>
            <a:ext cx="3863581" cy="70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your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request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a working shell command. Supports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zsh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just describe what you want, and Copilot figures out the rest.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3129707" y="2010519"/>
            <a:ext cx="142592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7C3AED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natural-language → command</a:t>
            </a:r>
            <a:endParaRPr lang="en-US" sz="560" dirty="0"/>
          </a:p>
        </p:txBody>
      </p:sp>
      <p:sp>
        <p:nvSpPr>
          <p:cNvPr id="14" name="Text 11"/>
          <p:cNvSpPr/>
          <p:nvPr/>
        </p:nvSpPr>
        <p:spPr>
          <a:xfrm>
            <a:off x="4622155" y="893862"/>
            <a:ext cx="4121795" cy="1303883"/>
          </a:xfrm>
          <a:prstGeom prst="roundRect">
            <a:avLst>
              <a:gd name="adj" fmla="val 5454"/>
            </a:avLst>
          </a:prstGeom>
          <a:solidFill>
            <a:srgbClr val="12111A"/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789140" y="1046857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657" y="1109374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33231" y="1084362"/>
            <a:ext cx="56103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</a:t>
            </a:r>
            <a:endParaRPr lang="en-US" sz="960" dirty="0"/>
          </a:p>
        </p:txBody>
      </p:sp>
      <p:sp>
        <p:nvSpPr>
          <p:cNvPr id="18" name="Text 14"/>
          <p:cNvSpPr/>
          <p:nvPr/>
        </p:nvSpPr>
        <p:spPr>
          <a:xfrm>
            <a:off x="4789140" y="1375618"/>
            <a:ext cx="3787825" cy="669131"/>
          </a:xfrm>
          <a:prstGeom prst="roundRect">
            <a:avLst>
              <a:gd name="adj" fmla="val 6453"/>
            </a:avLst>
          </a:prstGeom>
          <a:solidFill>
            <a:srgbClr val="0A0A0F"/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898975" y="1456134"/>
            <a:ext cx="58936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4995714" y="1456134"/>
            <a:ext cx="3540844" cy="279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 "find all .log files modified in the last 7 days and delete them"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4898975" y="1771948"/>
            <a:ext cx="3639517" cy="192286"/>
          </a:xfrm>
          <a:prstGeom prst="rect">
            <a:avLst/>
          </a:prstGeom>
          <a:noFill/>
          <a:ln/>
        </p:spPr>
        <p:txBody>
          <a:bodyPr wrap="none" lIns="0" tIns="4953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Suggestion:</a:t>
            </a:r>
            <a:endParaRPr lang="en-US" sz="650" dirty="0"/>
          </a:p>
          <a:p>
            <a:pPr marL="0" indent="0" algn="l"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"*.log" -mtime -7 -delete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4898975" y="1771948"/>
            <a:ext cx="3568154" cy="9525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8046244" y="2010519"/>
            <a:ext cx="66204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7C3AED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live →</a:t>
            </a:r>
            <a:endParaRPr lang="en-US" sz="560" dirty="0"/>
          </a:p>
        </p:txBody>
      </p:sp>
      <p:sp>
        <p:nvSpPr>
          <p:cNvPr id="24" name="Text 20"/>
          <p:cNvSpPr/>
          <p:nvPr/>
        </p:nvSpPr>
        <p:spPr>
          <a:xfrm>
            <a:off x="400050" y="2298055"/>
            <a:ext cx="4121795" cy="1303883"/>
          </a:xfrm>
          <a:prstGeom prst="roundRect">
            <a:avLst>
              <a:gd name="adj" fmla="val 5454"/>
            </a:avLst>
          </a:prstGeom>
          <a:solidFill>
            <a:srgbClr val="161B22"/>
          </a:solidFill>
          <a:ln w="9525">
            <a:solidFill>
              <a:srgbClr val="3FB95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67035" y="245105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3FB950">
              <a:alpha val="12000"/>
            </a:srgbClr>
          </a:solidFill>
          <a:ln w="9525">
            <a:solidFill>
              <a:srgbClr val="3FB950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552" y="2513567"/>
            <a:ext cx="132588" cy="1325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1126" y="2488555"/>
            <a:ext cx="74635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3FB95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Safety First</a:t>
            </a:r>
            <a:endParaRPr lang="en-US" sz="960" dirty="0"/>
          </a:p>
        </p:txBody>
      </p:sp>
      <p:sp>
        <p:nvSpPr>
          <p:cNvPr id="28" name="Text 23"/>
          <p:cNvSpPr/>
          <p:nvPr/>
        </p:nvSpPr>
        <p:spPr>
          <a:xfrm>
            <a:off x="567035" y="2779812"/>
            <a:ext cx="3863581" cy="42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asks for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before executing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any command — you stay in full control. Copilot explains what the command will do before you run it.</a:t>
            </a:r>
            <a:endParaRPr lang="en-US" sz="840" dirty="0"/>
          </a:p>
        </p:txBody>
      </p:sp>
      <p:sp>
        <p:nvSpPr>
          <p:cNvPr id="29" name="Text 24"/>
          <p:cNvSpPr/>
          <p:nvPr/>
        </p:nvSpPr>
        <p:spPr>
          <a:xfrm>
            <a:off x="567035" y="3272730"/>
            <a:ext cx="1219902" cy="176213"/>
          </a:xfrm>
          <a:prstGeom prst="roundRect">
            <a:avLst>
              <a:gd name="adj" fmla="val 81441"/>
            </a:avLst>
          </a:prstGeom>
          <a:solidFill>
            <a:srgbClr val="3FB950">
              <a:alpha val="10000"/>
            </a:srgbClr>
          </a:solidFill>
          <a:ln w="9525">
            <a:solidFill>
              <a:srgbClr val="3FB950">
                <a:alpha val="30000"/>
              </a:srgbClr>
            </a:solidFill>
          </a:ln>
        </p:spPr>
        <p:txBody>
          <a:bodyPr wrap="none" lIns="143480" tIns="13970" rIns="71120" bIns="13970" rtlCol="0" anchor="ctr"/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execute</a:t>
            </a:r>
            <a:endParaRPr lang="en-US" sz="68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796" y="3294468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622155" y="2298055"/>
            <a:ext cx="4121795" cy="1303883"/>
          </a:xfrm>
          <a:prstGeom prst="roundRect">
            <a:avLst>
              <a:gd name="adj" fmla="val 5454"/>
            </a:avLst>
          </a:prstGeom>
          <a:solidFill>
            <a:srgbClr val="161B2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789140" y="245105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6366F1">
              <a:alpha val="12000"/>
            </a:srgbClr>
          </a:solidFill>
          <a:ln w="9525">
            <a:solidFill>
              <a:srgbClr val="6366F1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51657" y="2513567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133231" y="2488555"/>
            <a:ext cx="740137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Quick Alias</a:t>
            </a:r>
            <a:endParaRPr lang="en-US" sz="960" dirty="0"/>
          </a:p>
        </p:txBody>
      </p:sp>
      <p:sp>
        <p:nvSpPr>
          <p:cNvPr id="35" name="Text 28"/>
          <p:cNvSpPr/>
          <p:nvPr/>
        </p:nvSpPr>
        <p:spPr>
          <a:xfrm>
            <a:off x="4789140" y="2779812"/>
            <a:ext cx="587871" cy="305157"/>
          </a:xfrm>
          <a:prstGeom prst="roundRect">
            <a:avLst>
              <a:gd name="adj" fmla="val 14150"/>
            </a:avLst>
          </a:prstGeom>
          <a:solidFill>
            <a:srgbClr val="6366F1">
              <a:alpha val="12000"/>
            </a:srgbClr>
          </a:solidFill>
          <a:ln w="9525">
            <a:solidFill>
              <a:srgbClr val="6366F1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</a:t>
            </a:r>
            <a:endParaRPr lang="en-US" sz="1130" dirty="0"/>
          </a:p>
        </p:txBody>
      </p:sp>
      <p:sp>
        <p:nvSpPr>
          <p:cNvPr id="36" name="Text 29"/>
          <p:cNvSpPr/>
          <p:nvPr/>
        </p:nvSpPr>
        <p:spPr>
          <a:xfrm>
            <a:off x="5463332" y="2849017"/>
            <a:ext cx="12261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gh copilot suggest</a:t>
            </a:r>
            <a:endParaRPr lang="en-US" sz="730" dirty="0"/>
          </a:p>
        </p:txBody>
      </p:sp>
      <p:sp>
        <p:nvSpPr>
          <p:cNvPr id="37" name="Text 30"/>
          <p:cNvSpPr/>
          <p:nvPr/>
        </p:nvSpPr>
        <p:spPr>
          <a:xfrm>
            <a:off x="4789140" y="3143548"/>
            <a:ext cx="3863581" cy="315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5"/>
              </a:lnSpc>
              <a:spcBef>
                <a:spcPts val="230"/>
              </a:spcBef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79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</a:t>
            </a: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shorthand alias for faster daily use — set up once with </a:t>
            </a:r>
            <a:r>
              <a:rPr lang="en-US" sz="700" dirty="0">
                <a:solidFill>
                  <a:srgbClr val="C9D1D9"/>
                </a:solidFill>
                <a:highlight>
                  <a:srgbClr val="6366F1">
                    <a:alpha val="10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alias -- bash</a:t>
            </a: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it loads automatically.</a:t>
            </a:r>
            <a:endParaRPr lang="en-US" sz="790" dirty="0"/>
          </a:p>
        </p:txBody>
      </p:sp>
      <p:sp>
        <p:nvSpPr>
          <p:cNvPr id="38" name="Text 31"/>
          <p:cNvSpPr/>
          <p:nvPr/>
        </p:nvSpPr>
        <p:spPr>
          <a:xfrm>
            <a:off x="409575" y="903387"/>
            <a:ext cx="4102741" cy="13841"/>
          </a:xfrm>
          <a:custGeom>
            <a:avLst/>
            <a:gdLst/>
            <a:ahLst/>
            <a:cxnLst/>
            <a:rect l="l" t="t" r="r" b="b"/>
            <a:pathLst>
              <a:path w="4102741" h="13841">
                <a:moveTo>
                  <a:pt x="71120" y="0"/>
                </a:moveTo>
                <a:lnTo>
                  <a:pt x="4031621" y="0"/>
                </a:lnTo>
                <a:lnTo>
                  <a:pt x="4047213" y="1730"/>
                </a:lnTo>
                <a:lnTo>
                  <a:pt x="4053535" y="3460"/>
                </a:lnTo>
                <a:lnTo>
                  <a:pt x="4058292" y="5190"/>
                </a:lnTo>
                <a:lnTo>
                  <a:pt x="4062223" y="6920"/>
                </a:lnTo>
                <a:lnTo>
                  <a:pt x="4065616" y="8651"/>
                </a:lnTo>
                <a:lnTo>
                  <a:pt x="4068619" y="10381"/>
                </a:lnTo>
                <a:lnTo>
                  <a:pt x="4071320" y="12111"/>
                </a:lnTo>
                <a:lnTo>
                  <a:pt x="407377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4631680" y="903387"/>
            <a:ext cx="4102741" cy="13841"/>
          </a:xfrm>
          <a:custGeom>
            <a:avLst/>
            <a:gdLst/>
            <a:ahLst/>
            <a:cxnLst/>
            <a:rect l="l" t="t" r="r" b="b"/>
            <a:pathLst>
              <a:path w="4102741" h="13841">
                <a:moveTo>
                  <a:pt x="71120" y="0"/>
                </a:moveTo>
                <a:lnTo>
                  <a:pt x="4031621" y="0"/>
                </a:lnTo>
                <a:lnTo>
                  <a:pt x="4047213" y="1730"/>
                </a:lnTo>
                <a:lnTo>
                  <a:pt x="4053535" y="3460"/>
                </a:lnTo>
                <a:lnTo>
                  <a:pt x="4058292" y="5190"/>
                </a:lnTo>
                <a:lnTo>
                  <a:pt x="4062223" y="6920"/>
                </a:lnTo>
                <a:lnTo>
                  <a:pt x="4065616" y="8651"/>
                </a:lnTo>
                <a:lnTo>
                  <a:pt x="4068619" y="10381"/>
                </a:lnTo>
                <a:lnTo>
                  <a:pt x="4071320" y="12111"/>
                </a:lnTo>
                <a:lnTo>
                  <a:pt x="407377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60000">
                <a:srgbClr val="A855F7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409575" y="2307580"/>
            <a:ext cx="4102741" cy="13841"/>
          </a:xfrm>
          <a:custGeom>
            <a:avLst/>
            <a:gdLst/>
            <a:ahLst/>
            <a:cxnLst/>
            <a:rect l="l" t="t" r="r" b="b"/>
            <a:pathLst>
              <a:path w="4102741" h="13841">
                <a:moveTo>
                  <a:pt x="71120" y="0"/>
                </a:moveTo>
                <a:lnTo>
                  <a:pt x="4031621" y="0"/>
                </a:lnTo>
                <a:lnTo>
                  <a:pt x="4047213" y="1730"/>
                </a:lnTo>
                <a:lnTo>
                  <a:pt x="4053535" y="3460"/>
                </a:lnTo>
                <a:lnTo>
                  <a:pt x="4058292" y="5190"/>
                </a:lnTo>
                <a:lnTo>
                  <a:pt x="4062223" y="6920"/>
                </a:lnTo>
                <a:lnTo>
                  <a:pt x="4065616" y="8651"/>
                </a:lnTo>
                <a:lnTo>
                  <a:pt x="4068619" y="10381"/>
                </a:lnTo>
                <a:lnTo>
                  <a:pt x="4071320" y="12111"/>
                </a:lnTo>
                <a:lnTo>
                  <a:pt x="407377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3FB95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4631680" y="2307580"/>
            <a:ext cx="4102741" cy="13841"/>
          </a:xfrm>
          <a:custGeom>
            <a:avLst/>
            <a:gdLst/>
            <a:ahLst/>
            <a:cxnLst/>
            <a:rect l="l" t="t" r="r" b="b"/>
            <a:pathLst>
              <a:path w="4102741" h="13841">
                <a:moveTo>
                  <a:pt x="71120" y="0"/>
                </a:moveTo>
                <a:lnTo>
                  <a:pt x="4031621" y="0"/>
                </a:lnTo>
                <a:lnTo>
                  <a:pt x="4047213" y="1730"/>
                </a:lnTo>
                <a:lnTo>
                  <a:pt x="4053535" y="3460"/>
                </a:lnTo>
                <a:lnTo>
                  <a:pt x="4058292" y="5190"/>
                </a:lnTo>
                <a:lnTo>
                  <a:pt x="4062223" y="6920"/>
                </a:lnTo>
                <a:lnTo>
                  <a:pt x="4065616" y="8651"/>
                </a:lnTo>
                <a:lnTo>
                  <a:pt x="4068619" y="10381"/>
                </a:lnTo>
                <a:lnTo>
                  <a:pt x="4071320" y="12111"/>
                </a:lnTo>
                <a:lnTo>
                  <a:pt x="4073778" y="13841"/>
                </a:lnTo>
                <a:lnTo>
                  <a:pt x="28964" y="13841"/>
                </a:lnTo>
                <a:lnTo>
                  <a:pt x="31421" y="12111"/>
                </a:lnTo>
                <a:lnTo>
                  <a:pt x="34123" y="10381"/>
                </a:lnTo>
                <a:lnTo>
                  <a:pt x="37125" y="8651"/>
                </a:lnTo>
                <a:lnTo>
                  <a:pt x="40518" y="6920"/>
                </a:lnTo>
                <a:lnTo>
                  <a:pt x="44449" y="5190"/>
                </a:lnTo>
                <a:lnTo>
                  <a:pt x="49206" y="3460"/>
                </a:lnTo>
                <a:lnTo>
                  <a:pt x="55528" y="1730"/>
                </a:lnTo>
                <a:close/>
              </a:path>
            </a:pathLst>
          </a:custGeom>
          <a:gradFill rotWithShape="1">
            <a:gsLst>
              <a:gs pos="0">
                <a:srgbClr val="6366F1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720" y="1572220"/>
            <a:ext cx="3571280" cy="3571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-70991" y="714375"/>
            <a:ext cx="2197618" cy="3714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0"/>
              </a:lnSpc>
              <a:buNone/>
            </a:pPr>
            <a:r>
              <a:rPr lang="en-US" sz="29250" b="1" kern="0" spc="-1130" dirty="0">
                <a:solidFill>
                  <a:srgbClr val="7C3AED">
                    <a:alpha val="6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29250" dirty="0"/>
          </a:p>
        </p:txBody>
      </p:sp>
      <p:sp>
        <p:nvSpPr>
          <p:cNvPr id="7" name="Text 3"/>
          <p:cNvSpPr/>
          <p:nvPr/>
        </p:nvSpPr>
        <p:spPr>
          <a:xfrm>
            <a:off x="7122021" y="714375"/>
            <a:ext cx="2197618" cy="3714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0"/>
              </a:lnSpc>
              <a:buNone/>
            </a:pPr>
            <a:r>
              <a:rPr lang="en-US" sz="29250" b="1" kern="0" spc="-1130" dirty="0">
                <a:solidFill>
                  <a:srgbClr val="7C3AED">
                    <a:alpha val="6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29250" dirty="0"/>
          </a:p>
        </p:txBody>
      </p:sp>
      <p:sp>
        <p:nvSpPr>
          <p:cNvPr id="8" name="Text 4"/>
          <p:cNvSpPr/>
          <p:nvPr/>
        </p:nvSpPr>
        <p:spPr>
          <a:xfrm>
            <a:off x="3743027" y="831354"/>
            <a:ext cx="1691104" cy="265361"/>
          </a:xfrm>
          <a:prstGeom prst="roundRect">
            <a:avLst>
              <a:gd name="adj" fmla="val 16272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lIns="279311" tIns="43180" rIns="128270" bIns="43180" rtlCol="0" anchor="ctr"/>
          <a:lstStyle/>
          <a:p>
            <a:pPr marL="0" indent="0" algn="l">
              <a:buNone/>
            </a:pPr>
            <a:r>
              <a:rPr lang="en-US" sz="840" kern="0" spc="34" dirty="0">
                <a:solidFill>
                  <a:srgbClr val="9D5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explain</a:t>
            </a:r>
            <a:endParaRPr lang="en-US" sz="84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54360" y="897740"/>
            <a:ext cx="132588" cy="132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33629" y="1197025"/>
            <a:ext cx="4876593" cy="4146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832"/>
              </a:lnSpc>
              <a:buNone/>
            </a:pPr>
            <a:r>
              <a:rPr lang="en-US" sz="5630" b="1" kern="0" spc="-24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2360" kern="0" spc="-24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does this command do?</a:t>
            </a:r>
            <a:r>
              <a:rPr lang="en-US" sz="5630" b="1" kern="0" spc="-24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2360" dirty="0"/>
          </a:p>
        </p:txBody>
      </p:sp>
      <p:sp>
        <p:nvSpPr>
          <p:cNvPr id="11" name="Text 6"/>
          <p:cNvSpPr/>
          <p:nvPr/>
        </p:nvSpPr>
        <p:spPr>
          <a:xfrm>
            <a:off x="4143375" y="1682651"/>
            <a:ext cx="857250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C3AE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143000" y="1824633"/>
            <a:ext cx="6858000" cy="1851422"/>
          </a:xfrm>
          <a:prstGeom prst="roundRect">
            <a:avLst>
              <a:gd name="adj" fmla="val 3087"/>
            </a:avLst>
          </a:prstGeom>
          <a:solidFill>
            <a:srgbClr val="0D1117"/>
          </a:solidFill>
          <a:ln w="9525">
            <a:solidFill>
              <a:srgbClr val="7C3AED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1152525" y="1834158"/>
            <a:ext cx="6838950" cy="28857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1152525" y="2113211"/>
            <a:ext cx="6838950" cy="9525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266825" y="1938189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394966" y="1938189"/>
            <a:ext cx="70991" cy="70991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1523107" y="1938189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708398" y="1908870"/>
            <a:ext cx="85604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terminal</a:t>
            </a:r>
            <a:endParaRPr lang="en-US" sz="680" dirty="0"/>
          </a:p>
        </p:txBody>
      </p:sp>
      <p:sp>
        <p:nvSpPr>
          <p:cNvPr id="19" name="Text 14"/>
          <p:cNvSpPr/>
          <p:nvPr/>
        </p:nvSpPr>
        <p:spPr>
          <a:xfrm>
            <a:off x="7526834" y="1891308"/>
            <a:ext cx="357348" cy="164753"/>
          </a:xfrm>
          <a:prstGeom prst="roundRect">
            <a:avLst>
              <a:gd name="adj" fmla="val 17730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71120" tIns="13970" rIns="71120" bIns="13970" rtlCol="0" anchor="t"/>
          <a:lstStyle/>
          <a:p>
            <a:pPr marL="0" indent="0" algn="l">
              <a:buNone/>
            </a:pPr>
            <a:r>
              <a:rPr lang="en-US" sz="620" dirty="0">
                <a:solidFill>
                  <a:srgbClr val="9D5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endParaRPr lang="en-US" sz="620" dirty="0"/>
          </a:p>
        </p:txBody>
      </p:sp>
      <p:sp>
        <p:nvSpPr>
          <p:cNvPr id="20" name="Text 15"/>
          <p:cNvSpPr/>
          <p:nvPr/>
        </p:nvSpPr>
        <p:spPr>
          <a:xfrm>
            <a:off x="4045893" y="2223046"/>
            <a:ext cx="9525" cy="1343174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1295995" y="2223046"/>
            <a:ext cx="2867070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2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TYPE:</a:t>
            </a:r>
            <a:endParaRPr lang="en-US" sz="620" dirty="0"/>
          </a:p>
        </p:txBody>
      </p:sp>
      <p:sp>
        <p:nvSpPr>
          <p:cNvPr id="22" name="Text 17"/>
          <p:cNvSpPr/>
          <p:nvPr/>
        </p:nvSpPr>
        <p:spPr>
          <a:xfrm>
            <a:off x="1295995" y="2409974"/>
            <a:ext cx="21580" cy="37207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7C3AED"/>
              </a:gs>
              <a:gs pos="100000">
                <a:srgbClr val="9D5FF5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1374725" y="2429024"/>
            <a:ext cx="6646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3"/>
              </a:lnSpc>
              <a:buNone/>
            </a:pPr>
            <a:r>
              <a:rPr lang="en-US" sz="790" b="1" dirty="0">
                <a:solidFill>
                  <a:srgbClr val="9D5F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790" dirty="0"/>
          </a:p>
        </p:txBody>
      </p:sp>
      <p:sp>
        <p:nvSpPr>
          <p:cNvPr id="24" name="Text 19"/>
          <p:cNvSpPr/>
          <p:nvPr/>
        </p:nvSpPr>
        <p:spPr>
          <a:xfrm>
            <a:off x="1495574" y="2429024"/>
            <a:ext cx="3316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3"/>
              </a:lnSpc>
              <a:buNone/>
            </a:pPr>
            <a:r>
              <a:rPr lang="en-US" sz="79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 </a:t>
            </a:r>
            <a:endParaRPr lang="en-US" sz="790" dirty="0"/>
          </a:p>
        </p:txBody>
      </p:sp>
      <p:sp>
        <p:nvSpPr>
          <p:cNvPr id="25" name="Text 20"/>
          <p:cNvSpPr/>
          <p:nvPr/>
        </p:nvSpPr>
        <p:spPr>
          <a:xfrm>
            <a:off x="1797100" y="2429024"/>
            <a:ext cx="3316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3"/>
              </a:lnSpc>
              <a:buNone/>
            </a:pPr>
            <a:r>
              <a:rPr lang="en-US" sz="79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"awk </a:t>
            </a:r>
            <a:endParaRPr lang="en-US" sz="790" dirty="0"/>
          </a:p>
        </p:txBody>
      </p:sp>
      <p:sp>
        <p:nvSpPr>
          <p:cNvPr id="26" name="Text 21"/>
          <p:cNvSpPr/>
          <p:nvPr/>
        </p:nvSpPr>
        <p:spPr>
          <a:xfrm>
            <a:off x="1374725" y="2429024"/>
            <a:ext cx="2337640" cy="293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3"/>
              </a:lnSpc>
              <a:buNone/>
            </a:pPr>
            <a:r>
              <a:rPr lang="en-US" sz="79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 sum += $1 } END { print sum }'</a:t>
            </a:r>
            <a:endParaRPr lang="en-US" sz="790" dirty="0"/>
          </a:p>
        </p:txBody>
      </p:sp>
      <p:sp>
        <p:nvSpPr>
          <p:cNvPr id="27" name="Text 22"/>
          <p:cNvSpPr/>
          <p:nvPr/>
        </p:nvSpPr>
        <p:spPr>
          <a:xfrm>
            <a:off x="1736675" y="2594521"/>
            <a:ext cx="66335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03"/>
              </a:lnSpc>
              <a:buNone/>
            </a:pPr>
            <a:r>
              <a:rPr lang="en-US" sz="79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data.txt"</a:t>
            </a:r>
            <a:endParaRPr lang="en-US" sz="790" dirty="0"/>
          </a:p>
        </p:txBody>
      </p:sp>
      <p:sp>
        <p:nvSpPr>
          <p:cNvPr id="28" name="Text 23"/>
          <p:cNvSpPr/>
          <p:nvPr/>
        </p:nvSpPr>
        <p:spPr>
          <a:xfrm>
            <a:off x="2353568" y="2611041"/>
            <a:ext cx="57150" cy="100310"/>
          </a:xfrm>
          <a:prstGeom prst="roundRect">
            <a:avLst>
              <a:gd name="adj" fmla="val 13333"/>
            </a:avLst>
          </a:prstGeom>
          <a:solidFill>
            <a:srgbClr val="9D5FF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1374725" y="2784128"/>
            <a:ext cx="278046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20" i="1" dirty="0">
                <a:solidFill>
                  <a:srgbClr val="7C3AED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shorthand for: gh copilot explain "…"</a:t>
            </a:r>
            <a:endParaRPr lang="en-US" sz="620" dirty="0"/>
          </a:p>
        </p:txBody>
      </p:sp>
      <p:sp>
        <p:nvSpPr>
          <p:cNvPr id="30" name="Text 25"/>
          <p:cNvSpPr/>
          <p:nvPr/>
        </p:nvSpPr>
        <p:spPr>
          <a:xfrm>
            <a:off x="4286994" y="2223046"/>
            <a:ext cx="99749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3"/>
              </a:lnSpc>
              <a:buNone/>
            </a:pPr>
            <a:r>
              <a:rPr lang="en-US" sz="620" kern="0" spc="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EXPLAINS:</a:t>
            </a:r>
            <a:endParaRPr lang="en-US" sz="62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2062" y="2221641"/>
            <a:ext cx="132588" cy="132588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67345" y="2392272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339382" y="2409974"/>
            <a:ext cx="3578796" cy="32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command </a:t>
            </a:r>
            <a:r>
              <a:rPr lang="en-US" sz="73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reads data.txt</a:t>
            </a: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sums all values in the first column.</a:t>
            </a:r>
            <a:endParaRPr lang="en-US" sz="73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67345" y="2719545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339382" y="2737247"/>
            <a:ext cx="3578796" cy="32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73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awk</a:t>
            </a: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processes the file line-by-line, adding each </a:t>
            </a:r>
            <a:r>
              <a:rPr lang="en-US" sz="73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</a:t>
            </a: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(first field) to </a:t>
            </a:r>
            <a:r>
              <a:rPr lang="en-US" sz="73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73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67345" y="3046818"/>
            <a:ext cx="132588" cy="132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339382" y="3064520"/>
            <a:ext cx="3578796" cy="32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73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{ print sum }</a:t>
            </a: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runs after all lines are read, printing the total.</a:t>
            </a:r>
            <a:endParaRPr lang="en-US" sz="73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67345" y="3374091"/>
            <a:ext cx="132588" cy="13258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339382" y="3391793"/>
            <a:ext cx="3801368" cy="152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04"/>
              </a:lnSpc>
              <a:buNone/>
            </a:pP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a single number — the </a:t>
            </a:r>
            <a:r>
              <a:rPr lang="en-US" sz="73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of column 1</a:t>
            </a:r>
            <a:r>
              <a:rPr lang="en-US" sz="73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across all rows.</a:t>
            </a:r>
            <a:endParaRPr lang="en-US" sz="730" dirty="0"/>
          </a:p>
        </p:txBody>
      </p:sp>
      <p:sp>
        <p:nvSpPr>
          <p:cNvPr id="40" name="Text 30"/>
          <p:cNvSpPr/>
          <p:nvPr/>
        </p:nvSpPr>
        <p:spPr>
          <a:xfrm>
            <a:off x="1795626" y="3790355"/>
            <a:ext cx="5552748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Demystify complex commands instantly. Great for </a:t>
            </a:r>
            <a:r>
              <a:rPr lang="en-US" sz="10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learning</a:t>
            </a:r>
            <a:r>
              <a:rPr lang="en-US" sz="101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</a:t>
            </a:r>
            <a:r>
              <a:rPr lang="en-US" sz="10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onboarding</a:t>
            </a:r>
            <a:r>
              <a:rPr lang="en-US" sz="101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and </a:t>
            </a:r>
            <a:r>
              <a:rPr lang="en-US" sz="101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review</a:t>
            </a:r>
            <a:r>
              <a:rPr lang="en-US" sz="101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</a:t>
            </a:r>
            <a:endParaRPr lang="en-US" sz="1010" dirty="0"/>
          </a:p>
        </p:txBody>
      </p:sp>
      <p:sp>
        <p:nvSpPr>
          <p:cNvPr id="41" name="Text 31"/>
          <p:cNvSpPr/>
          <p:nvPr/>
        </p:nvSpPr>
        <p:spPr>
          <a:xfrm>
            <a:off x="2194620" y="4083100"/>
            <a:ext cx="4754761" cy="228898"/>
          </a:xfrm>
          <a:prstGeom prst="roundRect">
            <a:avLst>
              <a:gd name="adj" fmla="val 18864"/>
            </a:avLst>
          </a:prstGeom>
          <a:solidFill>
            <a:srgbClr val="3FB950">
              <a:alpha val="8000"/>
            </a:srgbClr>
          </a:solidFill>
          <a:ln w="9525">
            <a:solidFill>
              <a:srgbClr val="3FB950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2"/>
          <p:cNvSpPr/>
          <p:nvPr/>
        </p:nvSpPr>
        <p:spPr>
          <a:xfrm>
            <a:off x="2431107" y="4137571"/>
            <a:ext cx="24523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endParaRPr lang="en-US" sz="730" dirty="0"/>
          </a:p>
        </p:txBody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72912" y="4131180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2740372" y="4128046"/>
            <a:ext cx="3405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730" dirty="0"/>
          </a:p>
        </p:txBody>
      </p:sp>
      <p:sp>
        <p:nvSpPr>
          <p:cNvPr id="45" name="Text 34"/>
          <p:cNvSpPr/>
          <p:nvPr/>
        </p:nvSpPr>
        <p:spPr>
          <a:xfrm>
            <a:off x="2857649" y="4128046"/>
            <a:ext cx="43800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aliased as ghce for quick access — set it up once with gh copilot alias -- bash</a:t>
            </a:r>
            <a:endParaRPr lang="en-US" sz="730" dirty="0"/>
          </a:p>
        </p:txBody>
      </p:sp>
      <p:sp>
        <p:nvSpPr>
          <p:cNvPr id="46" name="Text 35"/>
          <p:cNvSpPr/>
          <p:nvPr/>
        </p:nvSpPr>
        <p:spPr>
          <a:xfrm>
            <a:off x="3503000" y="4129980"/>
            <a:ext cx="315450" cy="119955"/>
          </a:xfrm>
          <a:prstGeom prst="roundRect">
            <a:avLst>
              <a:gd name="adj" fmla="val 17998"/>
            </a:avLst>
          </a:prstGeom>
          <a:solidFill>
            <a:srgbClr val="3FB950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endParaRPr lang="en-US" sz="730" dirty="0"/>
          </a:p>
        </p:txBody>
      </p:sp>
      <p:sp>
        <p:nvSpPr>
          <p:cNvPr id="47" name="Text 36"/>
          <p:cNvSpPr/>
          <p:nvPr/>
        </p:nvSpPr>
        <p:spPr>
          <a:xfrm>
            <a:off x="5401318" y="4129980"/>
            <a:ext cx="1452467" cy="119955"/>
          </a:xfrm>
          <a:prstGeom prst="roundRect">
            <a:avLst>
              <a:gd name="adj" fmla="val 17998"/>
            </a:avLst>
          </a:prstGeom>
          <a:solidFill>
            <a:srgbClr val="3FB950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alias -- bash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7220" y="0"/>
            <a:ext cx="1856780" cy="1856780"/>
          </a:xfrm>
          <a:prstGeom prst="ellipse">
            <a:avLst/>
          </a:prstGeom>
          <a:gradFill rotWithShape="1">
            <a:gsLst>
              <a:gs pos="0">
                <a:srgbClr val="7C3AED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28750" y="3857030"/>
            <a:ext cx="1857970" cy="1286470"/>
          </a:xfrm>
          <a:prstGeom prst="ellipse">
            <a:avLst/>
          </a:prstGeom>
          <a:gradFill rotWithShape="1">
            <a:gsLst>
              <a:gs pos="0">
                <a:srgbClr val="7C3AED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5585" y="993130"/>
            <a:ext cx="6723459" cy="415231"/>
          </a:xfrm>
          <a:prstGeom prst="roundRect">
            <a:avLst>
              <a:gd name="adj" fmla="val 17128"/>
            </a:avLst>
          </a:prstGeom>
          <a:gradFill rotWithShape="1">
            <a:gsLst>
              <a:gs pos="0">
                <a:srgbClr val="7C3AED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95585" y="1492151"/>
            <a:ext cx="6723459" cy="415231"/>
          </a:xfrm>
          <a:prstGeom prst="roundRect">
            <a:avLst>
              <a:gd name="adj" fmla="val 17128"/>
            </a:avLst>
          </a:prstGeom>
          <a:gradFill rotWithShape="1">
            <a:gsLst>
              <a:gs pos="0">
                <a:srgbClr val="7C3AED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5585" y="1991171"/>
            <a:ext cx="6723459" cy="415231"/>
          </a:xfrm>
          <a:prstGeom prst="roundRect">
            <a:avLst>
              <a:gd name="adj" fmla="val 17128"/>
            </a:avLst>
          </a:prstGeom>
          <a:gradFill rotWithShape="1">
            <a:gsLst>
              <a:gs pos="0">
                <a:srgbClr val="7C3AED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5585" y="2490192"/>
            <a:ext cx="6723459" cy="415231"/>
          </a:xfrm>
          <a:prstGeom prst="roundRect">
            <a:avLst>
              <a:gd name="adj" fmla="val 17128"/>
            </a:avLst>
          </a:prstGeom>
          <a:gradFill rotWithShape="1">
            <a:gsLst>
              <a:gs pos="0">
                <a:srgbClr val="7C3AED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5585" y="2989213"/>
            <a:ext cx="6723459" cy="415231"/>
          </a:xfrm>
          <a:prstGeom prst="roundRect">
            <a:avLst>
              <a:gd name="adj" fmla="val 17128"/>
            </a:avLst>
          </a:prstGeom>
          <a:gradFill rotWithShape="1">
            <a:gsLst>
              <a:gs pos="0">
                <a:srgbClr val="7C3AED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43160" cy="51435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6060" y="299591"/>
            <a:ext cx="28575" cy="555873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2776" y="299591"/>
            <a:ext cx="2970417" cy="296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35"/>
              </a:lnSpc>
              <a:spcAft>
                <a:spcPts val="340"/>
              </a:spcAft>
              <a:buNone/>
            </a:pPr>
            <a:r>
              <a:rPr lang="en-US" sz="203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Demo: </a:t>
            </a:r>
            <a:r>
              <a:rPr lang="en-US" sz="2030" b="1" kern="0" spc="-30" dirty="0">
                <a:solidFill>
                  <a:srgbClr val="9F67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suggest</a:t>
            </a:r>
            <a:r>
              <a:rPr lang="en-US" sz="203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Action</a:t>
            </a:r>
            <a:endParaRPr lang="en-US" sz="2030" dirty="0"/>
          </a:p>
        </p:txBody>
      </p:sp>
      <p:sp>
        <p:nvSpPr>
          <p:cNvPr id="14" name="Text 12"/>
          <p:cNvSpPr/>
          <p:nvPr/>
        </p:nvSpPr>
        <p:spPr>
          <a:xfrm>
            <a:off x="542776" y="639068"/>
            <a:ext cx="2384093" cy="216396"/>
          </a:xfrm>
          <a:prstGeom prst="roundRect">
            <a:avLst>
              <a:gd name="adj" fmla="val 66318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208250" tIns="29210" rIns="100330" bIns="29210" rtlCol="0" anchor="ctr"/>
          <a:lstStyle/>
          <a:p>
            <a:pPr marL="0" indent="0" algn="l">
              <a:buNone/>
            </a:pPr>
            <a:r>
              <a:rPr lang="en-US" sz="730" b="1" kern="0" spc="22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scenarios you can try right now</a:t>
            </a:r>
            <a:endParaRPr lang="en-US" sz="73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87" y="680898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84664" y="342751"/>
            <a:ext cx="1243905" cy="219373"/>
          </a:xfrm>
          <a:prstGeom prst="roundRect">
            <a:avLst>
              <a:gd name="adj" fmla="val 19683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51794" y="386069"/>
            <a:ext cx="132588" cy="132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98828" y="387697"/>
            <a:ext cx="10272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</a:t>
            </a:r>
            <a:endParaRPr lang="en-US" sz="680" dirty="0"/>
          </a:p>
        </p:txBody>
      </p:sp>
      <p:sp>
        <p:nvSpPr>
          <p:cNvPr id="19" name="Text 15"/>
          <p:cNvSpPr/>
          <p:nvPr/>
        </p:nvSpPr>
        <p:spPr>
          <a:xfrm>
            <a:off x="386060" y="983605"/>
            <a:ext cx="6742509" cy="434280"/>
          </a:xfrm>
          <a:prstGeom prst="roundRect">
            <a:avLst>
              <a:gd name="adj" fmla="val 16377"/>
            </a:avLst>
          </a:prstGeom>
          <a:solidFill>
            <a:srgbClr val="161B22"/>
          </a:solidFill>
          <a:ln w="9525">
            <a:solidFill>
              <a:srgbClr val="7C3AED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09885" y="1122015"/>
            <a:ext cx="157460" cy="173206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767655" y="107186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7C3AED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247" y="1134451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25736" y="1133177"/>
            <a:ext cx="6057960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b="1" dirty="0">
                <a:solidFill>
                  <a:srgbClr val="9F6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suggest </a:t>
            </a:r>
            <a:r>
              <a:rPr lang="en-US" sz="76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bash script to check for uncommitted changes and push if clean"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60" dirty="0"/>
          </a:p>
        </p:txBody>
      </p:sp>
      <p:sp>
        <p:nvSpPr>
          <p:cNvPr id="24" name="Text 19"/>
          <p:cNvSpPr/>
          <p:nvPr/>
        </p:nvSpPr>
        <p:spPr>
          <a:xfrm>
            <a:off x="6733282" y="1120080"/>
            <a:ext cx="276892" cy="161181"/>
          </a:xfrm>
          <a:prstGeom prst="roundRect">
            <a:avLst>
              <a:gd name="adj" fmla="val 22062"/>
            </a:avLst>
          </a:prstGeom>
          <a:solidFill>
            <a:srgbClr val="3FB950">
              <a:alpha val="10000"/>
            </a:srgbClr>
          </a:solidFill>
          <a:ln/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386060" y="1482626"/>
            <a:ext cx="6742509" cy="434280"/>
          </a:xfrm>
          <a:prstGeom prst="roundRect">
            <a:avLst>
              <a:gd name="adj" fmla="val 16377"/>
            </a:avLst>
          </a:prstGeom>
          <a:solidFill>
            <a:srgbClr val="161B22"/>
          </a:solidFill>
          <a:ln w="9525">
            <a:solidFill>
              <a:srgbClr val="7C3AED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09885" y="1621036"/>
            <a:ext cx="157460" cy="173206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27" name="Text 22"/>
          <p:cNvSpPr/>
          <p:nvPr/>
        </p:nvSpPr>
        <p:spPr>
          <a:xfrm>
            <a:off x="767655" y="1570881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7C3AED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247" y="1633472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25736" y="1632198"/>
            <a:ext cx="590177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b="1" dirty="0">
                <a:solidFill>
                  <a:srgbClr val="9F6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suggest </a:t>
            </a:r>
            <a:r>
              <a:rPr lang="en-US" sz="76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 all Docker containers and stop the ones with status Exited"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60" dirty="0"/>
          </a:p>
        </p:txBody>
      </p:sp>
      <p:sp>
        <p:nvSpPr>
          <p:cNvPr id="30" name="Text 24"/>
          <p:cNvSpPr/>
          <p:nvPr/>
        </p:nvSpPr>
        <p:spPr>
          <a:xfrm>
            <a:off x="6591300" y="1619101"/>
            <a:ext cx="421713" cy="161181"/>
          </a:xfrm>
          <a:prstGeom prst="roundRect">
            <a:avLst>
              <a:gd name="adj" fmla="val 22062"/>
            </a:avLst>
          </a:prstGeom>
          <a:solidFill>
            <a:srgbClr val="7C3AED">
              <a:alpha val="12000"/>
            </a:srgbClr>
          </a:solidFill>
          <a:ln/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9F6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</a:t>
            </a:r>
            <a:endParaRPr lang="en-US" sz="620" dirty="0"/>
          </a:p>
        </p:txBody>
      </p:sp>
      <p:sp>
        <p:nvSpPr>
          <p:cNvPr id="31" name="Text 25"/>
          <p:cNvSpPr/>
          <p:nvPr/>
        </p:nvSpPr>
        <p:spPr>
          <a:xfrm>
            <a:off x="386060" y="1981646"/>
            <a:ext cx="6742509" cy="434280"/>
          </a:xfrm>
          <a:prstGeom prst="roundRect">
            <a:avLst>
              <a:gd name="adj" fmla="val 16377"/>
            </a:avLst>
          </a:prstGeom>
          <a:solidFill>
            <a:srgbClr val="161B22"/>
          </a:solidFill>
          <a:ln w="9525">
            <a:solidFill>
              <a:srgbClr val="7C3AED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509885" y="2120057"/>
            <a:ext cx="157460" cy="173206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33" name="Text 27"/>
          <p:cNvSpPr/>
          <p:nvPr/>
        </p:nvSpPr>
        <p:spPr>
          <a:xfrm>
            <a:off x="767655" y="206990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7C3AED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247" y="2132493"/>
            <a:ext cx="132588" cy="132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25736" y="2131219"/>
            <a:ext cx="600589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b="1" dirty="0">
                <a:solidFill>
                  <a:srgbClr val="9F6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suggest </a:t>
            </a:r>
            <a:r>
              <a:rPr lang="en-US" sz="76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all node_modules folders and calculate total disk usage"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60" dirty="0"/>
          </a:p>
        </p:txBody>
      </p:sp>
      <p:sp>
        <p:nvSpPr>
          <p:cNvPr id="36" name="Text 29"/>
          <p:cNvSpPr/>
          <p:nvPr/>
        </p:nvSpPr>
        <p:spPr>
          <a:xfrm>
            <a:off x="6685955" y="2118122"/>
            <a:ext cx="325166" cy="161181"/>
          </a:xfrm>
          <a:prstGeom prst="roundRect">
            <a:avLst>
              <a:gd name="adj" fmla="val 22062"/>
            </a:avLst>
          </a:prstGeom>
          <a:solidFill>
            <a:srgbClr val="79C0FF">
              <a:alpha val="10000"/>
            </a:srgbClr>
          </a:solidFill>
          <a:ln/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</a:t>
            </a:r>
            <a:endParaRPr lang="en-US" sz="620" dirty="0"/>
          </a:p>
        </p:txBody>
      </p:sp>
      <p:sp>
        <p:nvSpPr>
          <p:cNvPr id="37" name="Text 30"/>
          <p:cNvSpPr/>
          <p:nvPr/>
        </p:nvSpPr>
        <p:spPr>
          <a:xfrm>
            <a:off x="386060" y="2480667"/>
            <a:ext cx="6742509" cy="434280"/>
          </a:xfrm>
          <a:prstGeom prst="roundRect">
            <a:avLst>
              <a:gd name="adj" fmla="val 16377"/>
            </a:avLst>
          </a:prstGeom>
          <a:solidFill>
            <a:srgbClr val="161B22"/>
          </a:solidFill>
          <a:ln w="9525">
            <a:solidFill>
              <a:srgbClr val="7C3AED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509885" y="2619077"/>
            <a:ext cx="157460" cy="173206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20" dirty="0"/>
          </a:p>
        </p:txBody>
      </p:sp>
      <p:sp>
        <p:nvSpPr>
          <p:cNvPr id="39" name="Text 32"/>
          <p:cNvSpPr/>
          <p:nvPr/>
        </p:nvSpPr>
        <p:spPr>
          <a:xfrm>
            <a:off x="767655" y="256892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7C3AED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247" y="2631513"/>
            <a:ext cx="132588" cy="13258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125736" y="2630239"/>
            <a:ext cx="600589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b="1" dirty="0">
                <a:solidFill>
                  <a:srgbClr val="9F6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suggest </a:t>
            </a:r>
            <a:r>
              <a:rPr lang="en-US" sz="76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 up a cron job to back up my Postgres database every night at 2am"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60" dirty="0"/>
          </a:p>
        </p:txBody>
      </p:sp>
      <p:sp>
        <p:nvSpPr>
          <p:cNvPr id="42" name="Text 34"/>
          <p:cNvSpPr/>
          <p:nvPr/>
        </p:nvSpPr>
        <p:spPr>
          <a:xfrm>
            <a:off x="6685955" y="2617143"/>
            <a:ext cx="325166" cy="161181"/>
          </a:xfrm>
          <a:prstGeom prst="roundRect">
            <a:avLst>
              <a:gd name="adj" fmla="val 22062"/>
            </a:avLst>
          </a:prstGeom>
          <a:solidFill>
            <a:srgbClr val="3FB950">
              <a:alpha val="10000"/>
            </a:srgbClr>
          </a:solidFill>
          <a:ln/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cron</a:t>
            </a:r>
            <a:endParaRPr lang="en-US" sz="620" dirty="0"/>
          </a:p>
        </p:txBody>
      </p:sp>
      <p:sp>
        <p:nvSpPr>
          <p:cNvPr id="43" name="Text 35"/>
          <p:cNvSpPr/>
          <p:nvPr/>
        </p:nvSpPr>
        <p:spPr>
          <a:xfrm>
            <a:off x="386060" y="2979688"/>
            <a:ext cx="6742509" cy="434280"/>
          </a:xfrm>
          <a:prstGeom prst="roundRect">
            <a:avLst>
              <a:gd name="adj" fmla="val 16377"/>
            </a:avLst>
          </a:prstGeom>
          <a:solidFill>
            <a:srgbClr val="161B22"/>
          </a:solidFill>
          <a:ln w="9525">
            <a:solidFill>
              <a:srgbClr val="7C3AED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509885" y="3118098"/>
            <a:ext cx="157460" cy="173206"/>
          </a:xfrm>
          <a:prstGeom prst="ellipse">
            <a:avLst/>
          </a:prstGeom>
          <a:solidFill>
            <a:srgbClr val="7C3AED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20" dirty="0"/>
          </a:p>
        </p:txBody>
      </p:sp>
      <p:sp>
        <p:nvSpPr>
          <p:cNvPr id="45" name="Text 37"/>
          <p:cNvSpPr/>
          <p:nvPr/>
        </p:nvSpPr>
        <p:spPr>
          <a:xfrm>
            <a:off x="767655" y="3067943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7C3AED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0247" y="3130534"/>
            <a:ext cx="132588" cy="132588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125736" y="3129260"/>
            <a:ext cx="5953839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b="1" dirty="0">
                <a:solidFill>
                  <a:srgbClr val="9F6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6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suggest </a:t>
            </a:r>
            <a:r>
              <a:rPr lang="en-US" sz="76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"rename all .jpeg files in current directory to .jpg"</a:t>
            </a:r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76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760" dirty="0"/>
          </a:p>
        </p:txBody>
      </p:sp>
      <p:sp>
        <p:nvSpPr>
          <p:cNvPr id="48" name="Text 39"/>
          <p:cNvSpPr/>
          <p:nvPr/>
        </p:nvSpPr>
        <p:spPr>
          <a:xfrm>
            <a:off x="6638627" y="3116163"/>
            <a:ext cx="373440" cy="161181"/>
          </a:xfrm>
          <a:prstGeom prst="roundRect">
            <a:avLst>
              <a:gd name="adj" fmla="val 22062"/>
            </a:avLst>
          </a:prstGeom>
          <a:solidFill>
            <a:srgbClr val="79C0FF">
              <a:alpha val="10000"/>
            </a:srgbClr>
          </a:solidFill>
          <a:ln/>
        </p:spPr>
        <p:txBody>
          <a:bodyPr wrap="none" lIns="64770" tIns="21590" rIns="64770" bIns="21590" rtlCol="0" anchor="ctr"/>
          <a:lstStyle/>
          <a:p>
            <a:pPr marL="0" indent="0" algn="l">
              <a:buNone/>
            </a:pPr>
            <a:r>
              <a:rPr lang="en-US" sz="6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620" dirty="0"/>
          </a:p>
        </p:txBody>
      </p:sp>
      <p:sp>
        <p:nvSpPr>
          <p:cNvPr id="49" name="Text 40"/>
          <p:cNvSpPr/>
          <p:nvPr/>
        </p:nvSpPr>
        <p:spPr>
          <a:xfrm>
            <a:off x="386060" y="4586734"/>
            <a:ext cx="6742509" cy="298996"/>
          </a:xfrm>
          <a:prstGeom prst="roundRect">
            <a:avLst>
              <a:gd name="adj" fmla="val 19114"/>
            </a:avLst>
          </a:prstGeom>
          <a:solidFill>
            <a:srgbClr val="3FB950">
              <a:alpha val="8000"/>
            </a:srgbClr>
          </a:solidFill>
          <a:ln w="9525">
            <a:solidFill>
              <a:srgbClr val="3FB95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454" y="4669863"/>
            <a:ext cx="132588" cy="13258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66601" y="4660999"/>
            <a:ext cx="5973363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explains each command before you run it</a:t>
            </a:r>
            <a:endParaRPr lang="en-US" sz="79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— review the explanation, then confirm to execute. You always stay in control.</a:t>
            </a:r>
            <a:endParaRPr lang="en-US" sz="790" dirty="0"/>
          </a:p>
        </p:txBody>
      </p:sp>
      <p:sp>
        <p:nvSpPr>
          <p:cNvPr id="52" name="Text 42"/>
          <p:cNvSpPr/>
          <p:nvPr/>
        </p:nvSpPr>
        <p:spPr>
          <a:xfrm>
            <a:off x="7500640" y="299591"/>
            <a:ext cx="1442740" cy="175185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3"/>
          <p:cNvSpPr/>
          <p:nvPr/>
        </p:nvSpPr>
        <p:spPr>
          <a:xfrm>
            <a:off x="7624465" y="437257"/>
            <a:ext cx="13145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20" dirty="0"/>
          </a:p>
        </p:txBody>
      </p:sp>
      <p:sp>
        <p:nvSpPr>
          <p:cNvPr id="54" name="Text 44"/>
          <p:cNvSpPr/>
          <p:nvPr/>
        </p:nvSpPr>
        <p:spPr>
          <a:xfrm>
            <a:off x="7624465" y="640110"/>
            <a:ext cx="200620" cy="200620"/>
          </a:xfrm>
          <a:prstGeom prst="ellipse">
            <a:avLst/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58407" y="674052"/>
            <a:ext cx="132588" cy="13258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7896076" y="640110"/>
            <a:ext cx="95148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680" dirty="0"/>
          </a:p>
        </p:txBody>
      </p:sp>
      <p:sp>
        <p:nvSpPr>
          <p:cNvPr id="57" name="Text 46"/>
          <p:cNvSpPr/>
          <p:nvPr/>
        </p:nvSpPr>
        <p:spPr>
          <a:xfrm>
            <a:off x="7896076" y="769590"/>
            <a:ext cx="951488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6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prompt</a:t>
            </a:r>
            <a:endParaRPr lang="en-US" sz="620" dirty="0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55641" y="906094"/>
            <a:ext cx="132588" cy="169608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624465" y="1109960"/>
            <a:ext cx="200620" cy="200620"/>
          </a:xfrm>
          <a:prstGeom prst="ellipse">
            <a:avLst/>
          </a:prstGeom>
          <a:solidFill>
            <a:srgbClr val="7C3AED">
              <a:alpha val="20000"/>
            </a:srgbClr>
          </a:solidFill>
          <a:ln w="9525">
            <a:solidFill>
              <a:srgbClr val="7C3AED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58407" y="1143902"/>
            <a:ext cx="132588" cy="132588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7896076" y="1109960"/>
            <a:ext cx="101582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680" dirty="0"/>
          </a:p>
        </p:txBody>
      </p:sp>
      <p:sp>
        <p:nvSpPr>
          <p:cNvPr id="62" name="Text 49"/>
          <p:cNvSpPr/>
          <p:nvPr/>
        </p:nvSpPr>
        <p:spPr>
          <a:xfrm>
            <a:off x="7896076" y="1239441"/>
            <a:ext cx="941948" cy="21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6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 + explanation</a:t>
            </a:r>
            <a:endParaRPr lang="en-US" sz="620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55641" y="1478189"/>
            <a:ext cx="132588" cy="16960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7624465" y="1682055"/>
            <a:ext cx="200620" cy="200620"/>
          </a:xfrm>
          <a:prstGeom prst="ellipse">
            <a:avLst/>
          </a:prstGeom>
          <a:solidFill>
            <a:srgbClr val="3FB950">
              <a:alpha val="15000"/>
            </a:srgbClr>
          </a:solidFill>
          <a:ln w="9525">
            <a:solidFill>
              <a:srgbClr val="3FB95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658407" y="1715997"/>
            <a:ext cx="132588" cy="132588"/>
          </a:xfrm>
          <a:prstGeom prst="rect">
            <a:avLst/>
          </a:prstGeom>
        </p:spPr>
      </p:pic>
      <p:sp>
        <p:nvSpPr>
          <p:cNvPr id="66" name="Text 51"/>
          <p:cNvSpPr/>
          <p:nvPr/>
        </p:nvSpPr>
        <p:spPr>
          <a:xfrm>
            <a:off x="7896076" y="1682055"/>
            <a:ext cx="94182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</a:t>
            </a:r>
            <a:endParaRPr lang="en-US" sz="680" dirty="0"/>
          </a:p>
        </p:txBody>
      </p:sp>
      <p:sp>
        <p:nvSpPr>
          <p:cNvPr id="67" name="Text 52"/>
          <p:cNvSpPr/>
          <p:nvPr/>
        </p:nvSpPr>
        <p:spPr>
          <a:xfrm>
            <a:off x="7896076" y="1811536"/>
            <a:ext cx="941829" cy="102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6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execute safely</a:t>
            </a:r>
            <a:endParaRPr lang="en-US" sz="620" dirty="0"/>
          </a:p>
        </p:txBody>
      </p:sp>
      <p:sp>
        <p:nvSpPr>
          <p:cNvPr id="68" name="Text 53"/>
          <p:cNvSpPr/>
          <p:nvPr/>
        </p:nvSpPr>
        <p:spPr>
          <a:xfrm>
            <a:off x="7500640" y="2151757"/>
            <a:ext cx="1442740" cy="838646"/>
          </a:xfrm>
          <a:prstGeom prst="roundRect">
            <a:avLst>
              <a:gd name="adj" fmla="val 8480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4"/>
          <p:cNvSpPr/>
          <p:nvPr/>
        </p:nvSpPr>
        <p:spPr>
          <a:xfrm>
            <a:off x="7610475" y="2253853"/>
            <a:ext cx="13453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50" dirty="0">
                <a:solidFill>
                  <a:srgbClr val="9F6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QUICK ALIAS</a:t>
            </a:r>
            <a:endParaRPr lang="en-US" sz="620" dirty="0"/>
          </a:p>
        </p:txBody>
      </p:sp>
      <p:sp>
        <p:nvSpPr>
          <p:cNvPr id="70" name="Text 55"/>
          <p:cNvSpPr/>
          <p:nvPr/>
        </p:nvSpPr>
        <p:spPr>
          <a:xfrm>
            <a:off x="7610475" y="2415034"/>
            <a:ext cx="1247531" cy="209848"/>
          </a:xfrm>
          <a:prstGeom prst="roundRect">
            <a:avLst>
              <a:gd name="adj" fmla="val 16946"/>
            </a:avLst>
          </a:prstGeom>
          <a:solidFill>
            <a:srgbClr val="000000">
              <a:alpha val="30000"/>
            </a:srgbClr>
          </a:solidFill>
          <a:ln/>
        </p:spPr>
        <p:txBody>
          <a:bodyPr wrap="none" lIns="64770" tIns="35560" rIns="64770" bIns="35560" rtlCol="0" anchor="t"/>
          <a:lstStyle/>
          <a:p>
            <a:pPr marL="0" indent="0" algn="l">
              <a:buNone/>
            </a:pPr>
            <a:r>
              <a:rPr lang="en-US" sz="730" kern="0" spc="15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 "your prompt"</a:t>
            </a:r>
            <a:endParaRPr lang="en-US" sz="730" dirty="0"/>
          </a:p>
        </p:txBody>
      </p:sp>
      <p:sp>
        <p:nvSpPr>
          <p:cNvPr id="71" name="Text 56"/>
          <p:cNvSpPr/>
          <p:nvPr/>
        </p:nvSpPr>
        <p:spPr>
          <a:xfrm>
            <a:off x="7610475" y="2668042"/>
            <a:ext cx="124753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</a:t>
            </a:r>
            <a:r>
              <a:rPr lang="en-US" sz="6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suggest</a:t>
            </a: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faster to type every day.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7C3AED"/>
              </a:gs>
              <a:gs pos="60000">
                <a:srgbClr val="A78B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257770"/>
            <a:ext cx="2882619" cy="206871"/>
          </a:xfrm>
          <a:prstGeom prst="roundRect">
            <a:avLst>
              <a:gd name="adj" fmla="val 69372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none" lIns="208250" tIns="29210" rIns="100330" bIns="29210" rtlCol="0" anchor="ctr"/>
          <a:lstStyle/>
          <a:p>
            <a:pPr marL="0" indent="0" algn="l">
              <a:buNone/>
            </a:pPr>
            <a:r>
              <a:rPr lang="en-US" sz="680" kern="0" spc="3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explain</a:t>
            </a:r>
            <a:endParaRPr lang="en-US" sz="68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7982" y="294837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2070" y="521791"/>
            <a:ext cx="3023924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54"/>
              </a:lnSpc>
              <a:buNone/>
            </a:pPr>
            <a:r>
              <a:rPr lang="en-US" sz="214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Demo: </a:t>
            </a:r>
            <a:r>
              <a:rPr lang="en-US" sz="2140" b="1" kern="0" spc="-3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explain</a:t>
            </a:r>
            <a:r>
              <a:rPr lang="en-US" sz="214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in Action</a:t>
            </a:r>
            <a:endParaRPr lang="en-US" sz="2140" dirty="0"/>
          </a:p>
        </p:txBody>
      </p:sp>
      <p:sp>
        <p:nvSpPr>
          <p:cNvPr id="8" name="Text 5"/>
          <p:cNvSpPr/>
          <p:nvPr/>
        </p:nvSpPr>
        <p:spPr>
          <a:xfrm>
            <a:off x="7582793" y="413445"/>
            <a:ext cx="1189137" cy="251371"/>
          </a:xfrm>
          <a:prstGeom prst="roundRect">
            <a:avLst>
              <a:gd name="adj" fmla="val 22735"/>
            </a:avLst>
          </a:prstGeom>
          <a:solidFill>
            <a:srgbClr val="3FB950">
              <a:alpha val="8000"/>
            </a:srgbClr>
          </a:solidFill>
          <a:ln w="9525">
            <a:solidFill>
              <a:srgbClr val="3FB950">
                <a:alpha val="2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92628" y="517475"/>
            <a:ext cx="43160" cy="43160"/>
          </a:xfrm>
          <a:prstGeom prst="ellipse">
            <a:avLst/>
          </a:prstGeom>
          <a:solidFill>
            <a:srgbClr val="3FB95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92938" y="480120"/>
            <a:ext cx="95607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AI · Live</a:t>
            </a:r>
            <a:endParaRPr lang="en-US" sz="620" dirty="0"/>
          </a:p>
        </p:txBody>
      </p:sp>
      <p:sp>
        <p:nvSpPr>
          <p:cNvPr id="11" name="Text 8"/>
          <p:cNvSpPr/>
          <p:nvPr/>
        </p:nvSpPr>
        <p:spPr>
          <a:xfrm>
            <a:off x="372070" y="964109"/>
            <a:ext cx="3832324" cy="3527227"/>
          </a:xfrm>
          <a:prstGeom prst="roundRect">
            <a:avLst>
              <a:gd name="adj" fmla="val 2016"/>
            </a:avLst>
          </a:prstGeom>
          <a:solidFill>
            <a:srgbClr val="0D1117"/>
          </a:solidFill>
          <a:ln w="9525">
            <a:solidFill>
              <a:srgbClr val="7C3AED"/>
            </a:solidFill>
          </a:ln>
          <a:effectLst>
            <a:outerShdw blurRad="101600" dist="50800" dir="16200000" algn="bl" rotWithShape="0">
              <a:srgbClr val="7C3AED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81595" y="973634"/>
            <a:ext cx="3813274" cy="28098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1595" y="1245096"/>
            <a:ext cx="3813274" cy="9525"/>
          </a:xfrm>
          <a:prstGeom prst="rect">
            <a:avLst/>
          </a:prstGeom>
          <a:solidFill>
            <a:srgbClr val="E6EDF3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5895" y="1073795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37877" y="1073795"/>
            <a:ext cx="70991" cy="70991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79859" y="1073795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65002" y="1044625"/>
            <a:ext cx="85604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— bash</a:t>
            </a:r>
            <a:endParaRPr lang="en-US" sz="68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2109" y="1042996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43933" y="1050280"/>
            <a:ext cx="26030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620" dirty="0"/>
          </a:p>
        </p:txBody>
      </p:sp>
      <p:sp>
        <p:nvSpPr>
          <p:cNvPr id="20" name="Text 16"/>
          <p:cNvSpPr/>
          <p:nvPr/>
        </p:nvSpPr>
        <p:spPr>
          <a:xfrm>
            <a:off x="582216" y="1790254"/>
            <a:ext cx="37532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TYPE: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582216" y="2008584"/>
            <a:ext cx="3412034" cy="805309"/>
          </a:xfrm>
          <a:prstGeom prst="roundRect">
            <a:avLst>
              <a:gd name="adj" fmla="val 7097"/>
            </a:avLst>
          </a:prstGeom>
          <a:solidFill>
            <a:srgbClr val="7C3AED">
              <a:alpha val="7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735211" y="2160091"/>
            <a:ext cx="757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75109" y="2146250"/>
            <a:ext cx="3025467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8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84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r>
              <a:rPr lang="en-US" sz="8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8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br/>
            <a:r>
              <a:rPr lang="en-US" sz="8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84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"git log --oneline --graph --decorate --all"</a:t>
            </a:r>
            <a:r>
              <a:rPr lang="en-US" sz="8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84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endParaRPr lang="en-US" sz="840" dirty="0"/>
          </a:p>
        </p:txBody>
      </p:sp>
      <p:sp>
        <p:nvSpPr>
          <p:cNvPr id="24" name="Text 20"/>
          <p:cNvSpPr/>
          <p:nvPr/>
        </p:nvSpPr>
        <p:spPr>
          <a:xfrm>
            <a:off x="735211" y="2537222"/>
            <a:ext cx="128742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Explaining command...</a:t>
            </a:r>
            <a:endParaRPr lang="en-US" sz="730" dirty="0"/>
          </a:p>
        </p:txBody>
      </p:sp>
      <p:sp>
        <p:nvSpPr>
          <p:cNvPr id="25" name="Text 21"/>
          <p:cNvSpPr/>
          <p:nvPr/>
        </p:nvSpPr>
        <p:spPr>
          <a:xfrm>
            <a:off x="1962745" y="2556570"/>
            <a:ext cx="57150" cy="100310"/>
          </a:xfrm>
          <a:prstGeom prst="roundRect">
            <a:avLst>
              <a:gd name="adj" fmla="val 13333"/>
            </a:avLst>
          </a:prstGeom>
          <a:solidFill>
            <a:srgbClr val="A78BF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82216" y="2971354"/>
            <a:ext cx="37532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6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FLAGS: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582216" y="3167955"/>
            <a:ext cx="64249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--oneline</a:t>
            </a:r>
            <a:endParaRPr lang="en-US" sz="620" dirty="0"/>
          </a:p>
        </p:txBody>
      </p:sp>
      <p:sp>
        <p:nvSpPr>
          <p:cNvPr id="28" name="Text 24"/>
          <p:cNvSpPr/>
          <p:nvPr/>
        </p:nvSpPr>
        <p:spPr>
          <a:xfrm>
            <a:off x="1295698" y="3191321"/>
            <a:ext cx="288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620" dirty="0"/>
          </a:p>
        </p:txBody>
      </p:sp>
      <p:sp>
        <p:nvSpPr>
          <p:cNvPr id="29" name="Text 25"/>
          <p:cNvSpPr/>
          <p:nvPr/>
        </p:nvSpPr>
        <p:spPr>
          <a:xfrm>
            <a:off x="1392882" y="3185517"/>
            <a:ext cx="11274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single-line format</a:t>
            </a:r>
            <a:endParaRPr lang="en-US" sz="680" dirty="0"/>
          </a:p>
        </p:txBody>
      </p:sp>
      <p:sp>
        <p:nvSpPr>
          <p:cNvPr id="30" name="Text 26"/>
          <p:cNvSpPr/>
          <p:nvPr/>
        </p:nvSpPr>
        <p:spPr>
          <a:xfrm>
            <a:off x="582216" y="3382119"/>
            <a:ext cx="64249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--graph</a:t>
            </a:r>
            <a:endParaRPr lang="en-US" sz="620" dirty="0"/>
          </a:p>
        </p:txBody>
      </p:sp>
      <p:sp>
        <p:nvSpPr>
          <p:cNvPr id="31" name="Text 27"/>
          <p:cNvSpPr/>
          <p:nvPr/>
        </p:nvSpPr>
        <p:spPr>
          <a:xfrm>
            <a:off x="1295698" y="3405485"/>
            <a:ext cx="288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620" dirty="0"/>
          </a:p>
        </p:txBody>
      </p:sp>
      <p:sp>
        <p:nvSpPr>
          <p:cNvPr id="32" name="Text 28"/>
          <p:cNvSpPr/>
          <p:nvPr/>
        </p:nvSpPr>
        <p:spPr>
          <a:xfrm>
            <a:off x="1392882" y="3399681"/>
            <a:ext cx="12433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art branch visualization</a:t>
            </a:r>
            <a:endParaRPr lang="en-US" sz="680" dirty="0"/>
          </a:p>
        </p:txBody>
      </p:sp>
      <p:sp>
        <p:nvSpPr>
          <p:cNvPr id="33" name="Text 29"/>
          <p:cNvSpPr/>
          <p:nvPr/>
        </p:nvSpPr>
        <p:spPr>
          <a:xfrm>
            <a:off x="582216" y="3596283"/>
            <a:ext cx="64249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--decorate</a:t>
            </a:r>
            <a:endParaRPr lang="en-US" sz="620" dirty="0"/>
          </a:p>
        </p:txBody>
      </p:sp>
      <p:sp>
        <p:nvSpPr>
          <p:cNvPr id="34" name="Text 30"/>
          <p:cNvSpPr/>
          <p:nvPr/>
        </p:nvSpPr>
        <p:spPr>
          <a:xfrm>
            <a:off x="1295698" y="3619649"/>
            <a:ext cx="288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620" dirty="0"/>
          </a:p>
        </p:txBody>
      </p:sp>
      <p:sp>
        <p:nvSpPr>
          <p:cNvPr id="35" name="Text 31"/>
          <p:cNvSpPr/>
          <p:nvPr/>
        </p:nvSpPr>
        <p:spPr>
          <a:xfrm>
            <a:off x="1392882" y="3613845"/>
            <a:ext cx="115923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branch &amp; tag names</a:t>
            </a:r>
            <a:endParaRPr lang="en-US" sz="680" dirty="0"/>
          </a:p>
        </p:txBody>
      </p:sp>
      <p:sp>
        <p:nvSpPr>
          <p:cNvPr id="36" name="Text 32"/>
          <p:cNvSpPr/>
          <p:nvPr/>
        </p:nvSpPr>
        <p:spPr>
          <a:xfrm>
            <a:off x="582216" y="3810446"/>
            <a:ext cx="642491" cy="181228"/>
          </a:xfrm>
          <a:prstGeom prst="roundRect">
            <a:avLst>
              <a:gd name="adj" fmla="val 16118"/>
            </a:avLst>
          </a:prstGeom>
          <a:solidFill>
            <a:srgbClr val="7C3AED">
              <a:alpha val="18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--all</a:t>
            </a:r>
            <a:endParaRPr lang="en-US" sz="620" dirty="0"/>
          </a:p>
        </p:txBody>
      </p:sp>
      <p:sp>
        <p:nvSpPr>
          <p:cNvPr id="37" name="Text 33"/>
          <p:cNvSpPr/>
          <p:nvPr/>
        </p:nvSpPr>
        <p:spPr>
          <a:xfrm>
            <a:off x="1295698" y="3833812"/>
            <a:ext cx="288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620" dirty="0"/>
          </a:p>
        </p:txBody>
      </p:sp>
      <p:sp>
        <p:nvSpPr>
          <p:cNvPr id="38" name="Text 34"/>
          <p:cNvSpPr/>
          <p:nvPr/>
        </p:nvSpPr>
        <p:spPr>
          <a:xfrm>
            <a:off x="1392882" y="3828008"/>
            <a:ext cx="135945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&amp; remotes included</a:t>
            </a:r>
            <a:endParaRPr lang="en-US" sz="680" dirty="0"/>
          </a:p>
        </p:txBody>
      </p:sp>
      <p:sp>
        <p:nvSpPr>
          <p:cNvPr id="39" name="Text 35"/>
          <p:cNvSpPr/>
          <p:nvPr/>
        </p:nvSpPr>
        <p:spPr>
          <a:xfrm>
            <a:off x="4247555" y="2448371"/>
            <a:ext cx="285750" cy="285750"/>
          </a:xfrm>
          <a:prstGeom prst="ellipse">
            <a:avLst/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4136" y="2524952"/>
            <a:ext cx="132588" cy="132588"/>
          </a:xfrm>
          <a:prstGeom prst="rect">
            <a:avLst/>
          </a:prstGeom>
        </p:spPr>
      </p:pic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24136" y="2783020"/>
            <a:ext cx="132588" cy="13258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341912" y="2913757"/>
            <a:ext cx="106740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510" dirty="0"/>
          </a:p>
        </p:txBody>
      </p:sp>
      <p:sp>
        <p:nvSpPr>
          <p:cNvPr id="43" name="Text 37"/>
          <p:cNvSpPr/>
          <p:nvPr/>
        </p:nvSpPr>
        <p:spPr>
          <a:xfrm>
            <a:off x="4576465" y="964109"/>
            <a:ext cx="4195465" cy="3527227"/>
          </a:xfrm>
          <a:prstGeom prst="roundRect">
            <a:avLst>
              <a:gd name="adj" fmla="val 2016"/>
            </a:avLst>
          </a:prstGeom>
          <a:solidFill>
            <a:srgbClr val="0D1117"/>
          </a:solidFill>
          <a:ln w="9525">
            <a:solidFill>
              <a:srgbClr val="3FB950">
                <a:alpha val="35000"/>
              </a:srgbClr>
            </a:solidFill>
          </a:ln>
          <a:effectLst>
            <a:outerShdw blurRad="101600" dist="50800" dir="16200000" algn="bl" rotWithShape="0">
              <a:srgbClr val="3FB950">
                <a:alpha val="1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4585990" y="973634"/>
            <a:ext cx="4176415" cy="280988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4585990" y="1245096"/>
            <a:ext cx="4176415" cy="9525"/>
          </a:xfrm>
          <a:prstGeom prst="rect">
            <a:avLst/>
          </a:prstGeom>
          <a:solidFill>
            <a:srgbClr val="E6EDF3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700290" y="1073795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842272" y="1073795"/>
            <a:ext cx="70991" cy="70991"/>
          </a:xfrm>
          <a:prstGeom prst="ellipse">
            <a:avLst/>
          </a:prstGeom>
          <a:solidFill>
            <a:srgbClr val="FEBC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2"/>
          <p:cNvSpPr/>
          <p:nvPr/>
        </p:nvSpPr>
        <p:spPr>
          <a:xfrm>
            <a:off x="4984254" y="1073795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5169396" y="1044625"/>
            <a:ext cx="136976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explain — output</a:t>
            </a:r>
            <a:endParaRPr lang="en-US" sz="68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5828" y="1042996"/>
            <a:ext cx="132588" cy="132588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8127653" y="1050280"/>
            <a:ext cx="57249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explanation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4786610" y="1412081"/>
            <a:ext cx="415269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EXPLAINS:</a:t>
            </a:r>
            <a:endParaRPr lang="en-US" sz="620" dirty="0"/>
          </a:p>
        </p:txBody>
      </p:sp>
      <p:sp>
        <p:nvSpPr>
          <p:cNvPr id="53" name="Text 46"/>
          <p:cNvSpPr/>
          <p:nvPr/>
        </p:nvSpPr>
        <p:spPr>
          <a:xfrm>
            <a:off x="4786610" y="1616422"/>
            <a:ext cx="3775174" cy="510466"/>
          </a:xfrm>
          <a:prstGeom prst="rect">
            <a:avLst/>
          </a:prstGeom>
          <a:solidFill>
            <a:srgbClr val="3FB950">
              <a:alpha val="8000"/>
            </a:srgbClr>
          </a:solidFill>
          <a:ln/>
        </p:spPr>
        <p:txBody>
          <a:bodyPr wrap="square" lIns="114300" tIns="86360" rIns="114300" bIns="86360" rtlCol="0" anchor="t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command displays your </a:t>
            </a:r>
            <a:r>
              <a:rPr lang="en-US" sz="82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history as a compact, visual graph</a:t>
            </a: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combining multiple display flags for maximum clarity at a glance.</a:t>
            </a:r>
            <a:endParaRPr lang="en-US" sz="820" dirty="0"/>
          </a:p>
        </p:txBody>
      </p:sp>
      <p:sp>
        <p:nvSpPr>
          <p:cNvPr id="54" name="Text 47"/>
          <p:cNvSpPr/>
          <p:nvPr/>
        </p:nvSpPr>
        <p:spPr>
          <a:xfrm>
            <a:off x="4786610" y="1616422"/>
            <a:ext cx="19050" cy="495598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4786610" y="2240161"/>
            <a:ext cx="3775174" cy="428625"/>
          </a:xfrm>
          <a:prstGeom prst="roundRect">
            <a:avLst>
              <a:gd name="adj" fmla="val 10074"/>
            </a:avLst>
          </a:prstGeom>
          <a:solidFill>
            <a:srgbClr val="E6EDF3">
              <a:alpha val="3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4882455" y="2314426"/>
            <a:ext cx="714970" cy="197927"/>
          </a:xfrm>
          <a:prstGeom prst="roundRect">
            <a:avLst>
              <a:gd name="adj" fmla="val 14758"/>
            </a:avLst>
          </a:prstGeom>
          <a:solidFill>
            <a:srgbClr val="7EE787">
              <a:alpha val="10000"/>
            </a:srgbClr>
          </a:solidFill>
          <a:ln w="9525">
            <a:solidFill>
              <a:srgbClr val="7EE78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--oneline</a:t>
            </a:r>
            <a:endParaRPr lang="en-US" sz="700" dirty="0"/>
          </a:p>
        </p:txBody>
      </p:sp>
      <p:sp>
        <p:nvSpPr>
          <p:cNvPr id="57" name="Text 50"/>
          <p:cNvSpPr/>
          <p:nvPr/>
        </p:nvSpPr>
        <p:spPr>
          <a:xfrm>
            <a:off x="5683746" y="2314426"/>
            <a:ext cx="283783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each commit on a single line — hash + message for a compact view</a:t>
            </a:r>
            <a:endParaRPr lang="en-US" sz="760" dirty="0"/>
          </a:p>
        </p:txBody>
      </p:sp>
      <p:sp>
        <p:nvSpPr>
          <p:cNvPr id="58" name="Text 51"/>
          <p:cNvSpPr/>
          <p:nvPr/>
        </p:nvSpPr>
        <p:spPr>
          <a:xfrm>
            <a:off x="4786610" y="2755106"/>
            <a:ext cx="3775174" cy="428625"/>
          </a:xfrm>
          <a:prstGeom prst="roundRect">
            <a:avLst>
              <a:gd name="adj" fmla="val 10074"/>
            </a:avLst>
          </a:prstGeom>
          <a:solidFill>
            <a:srgbClr val="E6EDF3">
              <a:alpha val="3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4882455" y="2829371"/>
            <a:ext cx="714970" cy="197927"/>
          </a:xfrm>
          <a:prstGeom prst="roundRect">
            <a:avLst>
              <a:gd name="adj" fmla="val 14758"/>
            </a:avLst>
          </a:prstGeom>
          <a:solidFill>
            <a:srgbClr val="7EE787">
              <a:alpha val="10000"/>
            </a:srgbClr>
          </a:solidFill>
          <a:ln w="9525">
            <a:solidFill>
              <a:srgbClr val="7EE78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--graph</a:t>
            </a:r>
            <a:endParaRPr lang="en-US" sz="700" dirty="0"/>
          </a:p>
        </p:txBody>
      </p:sp>
      <p:sp>
        <p:nvSpPr>
          <p:cNvPr id="60" name="Text 53"/>
          <p:cNvSpPr/>
          <p:nvPr/>
        </p:nvSpPr>
        <p:spPr>
          <a:xfrm>
            <a:off x="5683746" y="2829371"/>
            <a:ext cx="283783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an ASCII art branch/merge graph alongside the commit list</a:t>
            </a:r>
            <a:endParaRPr lang="en-US" sz="760" dirty="0"/>
          </a:p>
        </p:txBody>
      </p:sp>
      <p:sp>
        <p:nvSpPr>
          <p:cNvPr id="61" name="Text 54"/>
          <p:cNvSpPr/>
          <p:nvPr/>
        </p:nvSpPr>
        <p:spPr>
          <a:xfrm>
            <a:off x="4786610" y="3270052"/>
            <a:ext cx="3775174" cy="428625"/>
          </a:xfrm>
          <a:prstGeom prst="roundRect">
            <a:avLst>
              <a:gd name="adj" fmla="val 10074"/>
            </a:avLst>
          </a:prstGeom>
          <a:solidFill>
            <a:srgbClr val="E6EDF3">
              <a:alpha val="3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5"/>
          <p:cNvSpPr/>
          <p:nvPr/>
        </p:nvSpPr>
        <p:spPr>
          <a:xfrm>
            <a:off x="4882455" y="3344317"/>
            <a:ext cx="714970" cy="197927"/>
          </a:xfrm>
          <a:prstGeom prst="roundRect">
            <a:avLst>
              <a:gd name="adj" fmla="val 14758"/>
            </a:avLst>
          </a:prstGeom>
          <a:solidFill>
            <a:srgbClr val="7EE787">
              <a:alpha val="10000"/>
            </a:srgbClr>
          </a:solidFill>
          <a:ln w="9525">
            <a:solidFill>
              <a:srgbClr val="7EE78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--decorate</a:t>
            </a:r>
            <a:endParaRPr lang="en-US" sz="700" dirty="0"/>
          </a:p>
        </p:txBody>
      </p:sp>
      <p:sp>
        <p:nvSpPr>
          <p:cNvPr id="63" name="Text 56"/>
          <p:cNvSpPr/>
          <p:nvPr/>
        </p:nvSpPr>
        <p:spPr>
          <a:xfrm>
            <a:off x="5683746" y="3344317"/>
            <a:ext cx="2837837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Annotates commits with branch and tag names (e.g. HEAD, main, origin/main)</a:t>
            </a:r>
            <a:endParaRPr lang="en-US" sz="760" dirty="0"/>
          </a:p>
        </p:txBody>
      </p:sp>
      <p:sp>
        <p:nvSpPr>
          <p:cNvPr id="64" name="Text 57"/>
          <p:cNvSpPr/>
          <p:nvPr/>
        </p:nvSpPr>
        <p:spPr>
          <a:xfrm>
            <a:off x="4786610" y="3784997"/>
            <a:ext cx="3775174" cy="328464"/>
          </a:xfrm>
          <a:prstGeom prst="roundRect">
            <a:avLst>
              <a:gd name="adj" fmla="val 13146"/>
            </a:avLst>
          </a:prstGeom>
          <a:solidFill>
            <a:srgbClr val="E6EDF3">
              <a:alpha val="3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8"/>
          <p:cNvSpPr/>
          <p:nvPr/>
        </p:nvSpPr>
        <p:spPr>
          <a:xfrm>
            <a:off x="4882455" y="3859262"/>
            <a:ext cx="714970" cy="197927"/>
          </a:xfrm>
          <a:prstGeom prst="roundRect">
            <a:avLst>
              <a:gd name="adj" fmla="val 14758"/>
            </a:avLst>
          </a:prstGeom>
          <a:solidFill>
            <a:srgbClr val="7EE787">
              <a:alpha val="10000"/>
            </a:srgbClr>
          </a:solidFill>
          <a:ln w="9525">
            <a:solidFill>
              <a:srgbClr val="7EE787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--all</a:t>
            </a:r>
            <a:endParaRPr lang="en-US" sz="700" dirty="0"/>
          </a:p>
        </p:txBody>
      </p:sp>
      <p:sp>
        <p:nvSpPr>
          <p:cNvPr id="66" name="Text 59"/>
          <p:cNvSpPr/>
          <p:nvPr/>
        </p:nvSpPr>
        <p:spPr>
          <a:xfrm>
            <a:off x="5683746" y="3859262"/>
            <a:ext cx="3060412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all local and remote branches, not just the current one</a:t>
            </a:r>
            <a:endParaRPr lang="en-US" sz="760" dirty="0"/>
          </a:p>
        </p:txBody>
      </p:sp>
      <p:sp>
        <p:nvSpPr>
          <p:cNvPr id="67" name="Text 60"/>
          <p:cNvSpPr/>
          <p:nvPr/>
        </p:nvSpPr>
        <p:spPr>
          <a:xfrm>
            <a:off x="372070" y="4605635"/>
            <a:ext cx="8399859" cy="337245"/>
          </a:xfrm>
          <a:prstGeom prst="roundRect">
            <a:avLst>
              <a:gd name="adj" fmla="val 16946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843" y="4707963"/>
            <a:ext cx="132588" cy="132588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692200" y="4698950"/>
            <a:ext cx="637228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onboarding, learning, and demystifying legacy scripts — understand any command instantly, right in your terminal.</a:t>
            </a:r>
            <a:endParaRPr lang="en-US" sz="790" dirty="0"/>
          </a:p>
        </p:txBody>
      </p:sp>
      <p:sp>
        <p:nvSpPr>
          <p:cNvPr id="70" name="Text 62"/>
          <p:cNvSpPr/>
          <p:nvPr/>
        </p:nvSpPr>
        <p:spPr>
          <a:xfrm>
            <a:off x="7909173" y="4715173"/>
            <a:ext cx="3123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alias:</a:t>
            </a:r>
            <a:endParaRPr lang="en-US" sz="620" dirty="0"/>
          </a:p>
        </p:txBody>
      </p:sp>
      <p:sp>
        <p:nvSpPr>
          <p:cNvPr id="71" name="Text 63"/>
          <p:cNvSpPr/>
          <p:nvPr/>
        </p:nvSpPr>
        <p:spPr>
          <a:xfrm>
            <a:off x="8250287" y="4686151"/>
            <a:ext cx="368647" cy="193834"/>
          </a:xfrm>
          <a:prstGeom prst="roundRect">
            <a:avLst>
              <a:gd name="adj" fmla="val 15070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429470" cy="2429470"/>
          </a:xfrm>
          <a:prstGeom prst="rect">
            <a:avLst/>
          </a:prstGeom>
          <a:gradFill rotWithShape="1">
            <a:gsLst>
              <a:gs pos="0">
                <a:srgbClr val="7C3AED">
                  <a:alpha val="13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01470" y="3143250"/>
            <a:ext cx="2142530" cy="2000250"/>
          </a:xfrm>
          <a:prstGeom prst="rect">
            <a:avLst/>
          </a:prstGeom>
          <a:gradFill rotWithShape="1">
            <a:gsLst>
              <a:gs pos="0">
                <a:srgbClr val="7C3AED">
                  <a:alpha val="9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42988"/>
            <a:ext cx="8229600" cy="7590"/>
          </a:xfrm>
          <a:prstGeom prst="rect">
            <a:avLst/>
          </a:prstGeom>
          <a:gradFill rotWithShape="1">
            <a:gsLst>
              <a:gs pos="0">
                <a:srgbClr val="7C3AED">
                  <a:alpha val="4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6725" y="1260723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100330" y="0"/>
                </a:moveTo>
                <a:lnTo>
                  <a:pt x="2528123" y="0"/>
                </a:lnTo>
                <a:lnTo>
                  <a:pt x="2551231" y="2698"/>
                </a:lnTo>
                <a:lnTo>
                  <a:pt x="2560580" y="5395"/>
                </a:lnTo>
                <a:lnTo>
                  <a:pt x="2567599" y="8093"/>
                </a:lnTo>
                <a:lnTo>
                  <a:pt x="2573385" y="10790"/>
                </a:lnTo>
                <a:lnTo>
                  <a:pt x="2578367" y="13488"/>
                </a:lnTo>
                <a:lnTo>
                  <a:pt x="2582764" y="16185"/>
                </a:lnTo>
                <a:lnTo>
                  <a:pt x="2586709" y="18883"/>
                </a:lnTo>
                <a:lnTo>
                  <a:pt x="259028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9D5FF3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57699" y="1260723"/>
            <a:ext cx="2628605" cy="21580"/>
          </a:xfrm>
          <a:custGeom>
            <a:avLst/>
            <a:gdLst/>
            <a:ahLst/>
            <a:cxnLst/>
            <a:rect l="l" t="t" r="r" b="b"/>
            <a:pathLst>
              <a:path w="2628605" h="21580">
                <a:moveTo>
                  <a:pt x="100330" y="0"/>
                </a:moveTo>
                <a:lnTo>
                  <a:pt x="2528275" y="0"/>
                </a:lnTo>
                <a:lnTo>
                  <a:pt x="2551384" y="2698"/>
                </a:lnTo>
                <a:lnTo>
                  <a:pt x="2560732" y="5395"/>
                </a:lnTo>
                <a:lnTo>
                  <a:pt x="2567751" y="8093"/>
                </a:lnTo>
                <a:lnTo>
                  <a:pt x="2573538" y="10790"/>
                </a:lnTo>
                <a:lnTo>
                  <a:pt x="2578519" y="13488"/>
                </a:lnTo>
                <a:lnTo>
                  <a:pt x="2582917" y="16185"/>
                </a:lnTo>
                <a:lnTo>
                  <a:pt x="2586862" y="18883"/>
                </a:lnTo>
                <a:lnTo>
                  <a:pt x="2590440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9D5FF3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48821" y="1260723"/>
            <a:ext cx="2628452" cy="21580"/>
          </a:xfrm>
          <a:custGeom>
            <a:avLst/>
            <a:gdLst/>
            <a:ahLst/>
            <a:cxnLst/>
            <a:rect l="l" t="t" r="r" b="b"/>
            <a:pathLst>
              <a:path w="2628452" h="21580">
                <a:moveTo>
                  <a:pt x="100330" y="0"/>
                </a:moveTo>
                <a:lnTo>
                  <a:pt x="2528123" y="0"/>
                </a:lnTo>
                <a:lnTo>
                  <a:pt x="2551231" y="2698"/>
                </a:lnTo>
                <a:lnTo>
                  <a:pt x="2560580" y="5395"/>
                </a:lnTo>
                <a:lnTo>
                  <a:pt x="2567599" y="8093"/>
                </a:lnTo>
                <a:lnTo>
                  <a:pt x="2573385" y="10790"/>
                </a:lnTo>
                <a:lnTo>
                  <a:pt x="2578367" y="13488"/>
                </a:lnTo>
                <a:lnTo>
                  <a:pt x="2582764" y="16185"/>
                </a:lnTo>
                <a:lnTo>
                  <a:pt x="2586709" y="18883"/>
                </a:lnTo>
                <a:lnTo>
                  <a:pt x="259028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9D5FF3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15516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430411"/>
            <a:ext cx="8805672" cy="32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6"/>
              </a:lnSpc>
              <a:spcAft>
                <a:spcPts val="230"/>
              </a:spcAft>
              <a:buNone/>
            </a:pPr>
            <a:r>
              <a:rPr lang="en-US" sz="236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 Up with </a:t>
            </a:r>
            <a:r>
              <a:rPr lang="en-US" sz="2360" b="1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Shell Aliases</a:t>
            </a:r>
            <a:endParaRPr lang="en-US" sz="2360" dirty="0"/>
          </a:p>
        </p:txBody>
      </p:sp>
      <p:sp>
        <p:nvSpPr>
          <p:cNvPr id="12" name="Text 10"/>
          <p:cNvSpPr/>
          <p:nvPr/>
        </p:nvSpPr>
        <p:spPr>
          <a:xfrm>
            <a:off x="457200" y="789236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once, save time forever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457200" y="1251198"/>
            <a:ext cx="2647504" cy="2161133"/>
          </a:xfrm>
          <a:prstGeom prst="roundRect">
            <a:avLst>
              <a:gd name="adj" fmla="val 464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725" y="1260723"/>
            <a:ext cx="2628454" cy="857250"/>
          </a:xfrm>
          <a:prstGeom prst="rect">
            <a:avLst/>
          </a:prstGeom>
          <a:gradFill rotWithShape="1">
            <a:gsLst>
              <a:gs pos="0">
                <a:srgbClr val="7C3AED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7345" y="1461343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857" y="1530855"/>
            <a:ext cx="132588" cy="13258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10096" y="1507034"/>
            <a:ext cx="616446" cy="198254"/>
          </a:xfrm>
          <a:prstGeom prst="roundRect">
            <a:avLst>
              <a:gd name="adj" fmla="val 72387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D5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</a:t>
            </a:r>
            <a:endParaRPr lang="en-US" sz="620" dirty="0"/>
          </a:p>
        </p:txBody>
      </p:sp>
      <p:sp>
        <p:nvSpPr>
          <p:cNvPr id="18" name="Text 15"/>
          <p:cNvSpPr/>
          <p:nvPr/>
        </p:nvSpPr>
        <p:spPr>
          <a:xfrm>
            <a:off x="667345" y="1833414"/>
            <a:ext cx="233857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kern="0" spc="-60" dirty="0">
                <a:solidFill>
                  <a:srgbClr val="9D5FF3"/>
                </a:solidFill>
                <a:effectLst>
                  <a:glow rad="571500">
                    <a:srgbClr val="9D5FF3">
                      <a:alpha val="105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ghcs</a:t>
            </a:r>
            <a:endParaRPr lang="en-US" sz="2930" dirty="0"/>
          </a:p>
        </p:txBody>
      </p:sp>
      <p:sp>
        <p:nvSpPr>
          <p:cNvPr id="19" name="Text 16"/>
          <p:cNvSpPr/>
          <p:nvPr/>
        </p:nvSpPr>
        <p:spPr>
          <a:xfrm>
            <a:off x="667345" y="2291804"/>
            <a:ext cx="2227213" cy="367903"/>
          </a:xfrm>
          <a:prstGeom prst="roundRect">
            <a:avLst>
              <a:gd name="adj" fmla="val 11737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lIns="86360" tIns="43180" rIns="86360" bIns="4318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60" dirty="0">
                <a:solidFill>
                  <a:srgbClr val="9D5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TO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suggest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667345" y="2291804"/>
            <a:ext cx="19050" cy="357188"/>
          </a:xfrm>
          <a:custGeom>
            <a:avLst/>
            <a:gdLst/>
            <a:ahLst/>
            <a:cxnLst/>
            <a:rect l="l" t="t" r="r" b="b"/>
            <a:pathLst>
              <a:path w="19050" h="357188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349816"/>
                </a:lnTo>
                <a:lnTo>
                  <a:pt x="16669" y="348091"/>
                </a:lnTo>
                <a:lnTo>
                  <a:pt x="14288" y="346097"/>
                </a:lnTo>
                <a:lnTo>
                  <a:pt x="11906" y="343781"/>
                </a:lnTo>
                <a:lnTo>
                  <a:pt x="9525" y="341060"/>
                </a:lnTo>
                <a:lnTo>
                  <a:pt x="7144" y="337796"/>
                </a:lnTo>
                <a:lnTo>
                  <a:pt x="4763" y="333721"/>
                </a:lnTo>
                <a:lnTo>
                  <a:pt x="2381" y="328149"/>
                </a:lnTo>
                <a:lnTo>
                  <a:pt x="0" y="314008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7345" y="2735312"/>
            <a:ext cx="2271757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spcBef>
                <a:spcPts val="680"/>
              </a:spcBef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copilot suggest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turn any plain-English question into a working shell command, instantly.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248174" y="1251198"/>
            <a:ext cx="2647652" cy="2161133"/>
          </a:xfrm>
          <a:prstGeom prst="roundRect">
            <a:avLst>
              <a:gd name="adj" fmla="val 464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257699" y="1260723"/>
            <a:ext cx="2628602" cy="857250"/>
          </a:xfrm>
          <a:prstGeom prst="rect">
            <a:avLst/>
          </a:prstGeom>
          <a:gradFill rotWithShape="1">
            <a:gsLst>
              <a:gs pos="0">
                <a:srgbClr val="7C3AED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458319" y="1461343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7831" y="1530855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801070" y="1507034"/>
            <a:ext cx="572839" cy="198254"/>
          </a:xfrm>
          <a:prstGeom prst="roundRect">
            <a:avLst>
              <a:gd name="adj" fmla="val 72387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D5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620" dirty="0"/>
          </a:p>
        </p:txBody>
      </p:sp>
      <p:sp>
        <p:nvSpPr>
          <p:cNvPr id="27" name="Text 23"/>
          <p:cNvSpPr/>
          <p:nvPr/>
        </p:nvSpPr>
        <p:spPr>
          <a:xfrm>
            <a:off x="3458319" y="1833414"/>
            <a:ext cx="233873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30"/>
              </a:lnSpc>
              <a:buNone/>
            </a:pPr>
            <a:r>
              <a:rPr lang="en-US" sz="2930" b="1" kern="0" spc="-60" dirty="0">
                <a:solidFill>
                  <a:srgbClr val="9D5FF3"/>
                </a:solidFill>
                <a:effectLst>
                  <a:glow rad="571500">
                    <a:srgbClr val="9D5FF3">
                      <a:alpha val="105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endParaRPr lang="en-US" sz="2930" dirty="0"/>
          </a:p>
        </p:txBody>
      </p:sp>
      <p:sp>
        <p:nvSpPr>
          <p:cNvPr id="28" name="Text 24"/>
          <p:cNvSpPr/>
          <p:nvPr/>
        </p:nvSpPr>
        <p:spPr>
          <a:xfrm>
            <a:off x="3458319" y="2291804"/>
            <a:ext cx="2227362" cy="367903"/>
          </a:xfrm>
          <a:prstGeom prst="roundRect">
            <a:avLst>
              <a:gd name="adj" fmla="val 11737"/>
            </a:avLst>
          </a:prstGeom>
          <a:solidFill>
            <a:srgbClr val="000000">
              <a:alpha val="25000"/>
            </a:srgbClr>
          </a:solidFill>
          <a:ln/>
        </p:spPr>
        <p:txBody>
          <a:bodyPr wrap="square" lIns="86360" tIns="43180" rIns="86360" bIns="4318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60" dirty="0">
                <a:solidFill>
                  <a:srgbClr val="9D5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TO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explain</a:t>
            </a:r>
            <a:endParaRPr lang="en-US" sz="730" dirty="0"/>
          </a:p>
        </p:txBody>
      </p:sp>
      <p:sp>
        <p:nvSpPr>
          <p:cNvPr id="29" name="Text 25"/>
          <p:cNvSpPr/>
          <p:nvPr/>
        </p:nvSpPr>
        <p:spPr>
          <a:xfrm>
            <a:off x="3458319" y="2291804"/>
            <a:ext cx="19050" cy="357188"/>
          </a:xfrm>
          <a:custGeom>
            <a:avLst/>
            <a:gdLst/>
            <a:ahLst/>
            <a:cxnLst/>
            <a:rect l="l" t="t" r="r" b="b"/>
            <a:pathLst>
              <a:path w="19050" h="357188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349816"/>
                </a:lnTo>
                <a:lnTo>
                  <a:pt x="16669" y="348091"/>
                </a:lnTo>
                <a:lnTo>
                  <a:pt x="14288" y="346097"/>
                </a:lnTo>
                <a:lnTo>
                  <a:pt x="11906" y="343781"/>
                </a:lnTo>
                <a:lnTo>
                  <a:pt x="9525" y="341060"/>
                </a:lnTo>
                <a:lnTo>
                  <a:pt x="7144" y="337796"/>
                </a:lnTo>
                <a:lnTo>
                  <a:pt x="4763" y="333721"/>
                </a:lnTo>
                <a:lnTo>
                  <a:pt x="2381" y="328149"/>
                </a:lnTo>
                <a:lnTo>
                  <a:pt x="0" y="314008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3458319" y="2735312"/>
            <a:ext cx="2271909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spcBef>
                <a:spcPts val="680"/>
              </a:spcBef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copilot explain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understand any shell command in plain English within seconds.</a:t>
            </a:r>
            <a:endParaRPr lang="en-US" sz="840" dirty="0"/>
          </a:p>
        </p:txBody>
      </p:sp>
      <p:sp>
        <p:nvSpPr>
          <p:cNvPr id="31" name="Text 27"/>
          <p:cNvSpPr/>
          <p:nvPr/>
        </p:nvSpPr>
        <p:spPr>
          <a:xfrm>
            <a:off x="6039296" y="1251198"/>
            <a:ext cx="2647504" cy="2161133"/>
          </a:xfrm>
          <a:prstGeom prst="roundRect">
            <a:avLst>
              <a:gd name="adj" fmla="val 4642"/>
            </a:avLst>
          </a:prstGeom>
          <a:solidFill>
            <a:srgbClr val="161B2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6048821" y="1260723"/>
            <a:ext cx="2628454" cy="857250"/>
          </a:xfrm>
          <a:prstGeom prst="rect">
            <a:avLst/>
          </a:prstGeom>
          <a:gradFill rotWithShape="1">
            <a:gsLst>
              <a:gs pos="0">
                <a:srgbClr val="7C3AED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6249442" y="1461343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4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8953" y="1530855"/>
            <a:ext cx="132588" cy="132588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592193" y="1507034"/>
            <a:ext cx="473869" cy="198254"/>
          </a:xfrm>
          <a:prstGeom prst="roundRect">
            <a:avLst>
              <a:gd name="adj" fmla="val 72387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4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9D5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620" dirty="0"/>
          </a:p>
        </p:txBody>
      </p:sp>
      <p:sp>
        <p:nvSpPr>
          <p:cNvPr id="36" name="Text 31"/>
          <p:cNvSpPr/>
          <p:nvPr/>
        </p:nvSpPr>
        <p:spPr>
          <a:xfrm>
            <a:off x="6249442" y="1833414"/>
            <a:ext cx="2227213" cy="521809"/>
          </a:xfrm>
          <a:prstGeom prst="roundRect">
            <a:avLst>
              <a:gd name="adj" fmla="val 10952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>
                <a:alpha val="45000"/>
              </a:srgbClr>
            </a:solidFill>
          </a:ln>
        </p:spPr>
        <p:txBody>
          <a:bodyPr wrap="square" lIns="114300" tIns="86360" rIns="114300" bIns="8636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124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1240" dirty="0">
                <a:solidFill>
                  <a:srgbClr val="9D5F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alias -- bash</a:t>
            </a:r>
            <a:endParaRPr lang="en-US" sz="1240" dirty="0"/>
          </a:p>
        </p:txBody>
      </p:sp>
      <p:sp>
        <p:nvSpPr>
          <p:cNvPr id="37" name="Text 32"/>
          <p:cNvSpPr/>
          <p:nvPr/>
        </p:nvSpPr>
        <p:spPr>
          <a:xfrm>
            <a:off x="6249442" y="2426345"/>
            <a:ext cx="2271757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adds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</a:t>
            </a:r>
            <a:r>
              <a:rPr lang="en-US" sz="840" b="1" dirty="0">
                <a:solidFill>
                  <a:srgbClr val="9D5F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840" b="1" dirty="0">
                <a:solidFill>
                  <a:srgbClr val="9D5F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aliases to your shell profile permanently. Works with 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--zsh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--pwsh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too.</a:t>
            </a:r>
            <a:endParaRPr lang="en-US" sz="840" dirty="0"/>
          </a:p>
        </p:txBody>
      </p:sp>
      <p:sp>
        <p:nvSpPr>
          <p:cNvPr id="38" name="Text 33"/>
          <p:cNvSpPr/>
          <p:nvPr/>
        </p:nvSpPr>
        <p:spPr>
          <a:xfrm>
            <a:off x="457200" y="3569791"/>
            <a:ext cx="8229600" cy="661541"/>
          </a:xfrm>
          <a:prstGeom prst="roundRect">
            <a:avLst>
              <a:gd name="adj" fmla="val 13054"/>
            </a:avLst>
          </a:prstGeom>
          <a:gradFill rotWithShape="1">
            <a:gsLst>
              <a:gs pos="0">
                <a:srgbClr val="7C3AED">
                  <a:alpha val="13000"/>
                </a:srgbClr>
              </a:gs>
              <a:gs pos="100000">
                <a:srgbClr val="7C3AED">
                  <a:alpha val="6000"/>
                </a:srgbClr>
              </a:gs>
            </a:gsLst>
            <a:lin ang="2700000" scaled="1"/>
          </a:gradFill>
          <a:ln w="9525">
            <a:solidFill>
              <a:srgbClr val="7C3AED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638175" y="3771602"/>
            <a:ext cx="257770" cy="25777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766" y="3834194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96255" y="3679627"/>
            <a:ext cx="826052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110" dirty="0">
                <a:solidFill>
                  <a:srgbClr val="9D5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680" dirty="0"/>
          </a:p>
        </p:txBody>
      </p:sp>
      <p:sp>
        <p:nvSpPr>
          <p:cNvPr id="42" name="Text 36"/>
          <p:cNvSpPr/>
          <p:nvPr/>
        </p:nvSpPr>
        <p:spPr>
          <a:xfrm>
            <a:off x="996255" y="3822948"/>
            <a:ext cx="7659761" cy="313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aliases to your </a:t>
            </a:r>
            <a:r>
              <a:rPr lang="en-US" sz="790" dirty="0">
                <a:solidFill>
                  <a:srgbClr val="9D5FF3"/>
                </a:solidFill>
                <a:highlight>
                  <a:srgbClr val="7C3AED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.bashrc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790" dirty="0">
                <a:solidFill>
                  <a:srgbClr val="9D5FF3"/>
                </a:solidFill>
                <a:highlight>
                  <a:srgbClr val="7C3AED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.zshrc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they load automatically in every new terminal session — run </a:t>
            </a:r>
            <a:r>
              <a:rPr lang="en-US" sz="790" dirty="0">
                <a:solidFill>
                  <a:srgbClr val="9D5FF3"/>
                </a:solidFill>
                <a:highlight>
                  <a:srgbClr val="7C3AED">
                    <a:alpha val="12000"/>
                  </a:srgbClr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alias -- bash &gt;&gt; ~/.bashrc</a:t>
            </a:r>
            <a:r>
              <a:rPr lang="en-US" sz="84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persist them instantly.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0"/>
            <a:ext cx="5001220" cy="1428750"/>
          </a:xfrm>
          <a:prstGeom prst="rect">
            <a:avLst/>
          </a:prstGeom>
          <a:gradFill rotWithShape="1">
            <a:gsLst>
              <a:gs pos="0">
                <a:srgbClr val="7C3AED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063972"/>
            <a:ext cx="1942205" cy="13841"/>
          </a:xfrm>
          <a:custGeom>
            <a:avLst/>
            <a:gdLst/>
            <a:ahLst/>
            <a:cxnLst/>
            <a:rect l="l" t="t" r="r" b="b"/>
            <a:pathLst>
              <a:path w="1942205" h="13841">
                <a:moveTo>
                  <a:pt x="100330" y="0"/>
                </a:moveTo>
                <a:lnTo>
                  <a:pt x="1841875" y="0"/>
                </a:lnTo>
                <a:lnTo>
                  <a:pt x="1860427" y="1730"/>
                </a:lnTo>
                <a:lnTo>
                  <a:pt x="1867997" y="3460"/>
                </a:lnTo>
                <a:lnTo>
                  <a:pt x="1873727" y="5190"/>
                </a:lnTo>
                <a:lnTo>
                  <a:pt x="1878491" y="6920"/>
                </a:lnTo>
                <a:lnTo>
                  <a:pt x="1882630" y="8651"/>
                </a:lnTo>
                <a:lnTo>
                  <a:pt x="1886319" y="10381"/>
                </a:lnTo>
                <a:lnTo>
                  <a:pt x="1889661" y="12111"/>
                </a:lnTo>
                <a:lnTo>
                  <a:pt x="189272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C3AED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56123" y="1063972"/>
            <a:ext cx="1942205" cy="13841"/>
          </a:xfrm>
          <a:custGeom>
            <a:avLst/>
            <a:gdLst/>
            <a:ahLst/>
            <a:cxnLst/>
            <a:rect l="l" t="t" r="r" b="b"/>
            <a:pathLst>
              <a:path w="1942205" h="13841">
                <a:moveTo>
                  <a:pt x="100330" y="0"/>
                </a:moveTo>
                <a:lnTo>
                  <a:pt x="1841875" y="0"/>
                </a:lnTo>
                <a:lnTo>
                  <a:pt x="1860427" y="1730"/>
                </a:lnTo>
                <a:lnTo>
                  <a:pt x="1867997" y="3460"/>
                </a:lnTo>
                <a:lnTo>
                  <a:pt x="1873727" y="5190"/>
                </a:lnTo>
                <a:lnTo>
                  <a:pt x="1878491" y="6920"/>
                </a:lnTo>
                <a:lnTo>
                  <a:pt x="1882630" y="8651"/>
                </a:lnTo>
                <a:lnTo>
                  <a:pt x="1886319" y="10381"/>
                </a:lnTo>
                <a:lnTo>
                  <a:pt x="1889661" y="12111"/>
                </a:lnTo>
                <a:lnTo>
                  <a:pt x="189272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C3AED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45521" y="1063972"/>
            <a:ext cx="1942205" cy="13841"/>
          </a:xfrm>
          <a:custGeom>
            <a:avLst/>
            <a:gdLst/>
            <a:ahLst/>
            <a:cxnLst/>
            <a:rect l="l" t="t" r="r" b="b"/>
            <a:pathLst>
              <a:path w="1942205" h="13841">
                <a:moveTo>
                  <a:pt x="100330" y="0"/>
                </a:moveTo>
                <a:lnTo>
                  <a:pt x="1841875" y="0"/>
                </a:lnTo>
                <a:lnTo>
                  <a:pt x="1860427" y="1730"/>
                </a:lnTo>
                <a:lnTo>
                  <a:pt x="1867997" y="3460"/>
                </a:lnTo>
                <a:lnTo>
                  <a:pt x="1873727" y="5190"/>
                </a:lnTo>
                <a:lnTo>
                  <a:pt x="1878491" y="6920"/>
                </a:lnTo>
                <a:lnTo>
                  <a:pt x="1882630" y="8651"/>
                </a:lnTo>
                <a:lnTo>
                  <a:pt x="1886319" y="10381"/>
                </a:lnTo>
                <a:lnTo>
                  <a:pt x="1889661" y="12111"/>
                </a:lnTo>
                <a:lnTo>
                  <a:pt x="189272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C3AED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4919" y="1063972"/>
            <a:ext cx="1942357" cy="13841"/>
          </a:xfrm>
          <a:custGeom>
            <a:avLst/>
            <a:gdLst/>
            <a:ahLst/>
            <a:cxnLst/>
            <a:rect l="l" t="t" r="r" b="b"/>
            <a:pathLst>
              <a:path w="1942357" h="13841">
                <a:moveTo>
                  <a:pt x="100330" y="0"/>
                </a:moveTo>
                <a:lnTo>
                  <a:pt x="1842027" y="0"/>
                </a:lnTo>
                <a:lnTo>
                  <a:pt x="1860579" y="1730"/>
                </a:lnTo>
                <a:lnTo>
                  <a:pt x="1868149" y="3460"/>
                </a:lnTo>
                <a:lnTo>
                  <a:pt x="1873879" y="5190"/>
                </a:lnTo>
                <a:lnTo>
                  <a:pt x="1878644" y="6920"/>
                </a:lnTo>
                <a:lnTo>
                  <a:pt x="1882783" y="8651"/>
                </a:lnTo>
                <a:lnTo>
                  <a:pt x="1886471" y="10381"/>
                </a:lnTo>
                <a:lnTo>
                  <a:pt x="1889813" y="12111"/>
                </a:lnTo>
                <a:lnTo>
                  <a:pt x="1892878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C3AED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99591"/>
            <a:ext cx="383241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25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 Copilot CLI with </a:t>
            </a:r>
            <a:r>
              <a:rPr lang="en-US" sz="2250" b="1" kern="0" spc="-3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139208" y="356146"/>
            <a:ext cx="1622185" cy="201216"/>
          </a:xfrm>
          <a:prstGeom prst="roundRect">
            <a:avLst>
              <a:gd name="adj" fmla="val 71322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55000"/>
              </a:srgbClr>
            </a:solidFill>
          </a:ln>
        </p:spPr>
        <p:txBody>
          <a:bodyPr wrap="none" lIns="183803" tIns="21590" rIns="100330" bIns="21590" rtlCol="0" anchor="ctr"/>
          <a:lstStyle/>
          <a:p>
            <a:pPr marL="0" indent="0" algn="l">
              <a:buNone/>
            </a:pPr>
            <a:r>
              <a:rPr lang="en-US" sz="730" kern="0" spc="22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Context Protocol</a:t>
            </a:r>
            <a:endParaRPr lang="en-US" sz="73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8181" y="390385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71066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kern="0" spc="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tools &amp; data sources to Copilot — smarter suggestions, richer context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457200" y="1054447"/>
            <a:ext cx="1961257" cy="3241179"/>
          </a:xfrm>
          <a:prstGeom prst="roundRect">
            <a:avLst>
              <a:gd name="adj" fmla="val 5116"/>
            </a:avLst>
          </a:prstGeom>
          <a:solidFill>
            <a:srgbClr val="1C2330"/>
          </a:solidFill>
          <a:ln w="9525">
            <a:solidFill>
              <a:srgbClr val="7C3AED">
                <a:alpha val="5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899047" y="1054447"/>
            <a:ext cx="519410" cy="500341"/>
          </a:xfrm>
          <a:custGeom>
            <a:avLst/>
            <a:gdLst/>
            <a:ahLst/>
            <a:cxnLst/>
            <a:rect l="l" t="t" r="r" b="b"/>
            <a:pathLst>
              <a:path w="519410" h="500341">
                <a:moveTo>
                  <a:pt x="0" y="0"/>
                </a:moveTo>
                <a:lnTo>
                  <a:pt x="0" y="500341"/>
                </a:lnTo>
                <a:lnTo>
                  <a:pt x="519410" y="500341"/>
                </a:lnTo>
                <a:lnTo>
                  <a:pt x="519410" y="100330"/>
                </a:lnTo>
                <a:lnTo>
                  <a:pt x="517482" y="80756"/>
                </a:lnTo>
                <a:lnTo>
                  <a:pt x="511773" y="61935"/>
                </a:lnTo>
                <a:lnTo>
                  <a:pt x="502502" y="44589"/>
                </a:lnTo>
                <a:lnTo>
                  <a:pt x="490024" y="29386"/>
                </a:lnTo>
                <a:lnTo>
                  <a:pt x="474821" y="16909"/>
                </a:lnTo>
                <a:lnTo>
                  <a:pt x="457475" y="7637"/>
                </a:lnTo>
                <a:lnTo>
                  <a:pt x="438654" y="1928"/>
                </a:lnTo>
                <a:lnTo>
                  <a:pt x="419080" y="0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52016" y="1264593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172" y="1369749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2016" y="1678484"/>
            <a:ext cx="172878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MCP?</a:t>
            </a:r>
            <a:endParaRPr lang="en-US" sz="1130" dirty="0"/>
          </a:p>
        </p:txBody>
      </p:sp>
      <p:sp>
        <p:nvSpPr>
          <p:cNvPr id="18" name="Text 14"/>
          <p:cNvSpPr/>
          <p:nvPr/>
        </p:nvSpPr>
        <p:spPr>
          <a:xfrm>
            <a:off x="652016" y="1921520"/>
            <a:ext cx="1603058" cy="868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you connect external tools and data sources directly to Copilot CLI — extending its awareness beyond the terminal.</a:t>
            </a:r>
            <a:endParaRPr lang="en-US" sz="840" dirty="0"/>
          </a:p>
        </p:txBody>
      </p:sp>
      <p:sp>
        <p:nvSpPr>
          <p:cNvPr id="19" name="Text 15"/>
          <p:cNvSpPr/>
          <p:nvPr/>
        </p:nvSpPr>
        <p:spPr>
          <a:xfrm>
            <a:off x="652016" y="3963591"/>
            <a:ext cx="859780" cy="173206"/>
          </a:xfrm>
          <a:prstGeom prst="roundRect">
            <a:avLst>
              <a:gd name="adj" fmla="val 16864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mcp</a:t>
            </a:r>
            <a:endParaRPr lang="en-US" sz="680" dirty="0"/>
          </a:p>
        </p:txBody>
      </p:sp>
      <p:sp>
        <p:nvSpPr>
          <p:cNvPr id="20" name="Text 16"/>
          <p:cNvSpPr/>
          <p:nvPr/>
        </p:nvSpPr>
        <p:spPr>
          <a:xfrm>
            <a:off x="2546598" y="1054447"/>
            <a:ext cx="1961257" cy="3241179"/>
          </a:xfrm>
          <a:prstGeom prst="roundRect">
            <a:avLst>
              <a:gd name="adj" fmla="val 5116"/>
            </a:avLst>
          </a:prstGeom>
          <a:solidFill>
            <a:srgbClr val="1C2330"/>
          </a:solidFill>
          <a:ln w="9525">
            <a:solidFill>
              <a:srgbClr val="7C3AED">
                <a:alpha val="5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988445" y="1054447"/>
            <a:ext cx="519410" cy="500341"/>
          </a:xfrm>
          <a:custGeom>
            <a:avLst/>
            <a:gdLst/>
            <a:ahLst/>
            <a:cxnLst/>
            <a:rect l="l" t="t" r="r" b="b"/>
            <a:pathLst>
              <a:path w="519410" h="500341">
                <a:moveTo>
                  <a:pt x="0" y="0"/>
                </a:moveTo>
                <a:lnTo>
                  <a:pt x="0" y="500341"/>
                </a:lnTo>
                <a:lnTo>
                  <a:pt x="519410" y="500341"/>
                </a:lnTo>
                <a:lnTo>
                  <a:pt x="519410" y="100330"/>
                </a:lnTo>
                <a:lnTo>
                  <a:pt x="517482" y="80756"/>
                </a:lnTo>
                <a:lnTo>
                  <a:pt x="511773" y="61935"/>
                </a:lnTo>
                <a:lnTo>
                  <a:pt x="502502" y="44589"/>
                </a:lnTo>
                <a:lnTo>
                  <a:pt x="490024" y="29386"/>
                </a:lnTo>
                <a:lnTo>
                  <a:pt x="474821" y="16909"/>
                </a:lnTo>
                <a:lnTo>
                  <a:pt x="457475" y="7637"/>
                </a:lnTo>
                <a:lnTo>
                  <a:pt x="438654" y="1928"/>
                </a:lnTo>
                <a:lnTo>
                  <a:pt x="419080" y="0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2741414" y="1264593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6570" y="1369749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741414" y="1678484"/>
            <a:ext cx="172878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MCP Server</a:t>
            </a:r>
            <a:endParaRPr lang="en-US" sz="1130" dirty="0"/>
          </a:p>
        </p:txBody>
      </p:sp>
      <p:sp>
        <p:nvSpPr>
          <p:cNvPr id="25" name="Text 20"/>
          <p:cNvSpPr/>
          <p:nvPr/>
        </p:nvSpPr>
        <p:spPr>
          <a:xfrm>
            <a:off x="2741414" y="1921520"/>
            <a:ext cx="1603058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out of the box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query GitHub repos, issues, and PRs directly from your terminal without leaving the CLI.</a:t>
            </a:r>
            <a:endParaRPr lang="en-US" sz="840" dirty="0"/>
          </a:p>
        </p:txBody>
      </p:sp>
      <p:sp>
        <p:nvSpPr>
          <p:cNvPr id="26" name="Text 21"/>
          <p:cNvSpPr/>
          <p:nvPr/>
        </p:nvSpPr>
        <p:spPr>
          <a:xfrm>
            <a:off x="2741414" y="4021336"/>
            <a:ext cx="57150" cy="57150"/>
          </a:xfrm>
          <a:prstGeom prst="ellipse">
            <a:avLst/>
          </a:prstGeom>
          <a:solidFill>
            <a:srgbClr val="22C55E"/>
          </a:solidFill>
          <a:ln/>
          <a:effectLst>
            <a:outerShdw blurRad="101600" dist="50800" dir="16200000" algn="bl" rotWithShape="0">
              <a:srgbClr val="22C55E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2841724" y="3985171"/>
            <a:ext cx="69560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by default</a:t>
            </a:r>
            <a:endParaRPr lang="en-US" sz="680" dirty="0"/>
          </a:p>
        </p:txBody>
      </p:sp>
      <p:sp>
        <p:nvSpPr>
          <p:cNvPr id="28" name="Text 23"/>
          <p:cNvSpPr/>
          <p:nvPr/>
        </p:nvSpPr>
        <p:spPr>
          <a:xfrm>
            <a:off x="4635996" y="1054447"/>
            <a:ext cx="1961257" cy="3241179"/>
          </a:xfrm>
          <a:prstGeom prst="roundRect">
            <a:avLst>
              <a:gd name="adj" fmla="val 5116"/>
            </a:avLst>
          </a:prstGeom>
          <a:solidFill>
            <a:srgbClr val="1C2330"/>
          </a:solidFill>
          <a:ln w="9525">
            <a:solidFill>
              <a:srgbClr val="7C3AED">
                <a:alpha val="5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6077843" y="1054447"/>
            <a:ext cx="519410" cy="500341"/>
          </a:xfrm>
          <a:custGeom>
            <a:avLst/>
            <a:gdLst/>
            <a:ahLst/>
            <a:cxnLst/>
            <a:rect l="l" t="t" r="r" b="b"/>
            <a:pathLst>
              <a:path w="519410" h="500341">
                <a:moveTo>
                  <a:pt x="0" y="0"/>
                </a:moveTo>
                <a:lnTo>
                  <a:pt x="0" y="500341"/>
                </a:lnTo>
                <a:lnTo>
                  <a:pt x="519410" y="500341"/>
                </a:lnTo>
                <a:lnTo>
                  <a:pt x="519410" y="100330"/>
                </a:lnTo>
                <a:lnTo>
                  <a:pt x="517482" y="80756"/>
                </a:lnTo>
                <a:lnTo>
                  <a:pt x="511773" y="61935"/>
                </a:lnTo>
                <a:lnTo>
                  <a:pt x="502502" y="44589"/>
                </a:lnTo>
                <a:lnTo>
                  <a:pt x="490024" y="29386"/>
                </a:lnTo>
                <a:lnTo>
                  <a:pt x="474821" y="16909"/>
                </a:lnTo>
                <a:lnTo>
                  <a:pt x="457475" y="7637"/>
                </a:lnTo>
                <a:lnTo>
                  <a:pt x="438654" y="1928"/>
                </a:lnTo>
                <a:lnTo>
                  <a:pt x="419080" y="0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830812" y="1264593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5968" y="1369749"/>
            <a:ext cx="132588" cy="1325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830812" y="1678484"/>
            <a:ext cx="172878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Integrations</a:t>
            </a:r>
            <a:endParaRPr lang="en-US" sz="1130" dirty="0"/>
          </a:p>
        </p:txBody>
      </p:sp>
      <p:sp>
        <p:nvSpPr>
          <p:cNvPr id="33" name="Text 27"/>
          <p:cNvSpPr/>
          <p:nvPr/>
        </p:nvSpPr>
        <p:spPr>
          <a:xfrm>
            <a:off x="4830812" y="1921520"/>
            <a:ext cx="1603058" cy="868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domain-specific tools —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internal APIs, databases — and access them all from the CLI with natural language.</a:t>
            </a:r>
            <a:endParaRPr lang="en-US" sz="840" dirty="0"/>
          </a:p>
        </p:txBody>
      </p:sp>
      <p:sp>
        <p:nvSpPr>
          <p:cNvPr id="34" name="Text 28"/>
          <p:cNvSpPr/>
          <p:nvPr/>
        </p:nvSpPr>
        <p:spPr>
          <a:xfrm>
            <a:off x="4830812" y="3949898"/>
            <a:ext cx="307181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5173414" y="3949898"/>
            <a:ext cx="354509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</a:t>
            </a:r>
            <a:endParaRPr lang="en-US" sz="620" dirty="0"/>
          </a:p>
        </p:txBody>
      </p:sp>
      <p:sp>
        <p:nvSpPr>
          <p:cNvPr id="36" name="Text 30"/>
          <p:cNvSpPr/>
          <p:nvPr/>
        </p:nvSpPr>
        <p:spPr>
          <a:xfrm>
            <a:off x="5563344" y="3949898"/>
            <a:ext cx="307181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</a:t>
            </a:r>
            <a:endParaRPr lang="en-US" sz="620" dirty="0"/>
          </a:p>
        </p:txBody>
      </p:sp>
      <p:sp>
        <p:nvSpPr>
          <p:cNvPr id="37" name="Text 31"/>
          <p:cNvSpPr/>
          <p:nvPr/>
        </p:nvSpPr>
        <p:spPr>
          <a:xfrm>
            <a:off x="5905946" y="3949898"/>
            <a:ext cx="259854" cy="181228"/>
          </a:xfrm>
          <a:prstGeom prst="roundRect">
            <a:avLst>
              <a:gd name="adj" fmla="val 16118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6725394" y="1054447"/>
            <a:ext cx="1961406" cy="3241179"/>
          </a:xfrm>
          <a:prstGeom prst="roundRect">
            <a:avLst>
              <a:gd name="adj" fmla="val 5115"/>
            </a:avLst>
          </a:prstGeom>
          <a:gradFill rotWithShape="1">
            <a:gsLst>
              <a:gs pos="0">
                <a:srgbClr val="1E1A2E"/>
              </a:gs>
              <a:gs pos="60000">
                <a:srgbClr val="1C2330"/>
              </a:gs>
            </a:gsLst>
            <a:lin ang="3300000" scaled="1"/>
          </a:gradFill>
          <a:ln w="9525">
            <a:solidFill>
              <a:srgbClr val="A78BFA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6734919" y="1063972"/>
            <a:ext cx="1942356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A78BFA">
                  <a:alpha val="90000"/>
                </a:srgbClr>
              </a:gs>
              <a:gs pos="50000">
                <a:srgbClr val="7C3AED">
                  <a:alpha val="90000"/>
                </a:srgbClr>
              </a:gs>
              <a:gs pos="75000">
                <a:srgbClr val="A78BFA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8167393" y="1054447"/>
            <a:ext cx="519407" cy="500341"/>
          </a:xfrm>
          <a:custGeom>
            <a:avLst/>
            <a:gdLst/>
            <a:ahLst/>
            <a:cxnLst/>
            <a:rect l="l" t="t" r="r" b="b"/>
            <a:pathLst>
              <a:path w="519407" h="500341">
                <a:moveTo>
                  <a:pt x="0" y="0"/>
                </a:moveTo>
                <a:lnTo>
                  <a:pt x="0" y="500341"/>
                </a:lnTo>
                <a:lnTo>
                  <a:pt x="519407" y="500341"/>
                </a:lnTo>
                <a:lnTo>
                  <a:pt x="519407" y="100330"/>
                </a:lnTo>
                <a:lnTo>
                  <a:pt x="517479" y="80756"/>
                </a:lnTo>
                <a:lnTo>
                  <a:pt x="511769" y="61935"/>
                </a:lnTo>
                <a:lnTo>
                  <a:pt x="502498" y="44589"/>
                </a:lnTo>
                <a:lnTo>
                  <a:pt x="490021" y="29386"/>
                </a:lnTo>
                <a:lnTo>
                  <a:pt x="474817" y="16909"/>
                </a:lnTo>
                <a:lnTo>
                  <a:pt x="457471" y="7637"/>
                </a:lnTo>
                <a:lnTo>
                  <a:pt x="438650" y="1928"/>
                </a:lnTo>
                <a:lnTo>
                  <a:pt x="419077" y="0"/>
                </a:lnTo>
                <a:close/>
              </a:path>
            </a:pathLst>
          </a:custGeom>
          <a:gradFill rotWithShape="1">
            <a:gsLst>
              <a:gs pos="0">
                <a:srgbClr val="A78BFA">
                  <a:alpha val="25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6920210" y="1264593"/>
            <a:ext cx="342900" cy="342900"/>
          </a:xfrm>
          <a:prstGeom prst="roundRect">
            <a:avLst>
              <a:gd name="adj" fmla="val 25185"/>
            </a:avLst>
          </a:prstGeom>
          <a:solidFill>
            <a:srgbClr val="7C3AED">
              <a:alpha val="25000"/>
            </a:srgbClr>
          </a:solidFill>
          <a:ln w="9525">
            <a:solidFill>
              <a:srgbClr val="A78BFA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5366" y="1369749"/>
            <a:ext cx="132588" cy="132588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920210" y="1678484"/>
            <a:ext cx="1728951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kern="0" spc="11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It Matters</a:t>
            </a:r>
            <a:endParaRPr lang="en-US" sz="1130" dirty="0"/>
          </a:p>
        </p:txBody>
      </p:sp>
      <p:sp>
        <p:nvSpPr>
          <p:cNvPr id="44" name="Text 37"/>
          <p:cNvSpPr/>
          <p:nvPr/>
        </p:nvSpPr>
        <p:spPr>
          <a:xfrm>
            <a:off x="6920210" y="1921520"/>
            <a:ext cx="1603209" cy="868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gains </a:t>
            </a:r>
            <a:r>
              <a:rPr lang="en-US" sz="84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context</a:t>
            </a: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your environment — delivering smarter, more relevant suggestions tailored to your actual stack.</a:t>
            </a:r>
            <a:endParaRPr lang="en-US" sz="84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91495" y="3978780"/>
            <a:ext cx="132588" cy="13258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052518" y="3975646"/>
            <a:ext cx="132982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suggestions</a:t>
            </a:r>
            <a:endParaRPr lang="en-US" sz="730" dirty="0"/>
          </a:p>
        </p:txBody>
      </p:sp>
      <p:sp>
        <p:nvSpPr>
          <p:cNvPr id="47" name="Text 39"/>
          <p:cNvSpPr/>
          <p:nvPr/>
        </p:nvSpPr>
        <p:spPr>
          <a:xfrm>
            <a:off x="457200" y="4423767"/>
            <a:ext cx="8229600" cy="461963"/>
          </a:xfrm>
          <a:prstGeom prst="roundRect">
            <a:avLst>
              <a:gd name="adj" fmla="val 15395"/>
            </a:avLst>
          </a:prstGeom>
          <a:gradFill rotWithShape="1">
            <a:gsLst>
              <a:gs pos="0">
                <a:srgbClr val="7C3AED">
                  <a:alpha val="12000"/>
                </a:srgbClr>
              </a:gs>
              <a:gs pos="100000">
                <a:srgbClr val="7C3AED">
                  <a:alpha val="5000"/>
                </a:srgbClr>
              </a:gs>
            </a:gsLst>
            <a:lin ang="2700000" scaled="1"/>
          </a:gra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952" y="4588454"/>
            <a:ext cx="132588" cy="13258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820638" y="4504283"/>
            <a:ext cx="4727653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endParaRPr lang="en-US" sz="79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MCP servers expose tools via a standard protocol — Copilot calls them automatically when relevant to your request</a:t>
            </a:r>
            <a:endParaRPr lang="en-US" sz="790" dirty="0"/>
          </a:p>
        </p:txBody>
      </p:sp>
      <p:sp>
        <p:nvSpPr>
          <p:cNvPr id="50" name="Text 41"/>
          <p:cNvSpPr/>
          <p:nvPr/>
        </p:nvSpPr>
        <p:spPr>
          <a:xfrm>
            <a:off x="5571083" y="4504283"/>
            <a:ext cx="7590" cy="30093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5694164" y="4585246"/>
            <a:ext cx="1164967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mcp list</a:t>
            </a:r>
            <a:endParaRPr lang="en-US" sz="730" dirty="0"/>
          </a:p>
        </p:txBody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0830" y="4588380"/>
            <a:ext cx="132588" cy="132588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7001024" y="4585246"/>
            <a:ext cx="165528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copilot mcp add &lt;server&gt;</a:t>
            </a:r>
            <a:endParaRPr lang="en-US" sz="7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143970" cy="328553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856780"/>
            <a:ext cx="4000500" cy="328672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640" y="142875"/>
            <a:ext cx="5572720" cy="4857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3045" y="1268909"/>
            <a:ext cx="1500778" cy="13841"/>
          </a:xfrm>
          <a:custGeom>
            <a:avLst/>
            <a:gdLst/>
            <a:ahLst/>
            <a:cxnLst/>
            <a:rect l="l" t="t" r="r" b="b"/>
            <a:pathLst>
              <a:path w="1500778" h="13841">
                <a:moveTo>
                  <a:pt x="86360" y="0"/>
                </a:moveTo>
                <a:lnTo>
                  <a:pt x="1414418" y="0"/>
                </a:lnTo>
                <a:lnTo>
                  <a:pt x="1414418" y="0"/>
                </a:lnTo>
                <a:lnTo>
                  <a:pt x="1431266" y="1659"/>
                </a:lnTo>
                <a:lnTo>
                  <a:pt x="1447467" y="6574"/>
                </a:lnTo>
                <a:lnTo>
                  <a:pt x="1462397" y="13841"/>
                </a:lnTo>
                <a:lnTo>
                  <a:pt x="1475484" y="13841"/>
                </a:lnTo>
                <a:lnTo>
                  <a:pt x="1486224" y="13841"/>
                </a:lnTo>
                <a:lnTo>
                  <a:pt x="1494204" y="13841"/>
                </a:lnTo>
                <a:lnTo>
                  <a:pt x="1499119" y="13841"/>
                </a:lnTo>
                <a:lnTo>
                  <a:pt x="1500778" y="13841"/>
                </a:lnTo>
                <a:lnTo>
                  <a:pt x="1500778" y="13841"/>
                </a:lnTo>
                <a:lnTo>
                  <a:pt x="0" y="13841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3841"/>
                </a:lnTo>
                <a:lnTo>
                  <a:pt x="25294" y="13841"/>
                </a:lnTo>
                <a:lnTo>
                  <a:pt x="14554" y="13841"/>
                </a:lnTo>
                <a:lnTo>
                  <a:pt x="6574" y="13841"/>
                </a:lnTo>
                <a:lnTo>
                  <a:pt x="1659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70000"/>
                </a:srgbClr>
              </a:gs>
              <a:gs pos="100000">
                <a:srgbClr val="9D5CF6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821460" y="1268909"/>
            <a:ext cx="1500930" cy="13841"/>
          </a:xfrm>
          <a:custGeom>
            <a:avLst/>
            <a:gdLst/>
            <a:ahLst/>
            <a:cxnLst/>
            <a:rect l="l" t="t" r="r" b="b"/>
            <a:pathLst>
              <a:path w="1500930" h="13841">
                <a:moveTo>
                  <a:pt x="86360" y="0"/>
                </a:moveTo>
                <a:lnTo>
                  <a:pt x="1414570" y="0"/>
                </a:lnTo>
                <a:lnTo>
                  <a:pt x="1414570" y="0"/>
                </a:lnTo>
                <a:lnTo>
                  <a:pt x="1431418" y="1659"/>
                </a:lnTo>
                <a:lnTo>
                  <a:pt x="1447619" y="6574"/>
                </a:lnTo>
                <a:lnTo>
                  <a:pt x="1462549" y="13841"/>
                </a:lnTo>
                <a:lnTo>
                  <a:pt x="1475636" y="13841"/>
                </a:lnTo>
                <a:lnTo>
                  <a:pt x="1486376" y="13841"/>
                </a:lnTo>
                <a:lnTo>
                  <a:pt x="1494357" y="13841"/>
                </a:lnTo>
                <a:lnTo>
                  <a:pt x="1499271" y="13841"/>
                </a:lnTo>
                <a:lnTo>
                  <a:pt x="1500930" y="13841"/>
                </a:lnTo>
                <a:lnTo>
                  <a:pt x="1500930" y="13841"/>
                </a:lnTo>
                <a:lnTo>
                  <a:pt x="0" y="13841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3841"/>
                </a:lnTo>
                <a:lnTo>
                  <a:pt x="25294" y="13841"/>
                </a:lnTo>
                <a:lnTo>
                  <a:pt x="14554" y="13841"/>
                </a:lnTo>
                <a:lnTo>
                  <a:pt x="6574" y="13841"/>
                </a:lnTo>
                <a:lnTo>
                  <a:pt x="1659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70000"/>
                </a:srgbClr>
              </a:gs>
              <a:gs pos="100000">
                <a:srgbClr val="9D5CF6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7090023" y="1268909"/>
            <a:ext cx="1500778" cy="13841"/>
          </a:xfrm>
          <a:custGeom>
            <a:avLst/>
            <a:gdLst/>
            <a:ahLst/>
            <a:cxnLst/>
            <a:rect l="l" t="t" r="r" b="b"/>
            <a:pathLst>
              <a:path w="1500778" h="13841">
                <a:moveTo>
                  <a:pt x="86360" y="0"/>
                </a:moveTo>
                <a:lnTo>
                  <a:pt x="1414418" y="0"/>
                </a:lnTo>
                <a:lnTo>
                  <a:pt x="1414418" y="0"/>
                </a:lnTo>
                <a:lnTo>
                  <a:pt x="1431266" y="1659"/>
                </a:lnTo>
                <a:lnTo>
                  <a:pt x="1447467" y="6574"/>
                </a:lnTo>
                <a:lnTo>
                  <a:pt x="1462397" y="13841"/>
                </a:lnTo>
                <a:lnTo>
                  <a:pt x="1475484" y="13841"/>
                </a:lnTo>
                <a:lnTo>
                  <a:pt x="1486224" y="13841"/>
                </a:lnTo>
                <a:lnTo>
                  <a:pt x="1494204" y="13841"/>
                </a:lnTo>
                <a:lnTo>
                  <a:pt x="1499119" y="13841"/>
                </a:lnTo>
                <a:lnTo>
                  <a:pt x="1500778" y="13841"/>
                </a:lnTo>
                <a:lnTo>
                  <a:pt x="1500778" y="13841"/>
                </a:lnTo>
                <a:lnTo>
                  <a:pt x="0" y="13841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3841"/>
                </a:lnTo>
                <a:lnTo>
                  <a:pt x="25294" y="13841"/>
                </a:lnTo>
                <a:lnTo>
                  <a:pt x="14554" y="13841"/>
                </a:lnTo>
                <a:lnTo>
                  <a:pt x="6574" y="13841"/>
                </a:lnTo>
                <a:lnTo>
                  <a:pt x="1659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70000"/>
                </a:srgbClr>
              </a:gs>
              <a:gs pos="100000">
                <a:srgbClr val="9D5CF6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187178" y="3299966"/>
            <a:ext cx="1500930" cy="13841"/>
          </a:xfrm>
          <a:custGeom>
            <a:avLst/>
            <a:gdLst/>
            <a:ahLst/>
            <a:cxnLst/>
            <a:rect l="l" t="t" r="r" b="b"/>
            <a:pathLst>
              <a:path w="1500930" h="13841">
                <a:moveTo>
                  <a:pt x="86360" y="0"/>
                </a:moveTo>
                <a:lnTo>
                  <a:pt x="1414570" y="0"/>
                </a:lnTo>
                <a:lnTo>
                  <a:pt x="1414570" y="0"/>
                </a:lnTo>
                <a:lnTo>
                  <a:pt x="1431418" y="1659"/>
                </a:lnTo>
                <a:lnTo>
                  <a:pt x="1447619" y="6574"/>
                </a:lnTo>
                <a:lnTo>
                  <a:pt x="1462549" y="13841"/>
                </a:lnTo>
                <a:lnTo>
                  <a:pt x="1475636" y="13841"/>
                </a:lnTo>
                <a:lnTo>
                  <a:pt x="1486376" y="13841"/>
                </a:lnTo>
                <a:lnTo>
                  <a:pt x="1494357" y="13841"/>
                </a:lnTo>
                <a:lnTo>
                  <a:pt x="1499271" y="13841"/>
                </a:lnTo>
                <a:lnTo>
                  <a:pt x="1500930" y="13841"/>
                </a:lnTo>
                <a:lnTo>
                  <a:pt x="1500930" y="13841"/>
                </a:lnTo>
                <a:lnTo>
                  <a:pt x="0" y="13841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3841"/>
                </a:lnTo>
                <a:lnTo>
                  <a:pt x="25294" y="13841"/>
                </a:lnTo>
                <a:lnTo>
                  <a:pt x="14554" y="13841"/>
                </a:lnTo>
                <a:lnTo>
                  <a:pt x="6574" y="13841"/>
                </a:lnTo>
                <a:lnTo>
                  <a:pt x="1659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70000"/>
                </a:srgbClr>
              </a:gs>
              <a:gs pos="100000">
                <a:srgbClr val="9D5CF6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455741" y="3299966"/>
            <a:ext cx="1500930" cy="13841"/>
          </a:xfrm>
          <a:custGeom>
            <a:avLst/>
            <a:gdLst/>
            <a:ahLst/>
            <a:cxnLst/>
            <a:rect l="l" t="t" r="r" b="b"/>
            <a:pathLst>
              <a:path w="1500930" h="13841">
                <a:moveTo>
                  <a:pt x="86360" y="0"/>
                </a:moveTo>
                <a:lnTo>
                  <a:pt x="1414570" y="0"/>
                </a:lnTo>
                <a:lnTo>
                  <a:pt x="1414570" y="0"/>
                </a:lnTo>
                <a:lnTo>
                  <a:pt x="1431418" y="1659"/>
                </a:lnTo>
                <a:lnTo>
                  <a:pt x="1447619" y="6574"/>
                </a:lnTo>
                <a:lnTo>
                  <a:pt x="1462549" y="13841"/>
                </a:lnTo>
                <a:lnTo>
                  <a:pt x="1475636" y="13841"/>
                </a:lnTo>
                <a:lnTo>
                  <a:pt x="1486376" y="13841"/>
                </a:lnTo>
                <a:lnTo>
                  <a:pt x="1494357" y="13841"/>
                </a:lnTo>
                <a:lnTo>
                  <a:pt x="1499271" y="13841"/>
                </a:lnTo>
                <a:lnTo>
                  <a:pt x="1500930" y="13841"/>
                </a:lnTo>
                <a:lnTo>
                  <a:pt x="1500930" y="13841"/>
                </a:lnTo>
                <a:lnTo>
                  <a:pt x="0" y="13841"/>
                </a:lnTo>
                <a:lnTo>
                  <a:pt x="0" y="86360"/>
                </a:lnTo>
                <a:lnTo>
                  <a:pt x="86360" y="0"/>
                </a:lnTo>
                <a:lnTo>
                  <a:pt x="69512" y="1659"/>
                </a:lnTo>
                <a:lnTo>
                  <a:pt x="53311" y="6574"/>
                </a:lnTo>
                <a:lnTo>
                  <a:pt x="38381" y="13841"/>
                </a:lnTo>
                <a:lnTo>
                  <a:pt x="25294" y="13841"/>
                </a:lnTo>
                <a:lnTo>
                  <a:pt x="14554" y="13841"/>
                </a:lnTo>
                <a:lnTo>
                  <a:pt x="6574" y="13841"/>
                </a:lnTo>
                <a:lnTo>
                  <a:pt x="1659" y="13841"/>
                </a:lnTo>
                <a:lnTo>
                  <a:pt x="0" y="13841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70000"/>
                </a:srgbClr>
              </a:gs>
              <a:gs pos="100000">
                <a:srgbClr val="9D5CF6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429220" y="314920"/>
            <a:ext cx="1067035" cy="216396"/>
          </a:xfrm>
          <a:prstGeom prst="roundRect">
            <a:avLst>
              <a:gd name="adj" fmla="val 66318"/>
            </a:avLst>
          </a:prstGeom>
          <a:solidFill>
            <a:srgbClr val="7C3AED">
              <a:alpha val="12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213012" tIns="29210" rIns="100330" bIns="29210" rtlCol="0" anchor="ctr"/>
          <a:lstStyle/>
          <a:p>
            <a:pPr marL="0" indent="0" algn="l">
              <a:buNone/>
            </a:pPr>
            <a:r>
              <a:rPr lang="en-US" sz="730" b="1" kern="0" spc="29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Workflow</a:t>
            </a:r>
            <a:endParaRPr lang="en-US" sz="73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513" y="356750"/>
            <a:ext cx="132588" cy="132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29220" y="602307"/>
            <a:ext cx="443197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spcBef>
                <a:spcPts val="560"/>
              </a:spcBef>
              <a:buNone/>
            </a:pPr>
            <a:r>
              <a:rPr lang="en-US" sz="225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Day in the Life with </a:t>
            </a:r>
            <a:r>
              <a:rPr lang="en-US" sz="2250" b="1" kern="0" spc="-30" dirty="0">
                <a:solidFill>
                  <a:srgbClr val="9D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 CLI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429220" y="959793"/>
            <a:ext cx="45562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pair programmer — active from morning standup to final commit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6896695" y="344091"/>
            <a:ext cx="1818084" cy="290513"/>
          </a:xfrm>
          <a:prstGeom prst="roundRect">
            <a:avLst>
              <a:gd name="adj" fmla="val 2972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6139" y="423053"/>
            <a:ext cx="132588" cy="132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01495" y="424607"/>
            <a:ext cx="34788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680" dirty="0"/>
          </a:p>
        </p:txBody>
      </p:sp>
      <p:sp>
        <p:nvSpPr>
          <p:cNvPr id="19" name="Text 12"/>
          <p:cNvSpPr/>
          <p:nvPr/>
        </p:nvSpPr>
        <p:spPr>
          <a:xfrm>
            <a:off x="7588746" y="478482"/>
            <a:ext cx="429220" cy="21580"/>
          </a:xfrm>
          <a:prstGeom prst="roundRect">
            <a:avLst>
              <a:gd name="adj" fmla="val 64736"/>
            </a:avLst>
          </a:prstGeom>
          <a:gradFill rotWithShape="1">
            <a:gsLst>
              <a:gs pos="0">
                <a:srgbClr val="F59E0B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8088957" y="424607"/>
            <a:ext cx="35312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</a:t>
            </a:r>
            <a:endParaRPr lang="en-US" sz="68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62748" y="423053"/>
            <a:ext cx="132588" cy="132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3520" y="1259384"/>
            <a:ext cx="1519833" cy="1190625"/>
          </a:xfrm>
          <a:prstGeom prst="roundRect">
            <a:avLst>
              <a:gd name="adj" fmla="val 7253"/>
            </a:avLst>
          </a:prstGeom>
          <a:solidFill>
            <a:srgbClr val="161B22"/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5"/>
          <p:cNvSpPr/>
          <p:nvPr/>
        </p:nvSpPr>
        <p:spPr>
          <a:xfrm>
            <a:off x="659606" y="1369219"/>
            <a:ext cx="441600" cy="153442"/>
          </a:xfrm>
          <a:prstGeom prst="roundRect">
            <a:avLst>
              <a:gd name="adj" fmla="val 935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</a:t>
            </a:r>
            <a:endParaRPr lang="en-US" sz="560" dirty="0"/>
          </a:p>
        </p:txBody>
      </p:sp>
      <p:sp>
        <p:nvSpPr>
          <p:cNvPr id="24" name="Text 16"/>
          <p:cNvSpPr/>
          <p:nvPr/>
        </p:nvSpPr>
        <p:spPr>
          <a:xfrm>
            <a:off x="772269" y="1565821"/>
            <a:ext cx="104971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54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STANDUP</a:t>
            </a:r>
            <a:endParaRPr lang="en-US" sz="68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064" y="1564193"/>
            <a:ext cx="132588" cy="1325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59606" y="1724471"/>
            <a:ext cx="1416427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up on team activity fast</a:t>
            </a:r>
            <a:endParaRPr lang="en-US" sz="700" dirty="0"/>
          </a:p>
        </p:txBody>
      </p:sp>
      <p:sp>
        <p:nvSpPr>
          <p:cNvPr id="27" name="Text 18"/>
          <p:cNvSpPr/>
          <p:nvPr/>
        </p:nvSpPr>
        <p:spPr>
          <a:xfrm>
            <a:off x="659606" y="1905893"/>
            <a:ext cx="1287661" cy="455280"/>
          </a:xfrm>
          <a:prstGeom prst="roundRect">
            <a:avLst>
              <a:gd name="adj" fmla="val 9484"/>
            </a:avLst>
          </a:prstGeom>
          <a:solidFill>
            <a:srgbClr val="000000">
              <a:alpha val="40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lIns="64770" tIns="43180" rIns="64770" bIns="4318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6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590" kern="0" spc="6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 "show git log from yesterday across all branches"</a:t>
            </a:r>
            <a:endParaRPr lang="en-US" sz="590" dirty="0"/>
          </a:p>
        </p:txBody>
      </p:sp>
      <p:sp>
        <p:nvSpPr>
          <p:cNvPr id="28" name="Text 19"/>
          <p:cNvSpPr/>
          <p:nvPr/>
        </p:nvSpPr>
        <p:spPr>
          <a:xfrm>
            <a:off x="1296442" y="2450009"/>
            <a:ext cx="13841" cy="2006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0"/>
          <p:cNvSpPr/>
          <p:nvPr/>
        </p:nvSpPr>
        <p:spPr>
          <a:xfrm>
            <a:off x="3811935" y="1259384"/>
            <a:ext cx="1519982" cy="1202680"/>
          </a:xfrm>
          <a:prstGeom prst="roundRect">
            <a:avLst>
              <a:gd name="adj" fmla="val 7181"/>
            </a:avLst>
          </a:prstGeom>
          <a:solidFill>
            <a:srgbClr val="161B22"/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1"/>
          <p:cNvSpPr/>
          <p:nvPr/>
        </p:nvSpPr>
        <p:spPr>
          <a:xfrm>
            <a:off x="3928021" y="1369219"/>
            <a:ext cx="440234" cy="153442"/>
          </a:xfrm>
          <a:prstGeom prst="roundRect">
            <a:avLst>
              <a:gd name="adj" fmla="val 935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PM</a:t>
            </a:r>
            <a:endParaRPr lang="en-US" sz="560" dirty="0"/>
          </a:p>
        </p:txBody>
      </p:sp>
      <p:sp>
        <p:nvSpPr>
          <p:cNvPr id="31" name="Text 22"/>
          <p:cNvSpPr/>
          <p:nvPr/>
        </p:nvSpPr>
        <p:spPr>
          <a:xfrm>
            <a:off x="4040684" y="1565821"/>
            <a:ext cx="65304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54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68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96478" y="1564193"/>
            <a:ext cx="132588" cy="1325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928021" y="1724471"/>
            <a:ext cx="1313566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Demystify complex pipes instantly</a:t>
            </a:r>
            <a:endParaRPr lang="en-US" sz="700" dirty="0"/>
          </a:p>
        </p:txBody>
      </p:sp>
      <p:sp>
        <p:nvSpPr>
          <p:cNvPr id="34" name="Text 24"/>
          <p:cNvSpPr/>
          <p:nvPr/>
        </p:nvSpPr>
        <p:spPr>
          <a:xfrm>
            <a:off x="3928021" y="2030164"/>
            <a:ext cx="1287810" cy="339697"/>
          </a:xfrm>
          <a:prstGeom prst="roundRect">
            <a:avLst>
              <a:gd name="adj" fmla="val 12711"/>
            </a:avLst>
          </a:prstGeom>
          <a:solidFill>
            <a:srgbClr val="000000">
              <a:alpha val="40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lIns="64770" tIns="43180" rIns="64770" bIns="4318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6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590" kern="0" spc="6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 "ps aux | grep python | awk '{print $2}'"</a:t>
            </a:r>
            <a:endParaRPr lang="en-US" sz="590" dirty="0"/>
          </a:p>
        </p:txBody>
      </p:sp>
      <p:sp>
        <p:nvSpPr>
          <p:cNvPr id="35" name="Text 25"/>
          <p:cNvSpPr/>
          <p:nvPr/>
        </p:nvSpPr>
        <p:spPr>
          <a:xfrm>
            <a:off x="4565005" y="2462064"/>
            <a:ext cx="13841" cy="2006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7080498" y="1259384"/>
            <a:ext cx="1519833" cy="1314896"/>
          </a:xfrm>
          <a:prstGeom prst="roundRect">
            <a:avLst>
              <a:gd name="adj" fmla="val 6568"/>
            </a:avLst>
          </a:prstGeom>
          <a:solidFill>
            <a:srgbClr val="161B22"/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7"/>
          <p:cNvSpPr/>
          <p:nvPr/>
        </p:nvSpPr>
        <p:spPr>
          <a:xfrm>
            <a:off x="7196584" y="1369219"/>
            <a:ext cx="440234" cy="153442"/>
          </a:xfrm>
          <a:prstGeom prst="roundRect">
            <a:avLst>
              <a:gd name="adj" fmla="val 935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5:30 PM</a:t>
            </a:r>
            <a:endParaRPr lang="en-US" sz="560" dirty="0"/>
          </a:p>
        </p:txBody>
      </p:sp>
      <p:sp>
        <p:nvSpPr>
          <p:cNvPr id="38" name="Text 28"/>
          <p:cNvSpPr/>
          <p:nvPr/>
        </p:nvSpPr>
        <p:spPr>
          <a:xfrm>
            <a:off x="7309247" y="1565821"/>
            <a:ext cx="65189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54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</a:t>
            </a:r>
            <a:endParaRPr lang="en-US" sz="68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65041" y="1564193"/>
            <a:ext cx="132588" cy="132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96584" y="1724471"/>
            <a:ext cx="1313414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clean, conventional commits</a:t>
            </a:r>
            <a:endParaRPr lang="en-US" sz="700" dirty="0"/>
          </a:p>
        </p:txBody>
      </p:sp>
      <p:sp>
        <p:nvSpPr>
          <p:cNvPr id="41" name="Text 30"/>
          <p:cNvSpPr/>
          <p:nvPr/>
        </p:nvSpPr>
        <p:spPr>
          <a:xfrm>
            <a:off x="7196584" y="2030164"/>
            <a:ext cx="1287661" cy="455280"/>
          </a:xfrm>
          <a:prstGeom prst="roundRect">
            <a:avLst>
              <a:gd name="adj" fmla="val 9484"/>
            </a:avLst>
          </a:prstGeom>
          <a:solidFill>
            <a:srgbClr val="000000">
              <a:alpha val="40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lIns="64770" tIns="43180" rIns="64770" bIns="4318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6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590" kern="0" spc="6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 "commit all staged files with a conventional commit message"</a:t>
            </a:r>
            <a:endParaRPr lang="en-US" sz="590" dirty="0"/>
          </a:p>
        </p:txBody>
      </p:sp>
      <p:sp>
        <p:nvSpPr>
          <p:cNvPr id="42" name="Text 31"/>
          <p:cNvSpPr/>
          <p:nvPr/>
        </p:nvSpPr>
        <p:spPr>
          <a:xfrm>
            <a:off x="7833420" y="2574280"/>
            <a:ext cx="13841" cy="2006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2"/>
          <p:cNvSpPr/>
          <p:nvPr/>
        </p:nvSpPr>
        <p:spPr>
          <a:xfrm>
            <a:off x="657820" y="2917775"/>
            <a:ext cx="7828359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7C3AED"/>
              </a:gs>
              <a:gs pos="50000">
                <a:srgbClr val="9D5CF6"/>
              </a:gs>
              <a:gs pos="92000">
                <a:srgbClr val="7C3AE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  <a:effectLst>
            <a:outerShdw blurRad="114300" dist="50800" dir="16200000" algn="bl" rotWithShape="0">
              <a:srgbClr val="7C3AED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1145977" y="2774900"/>
            <a:ext cx="314920" cy="346412"/>
          </a:xfrm>
          <a:prstGeom prst="ellipse">
            <a:avLst/>
          </a:prstGeom>
          <a:solidFill>
            <a:srgbClr val="0D1117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7C3AED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40" dirty="0"/>
          </a:p>
        </p:txBody>
      </p:sp>
      <p:sp>
        <p:nvSpPr>
          <p:cNvPr id="45" name="Text 34"/>
          <p:cNvSpPr/>
          <p:nvPr/>
        </p:nvSpPr>
        <p:spPr>
          <a:xfrm>
            <a:off x="2780258" y="2774900"/>
            <a:ext cx="314920" cy="346412"/>
          </a:xfrm>
          <a:prstGeom prst="ellipse">
            <a:avLst/>
          </a:prstGeom>
          <a:solidFill>
            <a:srgbClr val="0D1117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7C3AED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40" dirty="0"/>
          </a:p>
        </p:txBody>
      </p:sp>
      <p:sp>
        <p:nvSpPr>
          <p:cNvPr id="46" name="Text 35"/>
          <p:cNvSpPr/>
          <p:nvPr/>
        </p:nvSpPr>
        <p:spPr>
          <a:xfrm>
            <a:off x="4414540" y="2774900"/>
            <a:ext cx="314920" cy="346412"/>
          </a:xfrm>
          <a:prstGeom prst="ellipse">
            <a:avLst/>
          </a:prstGeom>
          <a:solidFill>
            <a:srgbClr val="0D1117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7C3AED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40" dirty="0"/>
          </a:p>
        </p:txBody>
      </p:sp>
      <p:sp>
        <p:nvSpPr>
          <p:cNvPr id="47" name="Text 36"/>
          <p:cNvSpPr/>
          <p:nvPr/>
        </p:nvSpPr>
        <p:spPr>
          <a:xfrm>
            <a:off x="6048821" y="2774900"/>
            <a:ext cx="314920" cy="346412"/>
          </a:xfrm>
          <a:prstGeom prst="ellipse">
            <a:avLst/>
          </a:prstGeom>
          <a:solidFill>
            <a:srgbClr val="0D1117"/>
          </a:solidFill>
          <a:ln w="19050">
            <a:solidFill>
              <a:srgbClr val="7C3AED"/>
            </a:solidFill>
          </a:ln>
          <a:effectLst>
            <a:outerShdw blurRad="101600" dist="50800" dir="16200000" algn="bl" rotWithShape="0">
              <a:srgbClr val="7C3AED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40" dirty="0"/>
          </a:p>
        </p:txBody>
      </p:sp>
      <p:sp>
        <p:nvSpPr>
          <p:cNvPr id="48" name="Text 37"/>
          <p:cNvSpPr/>
          <p:nvPr/>
        </p:nvSpPr>
        <p:spPr>
          <a:xfrm>
            <a:off x="7683103" y="2774900"/>
            <a:ext cx="314920" cy="346412"/>
          </a:xfrm>
          <a:prstGeom prst="ellipse">
            <a:avLst/>
          </a:prstGeom>
          <a:solidFill>
            <a:srgbClr val="0D1117"/>
          </a:solidFill>
          <a:ln w="19050">
            <a:solidFill>
              <a:srgbClr val="10B981"/>
            </a:solidFill>
          </a:ln>
          <a:effectLst>
            <a:outerShdw blurRad="101600" dist="50800" dir="16200000" algn="bl" rotWithShape="0">
              <a:srgbClr val="10B981">
                <a:alpha val="12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40" dirty="0"/>
          </a:p>
        </p:txBody>
      </p:sp>
      <p:sp>
        <p:nvSpPr>
          <p:cNvPr id="49" name="Text 38"/>
          <p:cNvSpPr/>
          <p:nvPr/>
        </p:nvSpPr>
        <p:spPr>
          <a:xfrm>
            <a:off x="2930723" y="3089821"/>
            <a:ext cx="13841" cy="2006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9"/>
          <p:cNvSpPr/>
          <p:nvPr/>
        </p:nvSpPr>
        <p:spPr>
          <a:xfrm>
            <a:off x="2177653" y="3290441"/>
            <a:ext cx="1519982" cy="1314896"/>
          </a:xfrm>
          <a:prstGeom prst="roundRect">
            <a:avLst>
              <a:gd name="adj" fmla="val 6568"/>
            </a:avLst>
          </a:prstGeom>
          <a:solidFill>
            <a:srgbClr val="161B22"/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0"/>
          <p:cNvSpPr/>
          <p:nvPr/>
        </p:nvSpPr>
        <p:spPr>
          <a:xfrm>
            <a:off x="2293739" y="3400276"/>
            <a:ext cx="486079" cy="153442"/>
          </a:xfrm>
          <a:prstGeom prst="roundRect">
            <a:avLst>
              <a:gd name="adj" fmla="val 935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10:30 AM</a:t>
            </a:r>
            <a:endParaRPr lang="en-US" sz="560" dirty="0"/>
          </a:p>
        </p:txBody>
      </p:sp>
      <p:sp>
        <p:nvSpPr>
          <p:cNvPr id="52" name="Text 41"/>
          <p:cNvSpPr/>
          <p:nvPr/>
        </p:nvSpPr>
        <p:spPr>
          <a:xfrm>
            <a:off x="2406402" y="3596878"/>
            <a:ext cx="85833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54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WORK</a:t>
            </a:r>
            <a:endParaRPr lang="en-US" sz="68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262196" y="3595250"/>
            <a:ext cx="132588" cy="13258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2293739" y="3755529"/>
            <a:ext cx="1313566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push without memorizing syntax</a:t>
            </a:r>
            <a:endParaRPr lang="en-US" sz="700" dirty="0"/>
          </a:p>
        </p:txBody>
      </p:sp>
      <p:sp>
        <p:nvSpPr>
          <p:cNvPr id="55" name="Text 43"/>
          <p:cNvSpPr/>
          <p:nvPr/>
        </p:nvSpPr>
        <p:spPr>
          <a:xfrm>
            <a:off x="2293739" y="4061222"/>
            <a:ext cx="1287810" cy="455280"/>
          </a:xfrm>
          <a:prstGeom prst="roundRect">
            <a:avLst>
              <a:gd name="adj" fmla="val 9484"/>
            </a:avLst>
          </a:prstGeom>
          <a:solidFill>
            <a:srgbClr val="000000">
              <a:alpha val="40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lIns="64770" tIns="43180" rIns="64770" bIns="4318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6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590" kern="0" spc="6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 "create a new branch from main and push to remote"</a:t>
            </a:r>
            <a:endParaRPr lang="en-US" sz="590" dirty="0"/>
          </a:p>
        </p:txBody>
      </p:sp>
      <p:sp>
        <p:nvSpPr>
          <p:cNvPr id="56" name="Text 44"/>
          <p:cNvSpPr/>
          <p:nvPr/>
        </p:nvSpPr>
        <p:spPr>
          <a:xfrm>
            <a:off x="6199287" y="3089821"/>
            <a:ext cx="13841" cy="20062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5"/>
          <p:cNvSpPr/>
          <p:nvPr/>
        </p:nvSpPr>
        <p:spPr>
          <a:xfrm>
            <a:off x="5446216" y="3290441"/>
            <a:ext cx="1519982" cy="1314896"/>
          </a:xfrm>
          <a:prstGeom prst="roundRect">
            <a:avLst>
              <a:gd name="adj" fmla="val 6568"/>
            </a:avLst>
          </a:prstGeom>
          <a:solidFill>
            <a:srgbClr val="161B22"/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46"/>
          <p:cNvSpPr/>
          <p:nvPr/>
        </p:nvSpPr>
        <p:spPr>
          <a:xfrm>
            <a:off x="5562302" y="3400276"/>
            <a:ext cx="440234" cy="153442"/>
          </a:xfrm>
          <a:prstGeom prst="roundRect">
            <a:avLst>
              <a:gd name="adj" fmla="val 93527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none" lIns="57150" tIns="13970" rIns="57150" bIns="13970" rtlCol="0" anchor="t"/>
          <a:lstStyle/>
          <a:p>
            <a:pPr marL="0" indent="0" algn="l">
              <a:buNone/>
            </a:pPr>
            <a:r>
              <a:rPr lang="en-US" sz="560" b="1" kern="0" spc="34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 PM</a:t>
            </a:r>
            <a:endParaRPr lang="en-US" sz="560" dirty="0"/>
          </a:p>
        </p:txBody>
      </p:sp>
      <p:sp>
        <p:nvSpPr>
          <p:cNvPr id="59" name="Text 47"/>
          <p:cNvSpPr/>
          <p:nvPr/>
        </p:nvSpPr>
        <p:spPr>
          <a:xfrm>
            <a:off x="5674965" y="3596878"/>
            <a:ext cx="8228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54" dirty="0">
                <a:solidFill>
                  <a:srgbClr val="9D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680" dirty="0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30760" y="3595250"/>
            <a:ext cx="132588" cy="132588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5562302" y="3755529"/>
            <a:ext cx="1313566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only changed test files smartly</a:t>
            </a:r>
            <a:endParaRPr lang="en-US" sz="700" dirty="0"/>
          </a:p>
        </p:txBody>
      </p:sp>
      <p:sp>
        <p:nvSpPr>
          <p:cNvPr id="62" name="Text 49"/>
          <p:cNvSpPr/>
          <p:nvPr/>
        </p:nvSpPr>
        <p:spPr>
          <a:xfrm>
            <a:off x="5562302" y="4061222"/>
            <a:ext cx="1287810" cy="455280"/>
          </a:xfrm>
          <a:prstGeom prst="roundRect">
            <a:avLst>
              <a:gd name="adj" fmla="val 9484"/>
            </a:avLst>
          </a:prstGeom>
          <a:solidFill>
            <a:srgbClr val="000000">
              <a:alpha val="40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lIns="64770" tIns="43180" rIns="64770" bIns="4318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kern="0" spc="6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590" kern="0" spc="6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 "run only the test files that changed in the last commit"</a:t>
            </a:r>
            <a:endParaRPr lang="en-US" sz="590" dirty="0"/>
          </a:p>
        </p:txBody>
      </p:sp>
      <p:sp>
        <p:nvSpPr>
          <p:cNvPr id="63" name="Text 50"/>
          <p:cNvSpPr/>
          <p:nvPr/>
        </p:nvSpPr>
        <p:spPr>
          <a:xfrm>
            <a:off x="429220" y="4691658"/>
            <a:ext cx="8285559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1"/>
          <p:cNvSpPr/>
          <p:nvPr/>
        </p:nvSpPr>
        <p:spPr>
          <a:xfrm>
            <a:off x="429220" y="4816673"/>
            <a:ext cx="70991" cy="70991"/>
          </a:xfrm>
          <a:prstGeom prst="ellipse">
            <a:avLst/>
          </a:prstGeom>
          <a:solidFill>
            <a:srgbClr val="7C3AED"/>
          </a:solidFill>
          <a:ln/>
          <a:effectLst>
            <a:outerShdw blurRad="57150" dist="50800" dir="16200000" algn="bl" rotWithShape="0">
              <a:srgbClr val="7C3AED">
                <a:alpha val="7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2"/>
          <p:cNvSpPr/>
          <p:nvPr/>
        </p:nvSpPr>
        <p:spPr>
          <a:xfrm>
            <a:off x="549622" y="4787503"/>
            <a:ext cx="2283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</a:t>
            </a:r>
            <a:endParaRPr lang="en-US" sz="680" dirty="0"/>
          </a:p>
        </p:txBody>
      </p:sp>
      <p:sp>
        <p:nvSpPr>
          <p:cNvPr id="66" name="Text 53"/>
          <p:cNvSpPr/>
          <p:nvPr/>
        </p:nvSpPr>
        <p:spPr>
          <a:xfrm>
            <a:off x="806648" y="4787503"/>
            <a:ext cx="84589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gh copilot suggest</a:t>
            </a:r>
            <a:endParaRPr lang="en-US" sz="680" dirty="0"/>
          </a:p>
        </p:txBody>
      </p:sp>
      <p:sp>
        <p:nvSpPr>
          <p:cNvPr id="67" name="Text 54"/>
          <p:cNvSpPr/>
          <p:nvPr/>
        </p:nvSpPr>
        <p:spPr>
          <a:xfrm>
            <a:off x="1719114" y="4802088"/>
            <a:ext cx="7590" cy="1003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5"/>
          <p:cNvSpPr/>
          <p:nvPr/>
        </p:nvSpPr>
        <p:spPr>
          <a:xfrm>
            <a:off x="1870174" y="4816673"/>
            <a:ext cx="70991" cy="70991"/>
          </a:xfrm>
          <a:prstGeom prst="ellipse">
            <a:avLst/>
          </a:prstGeom>
          <a:solidFill>
            <a:srgbClr val="818CF8"/>
          </a:solidFill>
          <a:ln/>
          <a:effectLst>
            <a:outerShdw blurRad="57150" dist="50800" dir="16200000" algn="bl" rotWithShape="0">
              <a:srgbClr val="818CF8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6"/>
          <p:cNvSpPr/>
          <p:nvPr/>
        </p:nvSpPr>
        <p:spPr>
          <a:xfrm>
            <a:off x="1990576" y="4787503"/>
            <a:ext cx="22837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endParaRPr lang="en-US" sz="680" dirty="0"/>
          </a:p>
        </p:txBody>
      </p:sp>
      <p:sp>
        <p:nvSpPr>
          <p:cNvPr id="70" name="Text 57"/>
          <p:cNvSpPr/>
          <p:nvPr/>
        </p:nvSpPr>
        <p:spPr>
          <a:xfrm>
            <a:off x="2247602" y="4787503"/>
            <a:ext cx="81429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gh copilot explain</a:t>
            </a:r>
            <a:endParaRPr lang="en-US" sz="680" dirty="0"/>
          </a:p>
        </p:txBody>
      </p:sp>
      <p:sp>
        <p:nvSpPr>
          <p:cNvPr id="71" name="Text 58"/>
          <p:cNvSpPr/>
          <p:nvPr/>
        </p:nvSpPr>
        <p:spPr>
          <a:xfrm>
            <a:off x="3131344" y="4802088"/>
            <a:ext cx="7590" cy="10031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9"/>
          <p:cNvSpPr/>
          <p:nvPr/>
        </p:nvSpPr>
        <p:spPr>
          <a:xfrm>
            <a:off x="3282404" y="4816673"/>
            <a:ext cx="70991" cy="70991"/>
          </a:xfrm>
          <a:prstGeom prst="ellipse">
            <a:avLst/>
          </a:prstGeom>
          <a:solidFill>
            <a:srgbClr val="10B981"/>
          </a:solidFill>
          <a:ln/>
          <a:effectLst>
            <a:outerShdw blurRad="57150" dist="50800" dir="16200000" algn="bl" rotWithShape="0">
              <a:srgbClr val="10B981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0"/>
          <p:cNvSpPr/>
          <p:nvPr/>
        </p:nvSpPr>
        <p:spPr>
          <a:xfrm>
            <a:off x="3402806" y="4787503"/>
            <a:ext cx="124846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commit — day complete</a:t>
            </a:r>
            <a:endParaRPr lang="en-US" sz="680" dirty="0"/>
          </a:p>
        </p:txBody>
      </p:sp>
      <p:pic>
        <p:nvPicPr>
          <p:cNvPr id="74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0980" y="4785875"/>
            <a:ext cx="132588" cy="132588"/>
          </a:xfrm>
          <a:prstGeom prst="rect">
            <a:avLst/>
          </a:prstGeom>
        </p:spPr>
      </p:pic>
      <p:sp>
        <p:nvSpPr>
          <p:cNvPr id="75" name="Text 61"/>
          <p:cNvSpPr/>
          <p:nvPr/>
        </p:nvSpPr>
        <p:spPr>
          <a:xfrm>
            <a:off x="6502003" y="4787503"/>
            <a:ext cx="243405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your terminal flow — no context switching required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7C3AED"/>
              </a:gs>
              <a:gs pos="60000">
                <a:srgbClr val="A78BFA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429220"/>
            <a:ext cx="1857970" cy="2143720"/>
          </a:xfrm>
          <a:prstGeom prst="rect">
            <a:avLst/>
          </a:prstGeom>
          <a:gradFill rotWithShape="1">
            <a:gsLst>
              <a:gs pos="0">
                <a:srgbClr val="7C3AED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0" y="2857500"/>
            <a:ext cx="1714500" cy="200025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28600"/>
            <a:ext cx="314920" cy="314920"/>
          </a:xfrm>
          <a:prstGeom prst="roundRect">
            <a:avLst>
              <a:gd name="adj" fmla="val 22584"/>
            </a:avLst>
          </a:prstGeom>
          <a:gradFill rotWithShape="1">
            <a:gsLst>
              <a:gs pos="0">
                <a:srgbClr val="7C3AED"/>
              </a:gs>
              <a:gs pos="100000">
                <a:srgbClr val="5B21B6"/>
              </a:gs>
            </a:gsLst>
            <a:lin ang="2700000" scaled="1"/>
          </a:gradFill>
          <a:ln/>
          <a:effectLst>
            <a:outerShdw blurRad="143510" dist="50800" dir="16200000" algn="bl" rotWithShape="0">
              <a:srgbClr val="7C3AED">
                <a:alpha val="4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142" y="319692"/>
            <a:ext cx="132588" cy="1325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9270" y="260300"/>
            <a:ext cx="3207535" cy="251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Practices for </a:t>
            </a:r>
            <a:r>
              <a:rPr lang="en-US" sz="1800" b="1" kern="0" spc="-2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Copilot CLI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00050" y="657820"/>
            <a:ext cx="8343900" cy="7590"/>
          </a:xfrm>
          <a:prstGeom prst="rect">
            <a:avLst/>
          </a:prstGeom>
          <a:gradFill rotWithShape="1">
            <a:gsLst>
              <a:gs pos="0">
                <a:srgbClr val="7C3AED">
                  <a:alpha val="50000"/>
                </a:srgbClr>
              </a:gs>
              <a:gs pos="50000">
                <a:srgbClr val="7C3AE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00050" y="793552"/>
            <a:ext cx="4100215" cy="3018830"/>
          </a:xfrm>
          <a:prstGeom prst="roundRect">
            <a:avLst>
              <a:gd name="adj" fmla="val 3323"/>
            </a:avLst>
          </a:prstGeom>
          <a:solidFill>
            <a:srgbClr val="161B22"/>
          </a:solidFill>
          <a:ln w="9525">
            <a:solidFill>
              <a:srgbClr val="22C55E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9575" y="803077"/>
            <a:ext cx="4081165" cy="402580"/>
          </a:xfrm>
          <a:prstGeom prst="rect">
            <a:avLst/>
          </a:prstGeom>
          <a:gradFill rotWithShape="1">
            <a:gsLst>
              <a:gs pos="0">
                <a:srgbClr val="22C55E">
                  <a:alpha val="12000"/>
                </a:srgbClr>
              </a:gs>
              <a:gs pos="100000">
                <a:srgbClr val="22C55E">
                  <a:alpha val="4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09575" y="1196132"/>
            <a:ext cx="4081165" cy="9525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553" y="933310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6968" y="903387"/>
            <a:ext cx="54630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</a:t>
            </a:r>
            <a:endParaRPr lang="en-US" sz="1010" dirty="0"/>
          </a:p>
        </p:txBody>
      </p:sp>
      <p:sp>
        <p:nvSpPr>
          <p:cNvPr id="15" name="Text 11"/>
          <p:cNvSpPr/>
          <p:nvPr/>
        </p:nvSpPr>
        <p:spPr>
          <a:xfrm>
            <a:off x="1329928" y="915144"/>
            <a:ext cx="941933" cy="185812"/>
          </a:xfrm>
          <a:prstGeom prst="roundRect">
            <a:avLst>
              <a:gd name="adj" fmla="val 77234"/>
            </a:avLst>
          </a:prstGeom>
          <a:solidFill>
            <a:srgbClr val="22C55E">
              <a:alpha val="15000"/>
            </a:srgbClr>
          </a:solidFill>
          <a:ln w="9525">
            <a:solidFill>
              <a:srgbClr val="22C55E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523875" y="1276648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22C55E">
              <a:alpha val="4000"/>
            </a:srgbClr>
          </a:solidFill>
          <a:ln w="9525">
            <a:solidFill>
              <a:srgbClr val="22C55E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19720" y="1358503"/>
            <a:ext cx="200620" cy="20062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662" y="1392445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6661" y="1350913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review the command before confirming execution — understand what it will do first</a:t>
            </a:r>
            <a:endParaRPr lang="en-US" sz="820" dirty="0"/>
          </a:p>
        </p:txBody>
      </p:sp>
      <p:sp>
        <p:nvSpPr>
          <p:cNvPr id="20" name="Text 15"/>
          <p:cNvSpPr/>
          <p:nvPr/>
        </p:nvSpPr>
        <p:spPr>
          <a:xfrm>
            <a:off x="523875" y="1770459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22C55E">
              <a:alpha val="4000"/>
            </a:srgbClr>
          </a:solidFill>
          <a:ln w="9525">
            <a:solidFill>
              <a:srgbClr val="22C55E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619720" y="1852315"/>
            <a:ext cx="200620" cy="20062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662" y="1886257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6661" y="1844725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--target flag to specify bash, zsh, or pwsh for shell-accurate results</a:t>
            </a:r>
            <a:endParaRPr lang="en-US" sz="820" dirty="0"/>
          </a:p>
        </p:txBody>
      </p:sp>
      <p:sp>
        <p:nvSpPr>
          <p:cNvPr id="24" name="Text 18"/>
          <p:cNvSpPr/>
          <p:nvPr/>
        </p:nvSpPr>
        <p:spPr>
          <a:xfrm>
            <a:off x="1115687" y="1856184"/>
            <a:ext cx="508849" cy="119955"/>
          </a:xfrm>
          <a:prstGeom prst="roundRect">
            <a:avLst>
              <a:gd name="adj" fmla="val 24351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--target</a:t>
            </a:r>
            <a:endParaRPr lang="en-US" sz="700" dirty="0"/>
          </a:p>
        </p:txBody>
      </p:sp>
      <p:sp>
        <p:nvSpPr>
          <p:cNvPr id="25" name="Text 19"/>
          <p:cNvSpPr/>
          <p:nvPr/>
        </p:nvSpPr>
        <p:spPr>
          <a:xfrm>
            <a:off x="2310685" y="1856184"/>
            <a:ext cx="290554" cy="119955"/>
          </a:xfrm>
          <a:prstGeom prst="roundRect">
            <a:avLst>
              <a:gd name="adj" fmla="val 24351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2653970" y="1856184"/>
            <a:ext cx="236056" cy="119955"/>
          </a:xfrm>
          <a:prstGeom prst="roundRect">
            <a:avLst>
              <a:gd name="adj" fmla="val 24351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3064201" y="1856184"/>
            <a:ext cx="290554" cy="119955"/>
          </a:xfrm>
          <a:prstGeom prst="roundRect">
            <a:avLst>
              <a:gd name="adj" fmla="val 24351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pwsh</a:t>
            </a:r>
            <a:endParaRPr lang="en-US" sz="700" dirty="0"/>
          </a:p>
        </p:txBody>
      </p:sp>
      <p:sp>
        <p:nvSpPr>
          <p:cNvPr id="28" name="Text 22"/>
          <p:cNvSpPr/>
          <p:nvPr/>
        </p:nvSpPr>
        <p:spPr>
          <a:xfrm>
            <a:off x="523875" y="2264271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22C55E">
              <a:alpha val="4000"/>
            </a:srgbClr>
          </a:solidFill>
          <a:ln w="9525">
            <a:solidFill>
              <a:srgbClr val="22C55E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619720" y="2346127"/>
            <a:ext cx="200620" cy="20062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662" y="2380068"/>
            <a:ext cx="132588" cy="13258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6661" y="2338536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in your prompts — more context and detail equals better, safer commands</a:t>
            </a:r>
            <a:endParaRPr lang="en-US" sz="820" dirty="0"/>
          </a:p>
        </p:txBody>
      </p:sp>
      <p:sp>
        <p:nvSpPr>
          <p:cNvPr id="32" name="Text 25"/>
          <p:cNvSpPr/>
          <p:nvPr/>
        </p:nvSpPr>
        <p:spPr>
          <a:xfrm>
            <a:off x="523875" y="2758083"/>
            <a:ext cx="3852565" cy="356741"/>
          </a:xfrm>
          <a:prstGeom prst="roundRect">
            <a:avLst>
              <a:gd name="adj" fmla="val 18156"/>
            </a:avLst>
          </a:prstGeom>
          <a:solidFill>
            <a:srgbClr val="22C55E">
              <a:alpha val="4000"/>
            </a:srgbClr>
          </a:solidFill>
          <a:ln w="9525">
            <a:solidFill>
              <a:srgbClr val="22C55E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619720" y="2839938"/>
            <a:ext cx="200620" cy="20062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662" y="2873880"/>
            <a:ext cx="132588" cy="132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06661" y="2832348"/>
            <a:ext cx="3583141" cy="1510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ghcs and ghce aliases in your shell profile for daily efficiency</a:t>
            </a:r>
            <a:endParaRPr lang="en-US" sz="820" dirty="0"/>
          </a:p>
        </p:txBody>
      </p:sp>
      <p:sp>
        <p:nvSpPr>
          <p:cNvPr id="36" name="Text 28"/>
          <p:cNvSpPr/>
          <p:nvPr/>
        </p:nvSpPr>
        <p:spPr>
          <a:xfrm>
            <a:off x="1233615" y="2843808"/>
            <a:ext cx="290554" cy="119955"/>
          </a:xfrm>
          <a:prstGeom prst="roundRect">
            <a:avLst>
              <a:gd name="adj" fmla="val 24351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</a:t>
            </a:r>
            <a:endParaRPr lang="en-US" sz="700" dirty="0"/>
          </a:p>
        </p:txBody>
      </p:sp>
      <p:sp>
        <p:nvSpPr>
          <p:cNvPr id="37" name="Text 29"/>
          <p:cNvSpPr/>
          <p:nvPr/>
        </p:nvSpPr>
        <p:spPr>
          <a:xfrm>
            <a:off x="1749900" y="2843808"/>
            <a:ext cx="290554" cy="119955"/>
          </a:xfrm>
          <a:prstGeom prst="roundRect">
            <a:avLst>
              <a:gd name="adj" fmla="val 24351"/>
            </a:avLst>
          </a:prstGeom>
          <a:solidFill>
            <a:srgbClr val="7C3AED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endParaRPr lang="en-US" sz="700" dirty="0"/>
          </a:p>
        </p:txBody>
      </p:sp>
      <p:sp>
        <p:nvSpPr>
          <p:cNvPr id="38" name="Text 30"/>
          <p:cNvSpPr/>
          <p:nvPr/>
        </p:nvSpPr>
        <p:spPr>
          <a:xfrm>
            <a:off x="523875" y="3157984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22C55E">
              <a:alpha val="4000"/>
            </a:srgbClr>
          </a:solidFill>
          <a:ln w="9525">
            <a:solidFill>
              <a:srgbClr val="22C55E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619720" y="3239839"/>
            <a:ext cx="200620" cy="20062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662" y="3273781"/>
            <a:ext cx="132588" cy="132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06661" y="3232249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 explain to learn — understand commands deeply, don't just copy and run them</a:t>
            </a:r>
            <a:endParaRPr lang="en-US" sz="820" dirty="0"/>
          </a:p>
        </p:txBody>
      </p:sp>
      <p:sp>
        <p:nvSpPr>
          <p:cNvPr id="42" name="Text 33"/>
          <p:cNvSpPr/>
          <p:nvPr/>
        </p:nvSpPr>
        <p:spPr>
          <a:xfrm>
            <a:off x="4643735" y="793552"/>
            <a:ext cx="4100215" cy="3018830"/>
          </a:xfrm>
          <a:prstGeom prst="roundRect">
            <a:avLst>
              <a:gd name="adj" fmla="val 3323"/>
            </a:avLst>
          </a:prstGeom>
          <a:solidFill>
            <a:srgbClr val="161B22"/>
          </a:solidFill>
          <a:ln w="9525">
            <a:solidFill>
              <a:srgbClr val="F87171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4653260" y="803077"/>
            <a:ext cx="4081165" cy="402580"/>
          </a:xfrm>
          <a:prstGeom prst="rect">
            <a:avLst/>
          </a:prstGeom>
          <a:gradFill rotWithShape="1">
            <a:gsLst>
              <a:gs pos="0">
                <a:srgbClr val="F87171">
                  <a:alpha val="12000"/>
                </a:srgbClr>
              </a:gs>
              <a:gs pos="100000">
                <a:srgbClr val="F87171">
                  <a:alpha val="4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4653260" y="1196132"/>
            <a:ext cx="4081165" cy="9525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4238" y="933310"/>
            <a:ext cx="132588" cy="13258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4990654" y="903387"/>
            <a:ext cx="757163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This</a:t>
            </a:r>
            <a:endParaRPr lang="en-US" sz="1010" dirty="0"/>
          </a:p>
        </p:txBody>
      </p:sp>
      <p:sp>
        <p:nvSpPr>
          <p:cNvPr id="47" name="Text 37"/>
          <p:cNvSpPr/>
          <p:nvPr/>
        </p:nvSpPr>
        <p:spPr>
          <a:xfrm>
            <a:off x="5765304" y="915144"/>
            <a:ext cx="1005334" cy="185812"/>
          </a:xfrm>
          <a:prstGeom prst="roundRect">
            <a:avLst>
              <a:gd name="adj" fmla="val 77234"/>
            </a:avLst>
          </a:prstGeom>
          <a:solidFill>
            <a:srgbClr val="F87171">
              <a:alpha val="15000"/>
            </a:srgbClr>
          </a:solidFill>
          <a:ln w="9525">
            <a:solidFill>
              <a:srgbClr val="F87171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RISKY BEHAVIOR</a:t>
            </a:r>
            <a:endParaRPr lang="en-US" sz="560" dirty="0"/>
          </a:p>
        </p:txBody>
      </p:sp>
      <p:sp>
        <p:nvSpPr>
          <p:cNvPr id="48" name="Text 38"/>
          <p:cNvSpPr/>
          <p:nvPr/>
        </p:nvSpPr>
        <p:spPr>
          <a:xfrm>
            <a:off x="4767560" y="1276648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9"/>
          <p:cNvSpPr/>
          <p:nvPr/>
        </p:nvSpPr>
        <p:spPr>
          <a:xfrm>
            <a:off x="4863405" y="1358503"/>
            <a:ext cx="200620" cy="200620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7347" y="1392445"/>
            <a:ext cx="132588" cy="13258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150346" y="1350913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suggestions blindly without reading the explanation — always know what you're executing</a:t>
            </a:r>
            <a:endParaRPr lang="en-US" sz="820" dirty="0"/>
          </a:p>
        </p:txBody>
      </p:sp>
      <p:sp>
        <p:nvSpPr>
          <p:cNvPr id="52" name="Text 41"/>
          <p:cNvSpPr/>
          <p:nvPr/>
        </p:nvSpPr>
        <p:spPr>
          <a:xfrm>
            <a:off x="4767560" y="1770459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2"/>
          <p:cNvSpPr/>
          <p:nvPr/>
        </p:nvSpPr>
        <p:spPr>
          <a:xfrm>
            <a:off x="4863405" y="1852315"/>
            <a:ext cx="200620" cy="200620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97347" y="1886257"/>
            <a:ext cx="132588" cy="13258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150346" y="1844725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API tokens or secrets in your prompts — Copilot sends text to the cloud</a:t>
            </a:r>
            <a:endParaRPr lang="en-US" sz="820" dirty="0"/>
          </a:p>
        </p:txBody>
      </p:sp>
      <p:sp>
        <p:nvSpPr>
          <p:cNvPr id="56" name="Text 44"/>
          <p:cNvSpPr/>
          <p:nvPr/>
        </p:nvSpPr>
        <p:spPr>
          <a:xfrm>
            <a:off x="4767560" y="2264271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5"/>
          <p:cNvSpPr/>
          <p:nvPr/>
        </p:nvSpPr>
        <p:spPr>
          <a:xfrm>
            <a:off x="4863405" y="2346127"/>
            <a:ext cx="200620" cy="200620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97347" y="2380068"/>
            <a:ext cx="132588" cy="1325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150346" y="2338536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Copilot CLI for destructive operations without a dry-run or backup first</a:t>
            </a:r>
            <a:endParaRPr lang="en-US" sz="820" dirty="0"/>
          </a:p>
        </p:txBody>
      </p:sp>
      <p:sp>
        <p:nvSpPr>
          <p:cNvPr id="60" name="Text 47"/>
          <p:cNvSpPr/>
          <p:nvPr/>
        </p:nvSpPr>
        <p:spPr>
          <a:xfrm>
            <a:off x="4767560" y="2758083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8"/>
          <p:cNvSpPr/>
          <p:nvPr/>
        </p:nvSpPr>
        <p:spPr>
          <a:xfrm>
            <a:off x="4863405" y="2839938"/>
            <a:ext cx="200620" cy="200620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97347" y="2873880"/>
            <a:ext cx="132588" cy="132588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5150346" y="2832348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the confirmation prompt — it exists to protect you from unintended consequences</a:t>
            </a:r>
            <a:endParaRPr lang="en-US" sz="820" dirty="0"/>
          </a:p>
        </p:txBody>
      </p:sp>
      <p:sp>
        <p:nvSpPr>
          <p:cNvPr id="64" name="Text 50"/>
          <p:cNvSpPr/>
          <p:nvPr/>
        </p:nvSpPr>
        <p:spPr>
          <a:xfrm>
            <a:off x="4767560" y="3251895"/>
            <a:ext cx="3852565" cy="450652"/>
          </a:xfrm>
          <a:prstGeom prst="roundRect">
            <a:avLst>
              <a:gd name="adj" fmla="val 14373"/>
            </a:avLst>
          </a:prstGeom>
          <a:solidFill>
            <a:srgbClr val="F87171">
              <a:alpha val="4000"/>
            </a:srgbClr>
          </a:solidFill>
          <a:ln w="9525">
            <a:solidFill>
              <a:srgbClr val="F87171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1"/>
          <p:cNvSpPr/>
          <p:nvPr/>
        </p:nvSpPr>
        <p:spPr>
          <a:xfrm>
            <a:off x="4863405" y="3333750"/>
            <a:ext cx="200620" cy="200620"/>
          </a:xfrm>
          <a:prstGeom prst="ellipse">
            <a:avLst/>
          </a:prstGeom>
          <a:solidFill>
            <a:srgbClr val="F87171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97347" y="3367692"/>
            <a:ext cx="132588" cy="132588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5150346" y="3326160"/>
            <a:ext cx="3441412" cy="317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Copilot output as infallible — always sanity-check before running in production</a:t>
            </a:r>
            <a:endParaRPr lang="en-US" sz="820" dirty="0"/>
          </a:p>
        </p:txBody>
      </p:sp>
      <p:sp>
        <p:nvSpPr>
          <p:cNvPr id="68" name="Text 53"/>
          <p:cNvSpPr/>
          <p:nvPr/>
        </p:nvSpPr>
        <p:spPr>
          <a:xfrm>
            <a:off x="400050" y="4013002"/>
            <a:ext cx="8343900" cy="361652"/>
          </a:xfrm>
          <a:prstGeom prst="roundRect">
            <a:avLst>
              <a:gd name="adj" fmla="val 19665"/>
            </a:avLst>
          </a:prstGeom>
          <a:gradFill rotWithShape="1">
            <a:gsLst>
              <a:gs pos="0">
                <a:srgbClr val="7C3AED">
                  <a:alpha val="12000"/>
                </a:srgbClr>
              </a:gs>
              <a:gs pos="100000">
                <a:srgbClr val="7C3AED">
                  <a:alpha val="6000"/>
                </a:srgbClr>
              </a:gs>
            </a:gsLst>
            <a:lin ang="2700000" scaled="1"/>
          </a:gra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34823" y="4127534"/>
            <a:ext cx="132588" cy="132588"/>
          </a:xfrm>
          <a:prstGeom prst="rect">
            <a:avLst/>
          </a:prstGeom>
        </p:spPr>
      </p:pic>
      <p:sp>
        <p:nvSpPr>
          <p:cNvPr id="70" name="Text 54"/>
          <p:cNvSpPr/>
          <p:nvPr/>
        </p:nvSpPr>
        <p:spPr>
          <a:xfrm>
            <a:off x="749498" y="4134743"/>
            <a:ext cx="53615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RULE</a:t>
            </a:r>
            <a:endParaRPr lang="en-US" sz="620" dirty="0"/>
          </a:p>
        </p:txBody>
      </p:sp>
      <p:sp>
        <p:nvSpPr>
          <p:cNvPr id="71" name="Text 55"/>
          <p:cNvSpPr/>
          <p:nvPr/>
        </p:nvSpPr>
        <p:spPr>
          <a:xfrm>
            <a:off x="1337221" y="4093518"/>
            <a:ext cx="7590" cy="2006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6"/>
          <p:cNvSpPr/>
          <p:nvPr/>
        </p:nvSpPr>
        <p:spPr>
          <a:xfrm>
            <a:off x="1445121" y="4128939"/>
            <a:ext cx="614980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CLI is a powerful assistant, not an authority — pair AI speed with human judgment for safe, effective terminal work every time.</a:t>
            </a:r>
            <a:endParaRPr lang="en-US" sz="7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000970" cy="3000970"/>
          </a:xfrm>
          <a:prstGeom prst="rect">
            <a:avLst/>
          </a:prstGeom>
          <a:gradFill rotWithShape="1">
            <a:gsLst>
              <a:gs pos="0">
                <a:srgbClr val="7C3AED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15720" y="2715220"/>
            <a:ext cx="2428280" cy="2428280"/>
          </a:xfrm>
          <a:prstGeom prst="rect">
            <a:avLst/>
          </a:prstGeom>
          <a:gradFill rotWithShape="1">
            <a:gsLst>
              <a:gs pos="0">
                <a:srgbClr val="7C3AED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9575" y="1416100"/>
            <a:ext cx="21580" cy="526256"/>
          </a:xfrm>
          <a:custGeom>
            <a:avLst/>
            <a:gdLst/>
            <a:ahLst/>
            <a:cxnLst/>
            <a:rect l="l" t="t" r="r" b="b"/>
            <a:pathLst>
              <a:path w="21580" h="526256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06164"/>
                </a:lnTo>
                <a:lnTo>
                  <a:pt x="18883" y="503399"/>
                </a:lnTo>
                <a:lnTo>
                  <a:pt x="16185" y="500305"/>
                </a:lnTo>
                <a:lnTo>
                  <a:pt x="13488" y="496808"/>
                </a:lnTo>
                <a:lnTo>
                  <a:pt x="10790" y="492797"/>
                </a:lnTo>
                <a:lnTo>
                  <a:pt x="8093" y="488085"/>
                </a:lnTo>
                <a:lnTo>
                  <a:pt x="5395" y="482308"/>
                </a:lnTo>
                <a:lnTo>
                  <a:pt x="2698" y="474538"/>
                </a:lnTo>
                <a:lnTo>
                  <a:pt x="0" y="455136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9575" y="2026146"/>
            <a:ext cx="21580" cy="413742"/>
          </a:xfrm>
          <a:custGeom>
            <a:avLst/>
            <a:gdLst/>
            <a:ahLst/>
            <a:cxnLst/>
            <a:rect l="l" t="t" r="r" b="b"/>
            <a:pathLst>
              <a:path w="21580" h="41374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393650"/>
                </a:lnTo>
                <a:lnTo>
                  <a:pt x="18883" y="390885"/>
                </a:lnTo>
                <a:lnTo>
                  <a:pt x="16185" y="387791"/>
                </a:lnTo>
                <a:lnTo>
                  <a:pt x="13488" y="384294"/>
                </a:lnTo>
                <a:lnTo>
                  <a:pt x="10790" y="380283"/>
                </a:lnTo>
                <a:lnTo>
                  <a:pt x="8093" y="375570"/>
                </a:lnTo>
                <a:lnTo>
                  <a:pt x="5395" y="369793"/>
                </a:lnTo>
                <a:lnTo>
                  <a:pt x="2698" y="362024"/>
                </a:lnTo>
                <a:lnTo>
                  <a:pt x="0" y="342622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575" y="2523679"/>
            <a:ext cx="21580" cy="526256"/>
          </a:xfrm>
          <a:custGeom>
            <a:avLst/>
            <a:gdLst/>
            <a:ahLst/>
            <a:cxnLst/>
            <a:rect l="l" t="t" r="r" b="b"/>
            <a:pathLst>
              <a:path w="21580" h="526256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506164"/>
                </a:lnTo>
                <a:lnTo>
                  <a:pt x="18883" y="503399"/>
                </a:lnTo>
                <a:lnTo>
                  <a:pt x="16185" y="500305"/>
                </a:lnTo>
                <a:lnTo>
                  <a:pt x="13488" y="496808"/>
                </a:lnTo>
                <a:lnTo>
                  <a:pt x="10790" y="492797"/>
                </a:lnTo>
                <a:lnTo>
                  <a:pt x="8093" y="488085"/>
                </a:lnTo>
                <a:lnTo>
                  <a:pt x="5395" y="482308"/>
                </a:lnTo>
                <a:lnTo>
                  <a:pt x="2698" y="474538"/>
                </a:lnTo>
                <a:lnTo>
                  <a:pt x="0" y="455136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9575" y="3133725"/>
            <a:ext cx="21580" cy="413742"/>
          </a:xfrm>
          <a:custGeom>
            <a:avLst/>
            <a:gdLst/>
            <a:ahLst/>
            <a:cxnLst/>
            <a:rect l="l" t="t" r="r" b="b"/>
            <a:pathLst>
              <a:path w="21580" h="41374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393650"/>
                </a:lnTo>
                <a:lnTo>
                  <a:pt x="18883" y="390885"/>
                </a:lnTo>
                <a:lnTo>
                  <a:pt x="16185" y="387791"/>
                </a:lnTo>
                <a:lnTo>
                  <a:pt x="13488" y="384294"/>
                </a:lnTo>
                <a:lnTo>
                  <a:pt x="10790" y="380283"/>
                </a:lnTo>
                <a:lnTo>
                  <a:pt x="8093" y="375570"/>
                </a:lnTo>
                <a:lnTo>
                  <a:pt x="5395" y="369793"/>
                </a:lnTo>
                <a:lnTo>
                  <a:pt x="2698" y="362024"/>
                </a:lnTo>
                <a:lnTo>
                  <a:pt x="0" y="342622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9575" y="3631257"/>
            <a:ext cx="21580" cy="413742"/>
          </a:xfrm>
          <a:custGeom>
            <a:avLst/>
            <a:gdLst/>
            <a:ahLst/>
            <a:cxnLst/>
            <a:rect l="l" t="t" r="r" b="b"/>
            <a:pathLst>
              <a:path w="21580" h="413742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393650"/>
                </a:lnTo>
                <a:lnTo>
                  <a:pt x="18883" y="390885"/>
                </a:lnTo>
                <a:lnTo>
                  <a:pt x="16185" y="387791"/>
                </a:lnTo>
                <a:lnTo>
                  <a:pt x="13488" y="384294"/>
                </a:lnTo>
                <a:lnTo>
                  <a:pt x="10790" y="380283"/>
                </a:lnTo>
                <a:lnTo>
                  <a:pt x="8093" y="375570"/>
                </a:lnTo>
                <a:lnTo>
                  <a:pt x="5395" y="369793"/>
                </a:lnTo>
                <a:lnTo>
                  <a:pt x="2698" y="362024"/>
                </a:lnTo>
                <a:lnTo>
                  <a:pt x="0" y="342622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314920"/>
            <a:ext cx="5682960" cy="206871"/>
          </a:xfrm>
          <a:prstGeom prst="roundRect">
            <a:avLst>
              <a:gd name="adj" fmla="val 69372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none" lIns="100330" tIns="29210" rIns="100330" bIns="2921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kern="0" spc="82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400050" y="578941"/>
            <a:ext cx="5682960" cy="551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spcAft>
                <a:spcPts val="110"/>
              </a:spcAft>
              <a:buNone/>
            </a:pPr>
            <a:r>
              <a:rPr lang="en-US" sz="1800" kern="0" spc="-18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Copilot CLI Belongs in</a:t>
            </a:r>
            <a:br/>
            <a:r>
              <a:rPr lang="en-US" sz="1800" kern="0" spc="-18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800" b="1" kern="0" spc="-18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Dev Workflow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0050" y="1118443"/>
            <a:ext cx="6128683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010"/>
              </a:spcAft>
              <a:buNone/>
            </a:pPr>
            <a:r>
              <a:rPr lang="en-US" sz="84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AI-powered terminal work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00050" y="1406575"/>
            <a:ext cx="5571530" cy="545306"/>
          </a:xfrm>
          <a:prstGeom prst="roundRect">
            <a:avLst>
              <a:gd name="adj" fmla="val 13042"/>
            </a:avLst>
          </a:prstGeom>
          <a:solidFill>
            <a:srgbClr val="161B22"/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3045" y="1578918"/>
            <a:ext cx="200620" cy="220682"/>
          </a:xfrm>
          <a:prstGeom prst="ellipse">
            <a:avLst/>
          </a:prstGeom>
          <a:solidFill>
            <a:srgbClr val="7C3AED">
              <a:alpha val="18000"/>
            </a:srgbClr>
          </a:solidFill>
          <a:ln w="9525">
            <a:solidFill>
              <a:srgbClr val="7C3AED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807" y="1564928"/>
            <a:ext cx="150465" cy="15046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38548" y="1599158"/>
            <a:ext cx="92758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67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2209949" y="1578918"/>
            <a:ext cx="7590" cy="2006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345680" y="1508671"/>
            <a:ext cx="3542362" cy="35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complex shell commands in </a:t>
            </a: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</a:t>
            </a: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searching docs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400050" y="2016621"/>
            <a:ext cx="5571530" cy="432792"/>
          </a:xfrm>
          <a:prstGeom prst="roundRect">
            <a:avLst>
              <a:gd name="adj" fmla="val 16433"/>
            </a:avLst>
          </a:prstGeom>
          <a:solidFill>
            <a:srgbClr val="161B22"/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53045" y="2132707"/>
            <a:ext cx="200620" cy="220682"/>
          </a:xfrm>
          <a:prstGeom prst="ellipse">
            <a:avLst/>
          </a:prstGeom>
          <a:solidFill>
            <a:srgbClr val="7C3AED">
              <a:alpha val="18000"/>
            </a:srgbClr>
          </a:solidFill>
          <a:ln w="9525">
            <a:solidFill>
              <a:srgbClr val="7C3AED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807" y="2118717"/>
            <a:ext cx="150465" cy="15046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38548" y="2152948"/>
            <a:ext cx="92758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67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40" dirty="0"/>
          </a:p>
        </p:txBody>
      </p:sp>
      <p:sp>
        <p:nvSpPr>
          <p:cNvPr id="24" name="Text 20"/>
          <p:cNvSpPr/>
          <p:nvPr/>
        </p:nvSpPr>
        <p:spPr>
          <a:xfrm>
            <a:off x="2209949" y="2132707"/>
            <a:ext cx="7590" cy="2006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345680" y="2147739"/>
            <a:ext cx="3718694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your </a:t>
            </a: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flow</a:t>
            </a: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context switching to browsers</a:t>
            </a:r>
            <a:endParaRPr lang="en-US" sz="960" dirty="0"/>
          </a:p>
        </p:txBody>
      </p:sp>
      <p:sp>
        <p:nvSpPr>
          <p:cNvPr id="26" name="Text 22"/>
          <p:cNvSpPr/>
          <p:nvPr/>
        </p:nvSpPr>
        <p:spPr>
          <a:xfrm>
            <a:off x="400050" y="2514154"/>
            <a:ext cx="5571530" cy="545306"/>
          </a:xfrm>
          <a:prstGeom prst="roundRect">
            <a:avLst>
              <a:gd name="adj" fmla="val 13042"/>
            </a:avLst>
          </a:prstGeom>
          <a:solidFill>
            <a:srgbClr val="161B22"/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53045" y="2686496"/>
            <a:ext cx="200620" cy="220682"/>
          </a:xfrm>
          <a:prstGeom prst="ellipse">
            <a:avLst/>
          </a:prstGeom>
          <a:solidFill>
            <a:srgbClr val="7C3AED">
              <a:alpha val="18000"/>
            </a:srgbClr>
          </a:solidFill>
          <a:ln w="9525">
            <a:solidFill>
              <a:srgbClr val="7C3AED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1807" y="2672507"/>
            <a:ext cx="150465" cy="15046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38548" y="2706737"/>
            <a:ext cx="92758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67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40" dirty="0"/>
          </a:p>
        </p:txBody>
      </p:sp>
      <p:sp>
        <p:nvSpPr>
          <p:cNvPr id="30" name="Text 25"/>
          <p:cNvSpPr/>
          <p:nvPr/>
        </p:nvSpPr>
        <p:spPr>
          <a:xfrm>
            <a:off x="2209949" y="2686496"/>
            <a:ext cx="7590" cy="2006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2345680" y="2616250"/>
            <a:ext cx="3542362" cy="358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commands </a:t>
            </a: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use them</a:t>
            </a: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built-in explanations</a:t>
            </a:r>
            <a:endParaRPr lang="en-US" sz="960" dirty="0"/>
          </a:p>
        </p:txBody>
      </p:sp>
      <p:sp>
        <p:nvSpPr>
          <p:cNvPr id="32" name="Text 27"/>
          <p:cNvSpPr/>
          <p:nvPr/>
        </p:nvSpPr>
        <p:spPr>
          <a:xfrm>
            <a:off x="400050" y="3124200"/>
            <a:ext cx="5571530" cy="432792"/>
          </a:xfrm>
          <a:prstGeom prst="roundRect">
            <a:avLst>
              <a:gd name="adj" fmla="val 16433"/>
            </a:avLst>
          </a:prstGeom>
          <a:solidFill>
            <a:srgbClr val="161B22"/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53045" y="3240286"/>
            <a:ext cx="200620" cy="220682"/>
          </a:xfrm>
          <a:prstGeom prst="ellipse">
            <a:avLst/>
          </a:prstGeom>
          <a:solidFill>
            <a:srgbClr val="7C3AED">
              <a:alpha val="18000"/>
            </a:srgbClr>
          </a:solidFill>
          <a:ln w="9525">
            <a:solidFill>
              <a:srgbClr val="7C3AED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807" y="3226296"/>
            <a:ext cx="150465" cy="15046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238548" y="3260527"/>
            <a:ext cx="92758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67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840" dirty="0"/>
          </a:p>
        </p:txBody>
      </p:sp>
      <p:sp>
        <p:nvSpPr>
          <p:cNvPr id="36" name="Text 30"/>
          <p:cNvSpPr/>
          <p:nvPr/>
        </p:nvSpPr>
        <p:spPr>
          <a:xfrm>
            <a:off x="2209949" y="3240286"/>
            <a:ext cx="7590" cy="2006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2345680" y="3255318"/>
            <a:ext cx="3614246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</a:t>
            </a: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gates</a:t>
            </a: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keep you in control at every step</a:t>
            </a:r>
            <a:endParaRPr lang="en-US" sz="960" dirty="0"/>
          </a:p>
        </p:txBody>
      </p:sp>
      <p:sp>
        <p:nvSpPr>
          <p:cNvPr id="38" name="Text 32"/>
          <p:cNvSpPr/>
          <p:nvPr/>
        </p:nvSpPr>
        <p:spPr>
          <a:xfrm>
            <a:off x="400050" y="3621732"/>
            <a:ext cx="5571530" cy="432792"/>
          </a:xfrm>
          <a:prstGeom prst="roundRect">
            <a:avLst>
              <a:gd name="adj" fmla="val 16433"/>
            </a:avLst>
          </a:prstGeom>
          <a:solidFill>
            <a:srgbClr val="161B22"/>
          </a:solidFill>
          <a:ln w="9525">
            <a:solidFill>
              <a:srgbClr val="7C3AED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553045" y="3737818"/>
            <a:ext cx="200620" cy="220682"/>
          </a:xfrm>
          <a:prstGeom prst="ellipse">
            <a:avLst/>
          </a:prstGeom>
          <a:solidFill>
            <a:srgbClr val="7C3AED">
              <a:alpha val="18000"/>
            </a:srgbClr>
          </a:solidFill>
          <a:ln w="9525">
            <a:solidFill>
              <a:srgbClr val="7C3AED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807" y="3723829"/>
            <a:ext cx="150465" cy="15046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238548" y="3758059"/>
            <a:ext cx="99487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kern="0" spc="67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</a:t>
            </a:r>
            <a:endParaRPr lang="en-US" sz="840" dirty="0"/>
          </a:p>
        </p:txBody>
      </p:sp>
      <p:sp>
        <p:nvSpPr>
          <p:cNvPr id="42" name="Text 35"/>
          <p:cNvSpPr/>
          <p:nvPr/>
        </p:nvSpPr>
        <p:spPr>
          <a:xfrm>
            <a:off x="2271117" y="3737818"/>
            <a:ext cx="7590" cy="20062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2406848" y="3752850"/>
            <a:ext cx="3216593" cy="17055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96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connect Copilot to your </a:t>
            </a:r>
            <a:r>
              <a:rPr lang="en-US" sz="96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toolchain</a:t>
            </a:r>
            <a:endParaRPr lang="en-US" sz="960" dirty="0"/>
          </a:p>
        </p:txBody>
      </p:sp>
      <p:sp>
        <p:nvSpPr>
          <p:cNvPr id="44" name="Text 37"/>
          <p:cNvSpPr/>
          <p:nvPr/>
        </p:nvSpPr>
        <p:spPr>
          <a:xfrm>
            <a:off x="6257330" y="314920"/>
            <a:ext cx="2486620" cy="2975372"/>
          </a:xfrm>
          <a:prstGeom prst="roundRect">
            <a:avLst>
              <a:gd name="adj" fmla="val 4035"/>
            </a:avLst>
          </a:prstGeom>
          <a:solidFill>
            <a:srgbClr val="161B22"/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6266855" y="324445"/>
            <a:ext cx="2467570" cy="269528"/>
          </a:xfrm>
          <a:prstGeom prst="rect">
            <a:avLst/>
          </a:prstGeom>
          <a:solidFill>
            <a:srgbClr val="0D111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6266855" y="584448"/>
            <a:ext cx="2467570" cy="9525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6381155" y="418951"/>
            <a:ext cx="70991" cy="70991"/>
          </a:xfrm>
          <a:prstGeom prst="ellipse">
            <a:avLst/>
          </a:prstGeom>
          <a:solidFill>
            <a:srgbClr val="FF5F5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6509296" y="418951"/>
            <a:ext cx="70991" cy="70991"/>
          </a:xfrm>
          <a:prstGeom prst="ellipse">
            <a:avLst/>
          </a:prstGeom>
          <a:solidFill>
            <a:srgbClr val="FFBD2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6637437" y="418951"/>
            <a:ext cx="70991" cy="70991"/>
          </a:xfrm>
          <a:prstGeom prst="ellipse">
            <a:avLst/>
          </a:prstGeom>
          <a:solidFill>
            <a:srgbClr val="28C84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6822728" y="395436"/>
            <a:ext cx="93675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— terminal</a:t>
            </a:r>
            <a:endParaRPr lang="en-US" sz="620" dirty="0"/>
          </a:p>
        </p:txBody>
      </p:sp>
      <p:sp>
        <p:nvSpPr>
          <p:cNvPr id="51" name="Text 44"/>
          <p:cNvSpPr/>
          <p:nvPr/>
        </p:nvSpPr>
        <p:spPr>
          <a:xfrm>
            <a:off x="6394996" y="722114"/>
            <a:ext cx="2255514" cy="33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41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3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ghcs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"find all .log files older than 7 days"</a:t>
            </a:r>
            <a:endParaRPr lang="en-US" sz="730" dirty="0"/>
          </a:p>
        </p:txBody>
      </p:sp>
      <p:sp>
        <p:nvSpPr>
          <p:cNvPr id="52" name="Text 45"/>
          <p:cNvSpPr/>
          <p:nvPr/>
        </p:nvSpPr>
        <p:spPr>
          <a:xfrm>
            <a:off x="6394996" y="1080492"/>
            <a:ext cx="2432417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✨ Copilot suggests:</a:t>
            </a:r>
            <a:endParaRPr lang="en-US" sz="680" dirty="0"/>
          </a:p>
        </p:txBody>
      </p:sp>
      <p:sp>
        <p:nvSpPr>
          <p:cNvPr id="53" name="Text 46"/>
          <p:cNvSpPr/>
          <p:nvPr/>
        </p:nvSpPr>
        <p:spPr>
          <a:xfrm>
            <a:off x="6394996" y="1270397"/>
            <a:ext cx="2211288" cy="576535"/>
          </a:xfrm>
          <a:prstGeom prst="roundRect">
            <a:avLst>
              <a:gd name="adj" fmla="val 749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>
                <a:alpha val="25000"/>
              </a:srgbClr>
            </a:solidFill>
          </a:ln>
        </p:spPr>
        <p:txBody>
          <a:bodyPr wrap="square" lIns="86360" tIns="57150" rIns="86360" bIns="5715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"*.log" \  -mtime +7 \  -type f</a:t>
            </a:r>
            <a:endParaRPr lang="en-US" sz="700" dirty="0"/>
          </a:p>
        </p:txBody>
      </p:sp>
      <p:sp>
        <p:nvSpPr>
          <p:cNvPr id="54" name="Text 47"/>
          <p:cNvSpPr/>
          <p:nvPr/>
        </p:nvSpPr>
        <p:spPr>
          <a:xfrm>
            <a:off x="6394996" y="1873300"/>
            <a:ext cx="2432417" cy="14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6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Run this command? </a:t>
            </a:r>
            <a:r>
              <a:rPr lang="en-US" sz="68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[Y/n]</a:t>
            </a:r>
            <a:endParaRPr lang="en-US" sz="680" dirty="0"/>
          </a:p>
        </p:txBody>
      </p:sp>
      <p:sp>
        <p:nvSpPr>
          <p:cNvPr id="55" name="Text 48"/>
          <p:cNvSpPr/>
          <p:nvPr/>
        </p:nvSpPr>
        <p:spPr>
          <a:xfrm>
            <a:off x="6394996" y="2106364"/>
            <a:ext cx="221128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6394996" y="2202210"/>
            <a:ext cx="2432417" cy="157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41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3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ghce</a:t>
            </a:r>
            <a:r>
              <a:rPr lang="en-US" sz="73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3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"git rebase -i HEAD~3"</a:t>
            </a:r>
            <a:endParaRPr lang="en-US" sz="730" dirty="0"/>
          </a:p>
        </p:txBody>
      </p:sp>
      <p:sp>
        <p:nvSpPr>
          <p:cNvPr id="57" name="Text 50"/>
          <p:cNvSpPr/>
          <p:nvPr/>
        </p:nvSpPr>
        <p:spPr>
          <a:xfrm>
            <a:off x="6394996" y="2395240"/>
            <a:ext cx="2255514" cy="290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br/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68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Interactively rebase</a:t>
            </a:r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last 3</a:t>
            </a:r>
            <a:br/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commits — edit, squash, or reorder.</a:t>
            </a:r>
            <a:br/>
            <a:r>
              <a:rPr lang="en-US" sz="6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endParaRPr lang="en-US" sz="680" dirty="0"/>
          </a:p>
        </p:txBody>
      </p:sp>
      <p:sp>
        <p:nvSpPr>
          <p:cNvPr id="58" name="Text 51"/>
          <p:cNvSpPr/>
          <p:nvPr/>
        </p:nvSpPr>
        <p:spPr>
          <a:xfrm>
            <a:off x="8153395" y="2699742"/>
            <a:ext cx="590555" cy="590550"/>
          </a:xfrm>
          <a:custGeom>
            <a:avLst/>
            <a:gdLst/>
            <a:ahLst/>
            <a:cxnLst/>
            <a:rect l="l" t="t" r="r" b="b"/>
            <a:pathLst>
              <a:path w="590555" h="590550">
                <a:moveTo>
                  <a:pt x="0" y="0"/>
                </a:moveTo>
                <a:lnTo>
                  <a:pt x="0" y="590550"/>
                </a:lnTo>
                <a:lnTo>
                  <a:pt x="490225" y="590550"/>
                </a:lnTo>
                <a:lnTo>
                  <a:pt x="509798" y="588622"/>
                </a:lnTo>
                <a:lnTo>
                  <a:pt x="528620" y="582913"/>
                </a:lnTo>
                <a:lnTo>
                  <a:pt x="545965" y="573641"/>
                </a:lnTo>
                <a:lnTo>
                  <a:pt x="561169" y="561164"/>
                </a:lnTo>
                <a:lnTo>
                  <a:pt x="573646" y="545961"/>
                </a:lnTo>
                <a:lnTo>
                  <a:pt x="582918" y="528615"/>
                </a:lnTo>
                <a:lnTo>
                  <a:pt x="588627" y="509794"/>
                </a:lnTo>
                <a:lnTo>
                  <a:pt x="590555" y="490220"/>
                </a:lnTo>
                <a:lnTo>
                  <a:pt x="590555" y="0"/>
                </a:lnTo>
                <a:close/>
              </a:path>
            </a:pathLst>
          </a:custGeom>
          <a:gradFill rotWithShape="1">
            <a:gsLst>
              <a:gs pos="0">
                <a:srgbClr val="7C3AED">
                  <a:alpha val="2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6257330" y="3404592"/>
            <a:ext cx="2486620" cy="1009650"/>
          </a:xfrm>
          <a:prstGeom prst="roundRect">
            <a:avLst>
              <a:gd name="adj" fmla="val 8553"/>
            </a:avLst>
          </a:prstGeom>
          <a:gradFill rotWithShape="1">
            <a:gsLst>
              <a:gs pos="0">
                <a:srgbClr val="7C3AED">
                  <a:alpha val="22000"/>
                </a:srgbClr>
              </a:gs>
              <a:gs pos="100000">
                <a:srgbClr val="7C3AED">
                  <a:alpha val="8000"/>
                </a:srgbClr>
              </a:gs>
            </a:gsLst>
            <a:lin ang="2700000" scaled="1"/>
          </a:gradFill>
          <a:ln w="9525">
            <a:solidFill>
              <a:srgbClr val="7C3AED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6467475" y="3693616"/>
            <a:ext cx="622493" cy="299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0"/>
              </a:lnSpc>
              <a:buNone/>
            </a:pPr>
            <a:r>
              <a:rPr lang="en-US" sz="2360" b="1" kern="0" spc="-47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55%</a:t>
            </a:r>
            <a:endParaRPr lang="en-US" sz="2360" dirty="0"/>
          </a:p>
        </p:txBody>
      </p:sp>
      <p:sp>
        <p:nvSpPr>
          <p:cNvPr id="61" name="Text 54"/>
          <p:cNvSpPr/>
          <p:nvPr/>
        </p:nvSpPr>
        <p:spPr>
          <a:xfrm>
            <a:off x="6586538" y="4007197"/>
            <a:ext cx="37784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620" dirty="0"/>
          </a:p>
        </p:txBody>
      </p:sp>
      <p:sp>
        <p:nvSpPr>
          <p:cNvPr id="62" name="Text 55"/>
          <p:cNvSpPr/>
          <p:nvPr/>
        </p:nvSpPr>
        <p:spPr>
          <a:xfrm>
            <a:off x="7177385" y="3737967"/>
            <a:ext cx="13841" cy="342900"/>
          </a:xfrm>
          <a:prstGeom prst="roundRect">
            <a:avLst>
              <a:gd name="adj" fmla="val 55054"/>
            </a:avLst>
          </a:prstGeom>
          <a:solidFill>
            <a:srgbClr val="7C3AED">
              <a:alpha val="4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7319367" y="4183559"/>
            <a:ext cx="1335881" cy="120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2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GitHub Research</a:t>
            </a:r>
            <a:endParaRPr lang="en-US" sz="680" dirty="0"/>
          </a:p>
        </p:txBody>
      </p:sp>
      <p:sp>
        <p:nvSpPr>
          <p:cNvPr id="64" name="Text 57"/>
          <p:cNvSpPr/>
          <p:nvPr/>
        </p:nvSpPr>
        <p:spPr>
          <a:xfrm>
            <a:off x="6257330" y="4528542"/>
            <a:ext cx="2486620" cy="300038"/>
          </a:xfrm>
          <a:prstGeom prst="roundRect">
            <a:avLst>
              <a:gd name="adj" fmla="val 23704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3339" y="4612193"/>
            <a:ext cx="132588" cy="132588"/>
          </a:xfrm>
          <a:prstGeom prst="rect">
            <a:avLst/>
          </a:prstGeom>
        </p:spPr>
      </p:pic>
      <p:sp>
        <p:nvSpPr>
          <p:cNvPr id="66" name="Text 58"/>
          <p:cNvSpPr/>
          <p:nvPr/>
        </p:nvSpPr>
        <p:spPr>
          <a:xfrm>
            <a:off x="6594425" y="4609058"/>
            <a:ext cx="218996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GitHub Copilot · AI in your terminal</a:t>
            </a:r>
            <a:endParaRPr lang="en-US" sz="7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57015" y="0"/>
            <a:ext cx="6429970" cy="3429000"/>
          </a:xfrm>
          <a:prstGeom prst="rect">
            <a:avLst/>
          </a:prstGeom>
          <a:gradFill rotWithShape="1">
            <a:gsLst>
              <a:gs pos="0">
                <a:srgbClr val="7C3AED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5040" y="1992809"/>
            <a:ext cx="2409530" cy="21580"/>
          </a:xfrm>
          <a:custGeom>
            <a:avLst/>
            <a:gdLst/>
            <a:ahLst/>
            <a:cxnLst/>
            <a:rect l="l" t="t" r="r" b="b"/>
            <a:pathLst>
              <a:path w="2409530" h="21580">
                <a:moveTo>
                  <a:pt x="86360" y="0"/>
                </a:moveTo>
                <a:lnTo>
                  <a:pt x="2323170" y="0"/>
                </a:lnTo>
                <a:lnTo>
                  <a:pt x="2344585" y="2698"/>
                </a:lnTo>
                <a:lnTo>
                  <a:pt x="2353215" y="5395"/>
                </a:lnTo>
                <a:lnTo>
                  <a:pt x="2359670" y="8093"/>
                </a:lnTo>
                <a:lnTo>
                  <a:pt x="2364970" y="10790"/>
                </a:lnTo>
                <a:lnTo>
                  <a:pt x="2369512" y="13488"/>
                </a:lnTo>
                <a:lnTo>
                  <a:pt x="2373504" y="16185"/>
                </a:lnTo>
                <a:lnTo>
                  <a:pt x="2377066" y="18883"/>
                </a:lnTo>
                <a:lnTo>
                  <a:pt x="2380280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9D5C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67088" y="1992809"/>
            <a:ext cx="2409673" cy="21580"/>
          </a:xfrm>
          <a:custGeom>
            <a:avLst/>
            <a:gdLst/>
            <a:ahLst/>
            <a:cxnLst/>
            <a:rect l="l" t="t" r="r" b="b"/>
            <a:pathLst>
              <a:path w="2409673" h="21580">
                <a:moveTo>
                  <a:pt x="86360" y="0"/>
                </a:moveTo>
                <a:lnTo>
                  <a:pt x="2323313" y="0"/>
                </a:lnTo>
                <a:lnTo>
                  <a:pt x="2344728" y="2698"/>
                </a:lnTo>
                <a:lnTo>
                  <a:pt x="2353358" y="5395"/>
                </a:lnTo>
                <a:lnTo>
                  <a:pt x="2359813" y="8093"/>
                </a:lnTo>
                <a:lnTo>
                  <a:pt x="2365112" y="10790"/>
                </a:lnTo>
                <a:lnTo>
                  <a:pt x="2369655" y="13488"/>
                </a:lnTo>
                <a:lnTo>
                  <a:pt x="2373647" y="16185"/>
                </a:lnTo>
                <a:lnTo>
                  <a:pt x="2377209" y="18883"/>
                </a:lnTo>
                <a:lnTo>
                  <a:pt x="238042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9D5C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9284" y="1992809"/>
            <a:ext cx="2409673" cy="21580"/>
          </a:xfrm>
          <a:custGeom>
            <a:avLst/>
            <a:gdLst/>
            <a:ahLst/>
            <a:cxnLst/>
            <a:rect l="l" t="t" r="r" b="b"/>
            <a:pathLst>
              <a:path w="2409673" h="21580">
                <a:moveTo>
                  <a:pt x="86360" y="0"/>
                </a:moveTo>
                <a:lnTo>
                  <a:pt x="2323313" y="0"/>
                </a:lnTo>
                <a:lnTo>
                  <a:pt x="2344728" y="2698"/>
                </a:lnTo>
                <a:lnTo>
                  <a:pt x="2353358" y="5395"/>
                </a:lnTo>
                <a:lnTo>
                  <a:pt x="2359813" y="8093"/>
                </a:lnTo>
                <a:lnTo>
                  <a:pt x="2365112" y="10790"/>
                </a:lnTo>
                <a:lnTo>
                  <a:pt x="2369655" y="13488"/>
                </a:lnTo>
                <a:lnTo>
                  <a:pt x="2373647" y="16185"/>
                </a:lnTo>
                <a:lnTo>
                  <a:pt x="2377209" y="18883"/>
                </a:lnTo>
                <a:lnTo>
                  <a:pt x="2380423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9D5C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90627" y="878309"/>
            <a:ext cx="285750" cy="7590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67603" y="878309"/>
            <a:ext cx="285750" cy="7590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47368" y="817364"/>
            <a:ext cx="137402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170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 TODAY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1622881" y="1017836"/>
            <a:ext cx="5898237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18"/>
              </a:lnSpc>
              <a:spcAft>
                <a:spcPts val="340"/>
              </a:spcAft>
              <a:buNone/>
            </a:pPr>
            <a:r>
              <a:rPr lang="en-US" sz="3380" kern="0" spc="-3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Terminal, </a:t>
            </a:r>
            <a:r>
              <a:rPr lang="en-US" sz="3380" kern="0" spc="-30" dirty="0">
                <a:solidFill>
                  <a:srgbClr val="9D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Supercharged.</a:t>
            </a:r>
            <a:endParaRPr lang="en-US" sz="3380" dirty="0"/>
          </a:p>
        </p:txBody>
      </p:sp>
      <p:sp>
        <p:nvSpPr>
          <p:cNvPr id="12" name="Text 10"/>
          <p:cNvSpPr/>
          <p:nvPr/>
        </p:nvSpPr>
        <p:spPr>
          <a:xfrm>
            <a:off x="7323534" y="1235273"/>
            <a:ext cx="57150" cy="100310"/>
          </a:xfrm>
          <a:prstGeom prst="roundRect">
            <a:avLst>
              <a:gd name="adj" fmla="val 13333"/>
            </a:avLst>
          </a:prstGeom>
          <a:solidFill>
            <a:srgbClr val="9D5CF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98282" y="1533079"/>
            <a:ext cx="2947288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15"/>
              </a:lnSpc>
              <a:spcAft>
                <a:spcPts val="2030"/>
              </a:spcAft>
              <a:buNone/>
            </a:pPr>
            <a:r>
              <a:rPr lang="en-US" sz="1010" kern="0" spc="1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 with GitHub Copilot CLI in minutes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785515" y="1983284"/>
            <a:ext cx="2428577" cy="1578471"/>
          </a:xfrm>
          <a:prstGeom prst="roundRect">
            <a:avLst>
              <a:gd name="adj" fmla="val 5471"/>
            </a:avLst>
          </a:prstGeom>
          <a:solidFill>
            <a:srgbClr val="161B22"/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52500" y="2164259"/>
            <a:ext cx="555909" cy="164753"/>
          </a:xfrm>
          <a:prstGeom prst="roundRect">
            <a:avLst>
              <a:gd name="adj" fmla="val 87106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86360" tIns="13970" rIns="86360" bIns="13970" rtlCol="0" anchor="t"/>
          <a:lstStyle/>
          <a:p>
            <a:pPr marL="0" indent="0" algn="l">
              <a:buNone/>
            </a:pPr>
            <a:r>
              <a:rPr lang="en-US" sz="620" b="1" kern="0" spc="110" dirty="0">
                <a:solidFill>
                  <a:srgbClr val="9D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1</a:t>
            </a:r>
            <a:endParaRPr lang="en-US" sz="62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410123"/>
            <a:ext cx="257770" cy="25777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96591" y="2400002"/>
            <a:ext cx="498918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Install</a:t>
            </a:r>
            <a:endParaRPr lang="en-US" sz="1460" dirty="0"/>
          </a:p>
        </p:txBody>
      </p:sp>
      <p:sp>
        <p:nvSpPr>
          <p:cNvPr id="18" name="Text 15"/>
          <p:cNvSpPr/>
          <p:nvPr/>
        </p:nvSpPr>
        <p:spPr>
          <a:xfrm>
            <a:off x="952500" y="2749153"/>
            <a:ext cx="2094607" cy="458653"/>
          </a:xfrm>
          <a:prstGeom prst="roundRect">
            <a:avLst>
              <a:gd name="adj" fmla="val 9415"/>
            </a:avLst>
          </a:prstGeom>
          <a:solidFill>
            <a:srgbClr val="000000">
              <a:alpha val="45000"/>
            </a:srgbClr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lIns="100330" tIns="71120" rIns="100330" bIns="7112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extension </a:t>
            </a: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github/gh-copilot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952500" y="3279279"/>
            <a:ext cx="162286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GitHub CLI with Copilot AI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3357563" y="1983284"/>
            <a:ext cx="2428726" cy="1578471"/>
          </a:xfrm>
          <a:prstGeom prst="roundRect">
            <a:avLst>
              <a:gd name="adj" fmla="val 5471"/>
            </a:avLst>
          </a:prstGeom>
          <a:solidFill>
            <a:srgbClr val="161B22"/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524548" y="2164259"/>
            <a:ext cx="555909" cy="164753"/>
          </a:xfrm>
          <a:prstGeom prst="roundRect">
            <a:avLst>
              <a:gd name="adj" fmla="val 87106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86360" tIns="13970" rIns="86360" bIns="13970" rtlCol="0" anchor="t"/>
          <a:lstStyle/>
          <a:p>
            <a:pPr marL="0" indent="0" algn="l">
              <a:buNone/>
            </a:pPr>
            <a:r>
              <a:rPr lang="en-US" sz="620" b="1" kern="0" spc="110" dirty="0">
                <a:solidFill>
                  <a:srgbClr val="9D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2</a:t>
            </a:r>
            <a:endParaRPr lang="en-US" sz="62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548" y="2410123"/>
            <a:ext cx="257770" cy="25777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68638" y="2400002"/>
            <a:ext cx="427894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Try It</a:t>
            </a:r>
            <a:endParaRPr lang="en-US" sz="1460" dirty="0"/>
          </a:p>
        </p:txBody>
      </p:sp>
      <p:sp>
        <p:nvSpPr>
          <p:cNvPr id="24" name="Text 20"/>
          <p:cNvSpPr/>
          <p:nvPr/>
        </p:nvSpPr>
        <p:spPr>
          <a:xfrm>
            <a:off x="3524548" y="2749153"/>
            <a:ext cx="2094756" cy="458653"/>
          </a:xfrm>
          <a:prstGeom prst="roundRect">
            <a:avLst>
              <a:gd name="adj" fmla="val 9415"/>
            </a:avLst>
          </a:prstGeom>
          <a:solidFill>
            <a:srgbClr val="000000">
              <a:alpha val="45000"/>
            </a:srgbClr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square" lIns="100330" tIns="71120" rIns="100330" bIns="7112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</a:t>
            </a: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</a:t>
            </a: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first question"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524548" y="3279279"/>
            <a:ext cx="207061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English — get a shell command back</a:t>
            </a:r>
            <a:endParaRPr lang="en-US" sz="680" dirty="0"/>
          </a:p>
        </p:txBody>
      </p:sp>
      <p:sp>
        <p:nvSpPr>
          <p:cNvPr id="26" name="Text 22"/>
          <p:cNvSpPr/>
          <p:nvPr/>
        </p:nvSpPr>
        <p:spPr>
          <a:xfrm>
            <a:off x="5929759" y="1983284"/>
            <a:ext cx="2428726" cy="1578471"/>
          </a:xfrm>
          <a:prstGeom prst="roundRect">
            <a:avLst>
              <a:gd name="adj" fmla="val 5471"/>
            </a:avLst>
          </a:prstGeom>
          <a:solidFill>
            <a:srgbClr val="161B22"/>
          </a:solidFill>
          <a:ln w="9525">
            <a:solidFill>
              <a:srgbClr val="7C3AED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096744" y="2164259"/>
            <a:ext cx="555909" cy="164753"/>
          </a:xfrm>
          <a:prstGeom prst="roundRect">
            <a:avLst>
              <a:gd name="adj" fmla="val 87106"/>
            </a:avLst>
          </a:prstGeom>
          <a:solidFill>
            <a:srgbClr val="7C3AED">
              <a:alpha val="15000"/>
            </a:srgbClr>
          </a:solidFill>
          <a:ln w="9525">
            <a:solidFill>
              <a:srgbClr val="7C3AED">
                <a:alpha val="30000"/>
              </a:srgbClr>
            </a:solidFill>
          </a:ln>
        </p:spPr>
        <p:txBody>
          <a:bodyPr wrap="none" lIns="86360" tIns="13970" rIns="86360" bIns="13970" rtlCol="0" anchor="t"/>
          <a:lstStyle/>
          <a:p>
            <a:pPr marL="0" indent="0" algn="l">
              <a:buNone/>
            </a:pPr>
            <a:r>
              <a:rPr lang="en-US" sz="620" b="1" kern="0" spc="110" dirty="0">
                <a:solidFill>
                  <a:srgbClr val="9D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3</a:t>
            </a:r>
            <a:endParaRPr lang="en-US" sz="62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744" y="2410123"/>
            <a:ext cx="257770" cy="25777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40835" y="2400002"/>
            <a:ext cx="573286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90"/>
              </a:lnSpc>
              <a:buNone/>
            </a:pPr>
            <a:r>
              <a:rPr lang="en-US" sz="1460" kern="0" spc="-20" dirty="0">
                <a:solidFill>
                  <a:srgbClr val="E6EDF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Alias It</a:t>
            </a:r>
            <a:endParaRPr lang="en-US" sz="1460" dirty="0"/>
          </a:p>
        </p:txBody>
      </p:sp>
      <p:sp>
        <p:nvSpPr>
          <p:cNvPr id="30" name="Text 25"/>
          <p:cNvSpPr/>
          <p:nvPr/>
        </p:nvSpPr>
        <p:spPr>
          <a:xfrm>
            <a:off x="6096744" y="2749153"/>
            <a:ext cx="2136651" cy="303163"/>
          </a:xfrm>
          <a:prstGeom prst="roundRect">
            <a:avLst>
              <a:gd name="adj" fmla="val 14243"/>
            </a:avLst>
          </a:prstGeom>
          <a:solidFill>
            <a:srgbClr val="000000">
              <a:alpha val="45000"/>
            </a:srgbClr>
          </a:solidFill>
          <a:ln w="9525">
            <a:solidFill>
              <a:srgbClr val="7C3AED">
                <a:alpha val="20000"/>
              </a:srgbClr>
            </a:solidFill>
          </a:ln>
        </p:spPr>
        <p:txBody>
          <a:bodyPr wrap="none" lIns="100330" tIns="71120" rIns="100330" bIns="7112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gh copilot </a:t>
            </a:r>
            <a:r>
              <a:rPr lang="en-US" sz="7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</a:t>
            </a: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6096744" y="3137148"/>
            <a:ext cx="182210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</a:t>
            </a:r>
            <a:r>
              <a:rPr lang="en-US" sz="620" dirty="0">
                <a:solidFill>
                  <a:srgbClr val="9D5C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ghcs</a:t>
            </a: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620" dirty="0">
                <a:solidFill>
                  <a:srgbClr val="9D5C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ghce</a:t>
            </a:r>
            <a:r>
              <a:rPr lang="en-US" sz="6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shortcuts in your shell</a:t>
            </a:r>
            <a:endParaRPr lang="en-US" sz="680" dirty="0"/>
          </a:p>
        </p:txBody>
      </p:sp>
      <p:sp>
        <p:nvSpPr>
          <p:cNvPr id="32" name="Text 27"/>
          <p:cNvSpPr/>
          <p:nvPr/>
        </p:nvSpPr>
        <p:spPr>
          <a:xfrm>
            <a:off x="785515" y="3762375"/>
            <a:ext cx="7572970" cy="563761"/>
          </a:xfrm>
          <a:prstGeom prst="roundRect">
            <a:avLst>
              <a:gd name="adj" fmla="val 12615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252913" y="3771900"/>
            <a:ext cx="9525" cy="544711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952500" y="3858220"/>
            <a:ext cx="372070" cy="372070"/>
          </a:xfrm>
          <a:prstGeom prst="roundRect">
            <a:avLst>
              <a:gd name="adj" fmla="val 11605"/>
            </a:avLst>
          </a:prstGeom>
          <a:solidFill>
            <a:srgbClr val="7C3AED">
              <a:alpha val="8000"/>
            </a:srgbClr>
          </a:solidFill>
          <a:ln w="9525">
            <a:solidFill>
              <a:srgbClr val="7C3AED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019" y="3963739"/>
            <a:ext cx="160883" cy="16088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395561" y="3914477"/>
            <a:ext cx="1474381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8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</a:t>
            </a:r>
            <a:endParaRPr lang="en-US" sz="560" dirty="0"/>
          </a:p>
        </p:txBody>
      </p:sp>
      <p:sp>
        <p:nvSpPr>
          <p:cNvPr id="37" name="Text 31"/>
          <p:cNvSpPr/>
          <p:nvPr/>
        </p:nvSpPr>
        <p:spPr>
          <a:xfrm>
            <a:off x="1395561" y="4035028"/>
            <a:ext cx="147438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20" dirty="0">
                <a:solidFill>
                  <a:srgbClr val="9D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docs.github.com/copilot</a:t>
            </a:r>
            <a:endParaRPr lang="en-US" sz="73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07405" y="3977887"/>
            <a:ext cx="132588" cy="1325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598491" y="3915668"/>
            <a:ext cx="2066214" cy="269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6B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Subscription Required</a:t>
            </a:r>
            <a:br/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· Business · Enterprise — all plans supported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372070" y="4849564"/>
            <a:ext cx="9483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8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2026</a:t>
            </a:r>
            <a:endParaRPr lang="en-US" sz="620" dirty="0"/>
          </a:p>
        </p:txBody>
      </p:sp>
      <p:sp>
        <p:nvSpPr>
          <p:cNvPr id="41" name="Text 34"/>
          <p:cNvSpPr/>
          <p:nvPr/>
        </p:nvSpPr>
        <p:spPr>
          <a:xfrm>
            <a:off x="3662660" y="4817269"/>
            <a:ext cx="189610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i="1" kern="0" spc="20" dirty="0">
                <a:solidFill>
                  <a:srgbClr val="9D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"Stop searching. Start asking."</a:t>
            </a:r>
            <a:endParaRPr lang="en-US" sz="960" dirty="0"/>
          </a:p>
        </p:txBody>
      </p:sp>
      <p:sp>
        <p:nvSpPr>
          <p:cNvPr id="42" name="Text 35"/>
          <p:cNvSpPr/>
          <p:nvPr/>
        </p:nvSpPr>
        <p:spPr>
          <a:xfrm>
            <a:off x="7814816" y="4828580"/>
            <a:ext cx="105282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30" dirty="0">
                <a:solidFill>
                  <a:srgbClr val="8B949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Copilot CLI</a:t>
            </a:r>
            <a:endParaRPr lang="en-US" sz="840" dirty="0"/>
          </a:p>
        </p:txBody>
      </p:sp>
      <p:sp>
        <p:nvSpPr>
          <p:cNvPr id="43" name="Text 36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25000">
                <a:srgbClr val="7C3AED"/>
              </a:gs>
              <a:gs pos="50000">
                <a:srgbClr val="9D5CF6"/>
              </a:gs>
              <a:gs pos="75000">
                <a:srgbClr val="7C3AED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2301</Words>
  <Application>Microsoft Macintosh PowerPoint</Application>
  <PresentationFormat>On-screen Show (16:9)</PresentationFormat>
  <Paragraphs>389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Consolas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Medhat Elmasry</cp:lastModifiedBy>
  <cp:revision>3</cp:revision>
  <dcterms:created xsi:type="dcterms:W3CDTF">2026-05-14T02:31:48Z</dcterms:created>
  <dcterms:modified xsi:type="dcterms:W3CDTF">2026-05-14T02:47:08Z</dcterms:modified>
</cp:coreProperties>
</file>