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35E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239"/>
    <p:restoredTop sz="94610"/>
  </p:normalViewPr>
  <p:slideViewPr>
    <p:cSldViewPr snapToGrid="0" snapToObjects="1">
      <p:cViewPr varScale="1">
        <p:scale>
          <a:sx n="161" d="100"/>
          <a:sy n="161" d="100"/>
        </p:scale>
        <p:origin x="208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24483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svg"/><Relationship Id="rId7" Type="http://schemas.openxmlformats.org/officeDocument/2006/relationships/image" Target="../media/image13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svg"/><Relationship Id="rId5" Type="http://schemas.openxmlformats.org/officeDocument/2006/relationships/image" Target="../media/image11.svg"/><Relationship Id="rId10" Type="http://schemas.openxmlformats.org/officeDocument/2006/relationships/image" Target="../media/image16.svg"/><Relationship Id="rId4" Type="http://schemas.openxmlformats.org/officeDocument/2006/relationships/image" Target="../media/image10.svg"/><Relationship Id="rId9" Type="http://schemas.openxmlformats.org/officeDocument/2006/relationships/image" Target="../media/image15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17.svg"/><Relationship Id="rId7" Type="http://schemas.openxmlformats.org/officeDocument/2006/relationships/image" Target="../media/image21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svg"/><Relationship Id="rId5" Type="http://schemas.openxmlformats.org/officeDocument/2006/relationships/image" Target="../media/image19.svg"/><Relationship Id="rId4" Type="http://schemas.openxmlformats.org/officeDocument/2006/relationships/image" Target="../media/image18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svg"/><Relationship Id="rId5" Type="http://schemas.openxmlformats.org/officeDocument/2006/relationships/image" Target="../media/image25.svg"/><Relationship Id="rId4" Type="http://schemas.openxmlformats.org/officeDocument/2006/relationships/image" Target="../media/image24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3" Type="http://schemas.openxmlformats.org/officeDocument/2006/relationships/image" Target="../media/image27.svg"/><Relationship Id="rId7" Type="http://schemas.openxmlformats.org/officeDocument/2006/relationships/image" Target="../media/image31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svg"/><Relationship Id="rId5" Type="http://schemas.openxmlformats.org/officeDocument/2006/relationships/image" Target="../media/image29.svg"/><Relationship Id="rId4" Type="http://schemas.openxmlformats.org/officeDocument/2006/relationships/image" Target="../media/image28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svg"/><Relationship Id="rId3" Type="http://schemas.openxmlformats.org/officeDocument/2006/relationships/image" Target="../media/image33.svg"/><Relationship Id="rId7" Type="http://schemas.openxmlformats.org/officeDocument/2006/relationships/image" Target="../media/image37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svg"/><Relationship Id="rId11" Type="http://schemas.openxmlformats.org/officeDocument/2006/relationships/image" Target="../media/image41.svg"/><Relationship Id="rId5" Type="http://schemas.openxmlformats.org/officeDocument/2006/relationships/image" Target="../media/image35.svg"/><Relationship Id="rId10" Type="http://schemas.openxmlformats.org/officeDocument/2006/relationships/image" Target="../media/image40.svg"/><Relationship Id="rId4" Type="http://schemas.openxmlformats.org/officeDocument/2006/relationships/image" Target="../media/image34.svg"/><Relationship Id="rId9" Type="http://schemas.openxmlformats.org/officeDocument/2006/relationships/image" Target="../media/image39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svg"/><Relationship Id="rId3" Type="http://schemas.openxmlformats.org/officeDocument/2006/relationships/image" Target="../media/image42.svg"/><Relationship Id="rId7" Type="http://schemas.openxmlformats.org/officeDocument/2006/relationships/image" Target="../media/image46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svg"/><Relationship Id="rId11" Type="http://schemas.openxmlformats.org/officeDocument/2006/relationships/image" Target="../media/image50.svg"/><Relationship Id="rId5" Type="http://schemas.openxmlformats.org/officeDocument/2006/relationships/image" Target="../media/image44.svg"/><Relationship Id="rId10" Type="http://schemas.openxmlformats.org/officeDocument/2006/relationships/image" Target="../media/image49.svg"/><Relationship Id="rId4" Type="http://schemas.openxmlformats.org/officeDocument/2006/relationships/image" Target="../media/image43.svg"/><Relationship Id="rId9" Type="http://schemas.openxmlformats.org/officeDocument/2006/relationships/image" Target="../media/image48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2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svg"/><Relationship Id="rId3" Type="http://schemas.openxmlformats.org/officeDocument/2006/relationships/image" Target="../media/image53.svg"/><Relationship Id="rId7" Type="http://schemas.openxmlformats.org/officeDocument/2006/relationships/image" Target="../media/image57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svg"/><Relationship Id="rId5" Type="http://schemas.openxmlformats.org/officeDocument/2006/relationships/image" Target="../media/image55.svg"/><Relationship Id="rId4" Type="http://schemas.openxmlformats.org/officeDocument/2006/relationships/image" Target="../media/image54.svg"/><Relationship Id="rId9" Type="http://schemas.openxmlformats.org/officeDocument/2006/relationships/image" Target="../media/image59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svg"/><Relationship Id="rId3" Type="http://schemas.openxmlformats.org/officeDocument/2006/relationships/image" Target="../media/image60.svg"/><Relationship Id="rId7" Type="http://schemas.openxmlformats.org/officeDocument/2006/relationships/image" Target="../media/image64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3.svg"/><Relationship Id="rId5" Type="http://schemas.openxmlformats.org/officeDocument/2006/relationships/image" Target="../media/image62.svg"/><Relationship Id="rId10" Type="http://schemas.openxmlformats.org/officeDocument/2006/relationships/image" Target="../media/image67.svg"/><Relationship Id="rId4" Type="http://schemas.openxmlformats.org/officeDocument/2006/relationships/image" Target="../media/image61.svg"/><Relationship Id="rId9" Type="http://schemas.openxmlformats.org/officeDocument/2006/relationships/image" Target="../media/image66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svg"/><Relationship Id="rId3" Type="http://schemas.openxmlformats.org/officeDocument/2006/relationships/image" Target="../media/image68.svg"/><Relationship Id="rId7" Type="http://schemas.openxmlformats.org/officeDocument/2006/relationships/image" Target="../media/image72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1.svg"/><Relationship Id="rId5" Type="http://schemas.openxmlformats.org/officeDocument/2006/relationships/image" Target="../media/image70.svg"/><Relationship Id="rId4" Type="http://schemas.openxmlformats.org/officeDocument/2006/relationships/image" Target="../media/image69.svg"/><Relationship Id="rId9" Type="http://schemas.openxmlformats.org/officeDocument/2006/relationships/image" Target="../media/image74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svg"/><Relationship Id="rId7" Type="http://schemas.openxmlformats.org/officeDocument/2006/relationships/image" Target="../media/image79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8.svg"/><Relationship Id="rId5" Type="http://schemas.openxmlformats.org/officeDocument/2006/relationships/image" Target="../media/image77.svg"/><Relationship Id="rId4" Type="http://schemas.openxmlformats.org/officeDocument/2006/relationships/image" Target="../media/image76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svg"/><Relationship Id="rId3" Type="http://schemas.openxmlformats.org/officeDocument/2006/relationships/image" Target="../media/image80.svg"/><Relationship Id="rId7" Type="http://schemas.openxmlformats.org/officeDocument/2006/relationships/image" Target="../media/image84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3.svg"/><Relationship Id="rId5" Type="http://schemas.openxmlformats.org/officeDocument/2006/relationships/image" Target="../media/image82.svg"/><Relationship Id="rId4" Type="http://schemas.openxmlformats.org/officeDocument/2006/relationships/image" Target="../media/image81.svg"/><Relationship Id="rId9" Type="http://schemas.openxmlformats.org/officeDocument/2006/relationships/image" Target="../media/image86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9.svg"/><Relationship Id="rId4" Type="http://schemas.openxmlformats.org/officeDocument/2006/relationships/image" Target="../media/image8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6E40C9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246671"/>
            <a:ext cx="9144000" cy="5143500"/>
          </a:xfrm>
          <a:prstGeom prst="rect">
            <a:avLst/>
          </a:prstGeom>
          <a:gradFill rotWithShape="1">
            <a:gsLst>
              <a:gs pos="0">
                <a:srgbClr val="6E40C9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499890" y="651510"/>
            <a:ext cx="6144220" cy="3429000"/>
          </a:xfrm>
          <a:prstGeom prst="rect">
            <a:avLst/>
          </a:prstGeom>
          <a:gradFill rotWithShape="1">
            <a:gsLst>
              <a:gs pos="0">
                <a:srgbClr val="6E40C9">
                  <a:alpha val="13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0" y="0"/>
            <a:ext cx="9144000" cy="13841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40000">
                <a:srgbClr val="6E40C9"/>
              </a:gs>
              <a:gs pos="100000">
                <a:srgbClr val="6E40C9">
                  <a:alpha val="3000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0" y="1543050"/>
            <a:ext cx="21580" cy="20574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6E40C9">
                  <a:alpha val="60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329315" y="372070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407896" y="372070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486477" y="372070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565059" y="372070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643640" y="372070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329315" y="450652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407896" y="450652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486477" y="450652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565059" y="450652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643640" y="450652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329315" y="529233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407896" y="529233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486477" y="529233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565059" y="529233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643640" y="529233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329315" y="607814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8407896" y="607814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486477" y="607814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8565059" y="607814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643640" y="607814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8329315" y="686395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8407896" y="686395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8486477" y="686395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8565059" y="686395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8643640" y="686395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372070" y="257770"/>
            <a:ext cx="1037889" cy="225326"/>
          </a:xfrm>
          <a:prstGeom prst="roundRect">
            <a:avLst>
              <a:gd name="adj" fmla="val 3167025"/>
            </a:avLst>
          </a:prstGeom>
          <a:solidFill>
            <a:srgbClr val="6E40C9"/>
          </a:solidFill>
          <a:ln/>
        </p:spPr>
        <p:txBody>
          <a:bodyPr wrap="none" lIns="224413" tIns="43180" rIns="114300" bIns="43180" rtlCol="0" anchor="ctr"/>
          <a:lstStyle/>
          <a:p>
            <a:pPr marL="0" indent="0" algn="l">
              <a:buNone/>
            </a:pPr>
            <a:r>
              <a:rPr lang="en-US" sz="730" b="1" kern="0" spc="15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</a:t>
            </a:r>
            <a:endParaRPr lang="en-US" sz="730" dirty="0"/>
          </a:p>
        </p:txBody>
      </p:sp>
      <p:pic>
        <p:nvPicPr>
          <p:cNvPr id="3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4839" y="304139"/>
            <a:ext cx="132588" cy="132588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2586244" y="1536948"/>
            <a:ext cx="3971362" cy="10051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769"/>
              </a:lnSpc>
              <a:spcAft>
                <a:spcPts val="340"/>
              </a:spcAft>
              <a:buNone/>
            </a:pPr>
            <a:r>
              <a:rPr lang="en-US" sz="3490" kern="0" spc="-3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Getting Started with</a:t>
            </a:r>
            <a:br/>
            <a:r>
              <a:rPr lang="en-US" sz="3490" kern="0" spc="-3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3490" b="1" kern="0" spc="-3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GitHub Copilot CLI</a:t>
            </a:r>
            <a:endParaRPr lang="en-US" sz="3490" dirty="0"/>
          </a:p>
        </p:txBody>
      </p:sp>
      <p:sp>
        <p:nvSpPr>
          <p:cNvPr id="36" name="Text 33"/>
          <p:cNvSpPr/>
          <p:nvPr/>
        </p:nvSpPr>
        <p:spPr>
          <a:xfrm>
            <a:off x="4343400" y="2708821"/>
            <a:ext cx="457200" cy="13841"/>
          </a:xfrm>
          <a:prstGeom prst="rect">
            <a:avLst/>
          </a:prstGeom>
          <a:gradFill rotWithShape="1">
            <a:gsLst>
              <a:gs pos="0">
                <a:srgbClr val="6E40C9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4"/>
          <p:cNvSpPr/>
          <p:nvPr/>
        </p:nvSpPr>
        <p:spPr>
          <a:xfrm>
            <a:off x="2586244" y="2862858"/>
            <a:ext cx="3971362" cy="2361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860"/>
              </a:lnSpc>
              <a:spcAft>
                <a:spcPts val="1800"/>
              </a:spcAft>
              <a:buNone/>
            </a:pPr>
            <a:r>
              <a:rPr lang="en-US" kern="0" spc="12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terminal-native AI coding assistant</a:t>
            </a:r>
            <a:endParaRPr lang="en-US" dirty="0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72F3C690-B3DA-C1A4-CF2B-F805FDA8DF1C}"/>
              </a:ext>
            </a:extLst>
          </p:cNvPr>
          <p:cNvGrpSpPr/>
          <p:nvPr/>
        </p:nvGrpSpPr>
        <p:grpSpPr>
          <a:xfrm>
            <a:off x="545708" y="3622104"/>
            <a:ext cx="1329720" cy="281381"/>
            <a:chOff x="545708" y="3470918"/>
            <a:chExt cx="1329720" cy="281381"/>
          </a:xfrm>
        </p:grpSpPr>
        <p:sp>
          <p:nvSpPr>
            <p:cNvPr id="38" name="Text 35"/>
            <p:cNvSpPr/>
            <p:nvPr/>
          </p:nvSpPr>
          <p:spPr>
            <a:xfrm>
              <a:off x="545708" y="3470918"/>
              <a:ext cx="1329720" cy="281381"/>
            </a:xfrm>
            <a:prstGeom prst="roundRect">
              <a:avLst>
                <a:gd name="adj" fmla="val 2716642"/>
              </a:avLst>
            </a:prstGeom>
            <a:solidFill>
              <a:srgbClr val="6E40C9">
                <a:alpha val="18000"/>
              </a:srgbClr>
            </a:solidFill>
            <a:ln w="9525">
              <a:solidFill>
                <a:srgbClr val="6E40C9">
                  <a:alpha val="30000"/>
                </a:srgbClr>
              </a:solidFill>
            </a:ln>
          </p:spPr>
          <p:txBody>
            <a:bodyPr wrap="none" lIns="223431" tIns="49530" rIns="114300" bIns="49530" rtlCol="0" anchor="ctr"/>
            <a:lstStyle/>
            <a:p>
              <a:pPr marL="0" indent="0" algn="l">
                <a:buNone/>
              </a:pPr>
              <a:r>
                <a:rPr lang="en-US" sz="1400" b="1" kern="0" spc="15" dirty="0">
                  <a:solidFill>
                    <a:srgbClr val="C4B0F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Agentic CLI</a:t>
              </a:r>
              <a:endParaRPr lang="en-US" sz="1400" dirty="0"/>
            </a:p>
          </p:txBody>
        </p:sp>
        <p:pic>
          <p:nvPicPr>
            <p:cNvPr id="39" name="Image 1" descr="preencoded.png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8901" y="3555810"/>
              <a:ext cx="132588" cy="132588"/>
            </a:xfrm>
            <a:prstGeom prst="rect">
              <a:avLst/>
            </a:prstGeom>
          </p:spPr>
        </p:pic>
      </p:grpSp>
      <p:sp>
        <p:nvSpPr>
          <p:cNvPr id="40" name="Text 36"/>
          <p:cNvSpPr/>
          <p:nvPr/>
        </p:nvSpPr>
        <p:spPr>
          <a:xfrm>
            <a:off x="3848993" y="3461593"/>
            <a:ext cx="29170" cy="29170"/>
          </a:xfrm>
          <a:prstGeom prst="ellipse">
            <a:avLst/>
          </a:prstGeom>
          <a:solidFill>
            <a:srgbClr val="6E40C9">
              <a:alpha val="3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691AAF5-4931-BCA3-396E-1BE232466DFA}"/>
              </a:ext>
            </a:extLst>
          </p:cNvPr>
          <p:cNvGrpSpPr/>
          <p:nvPr/>
        </p:nvGrpSpPr>
        <p:grpSpPr>
          <a:xfrm>
            <a:off x="3600032" y="3610452"/>
            <a:ext cx="1486736" cy="262682"/>
            <a:chOff x="2586244" y="3397761"/>
            <a:chExt cx="1486736" cy="262682"/>
          </a:xfrm>
        </p:grpSpPr>
        <p:sp>
          <p:nvSpPr>
            <p:cNvPr id="41" name="Text 37"/>
            <p:cNvSpPr/>
            <p:nvPr/>
          </p:nvSpPr>
          <p:spPr>
            <a:xfrm>
              <a:off x="2586244" y="3397761"/>
              <a:ext cx="1486736" cy="262682"/>
            </a:xfrm>
            <a:prstGeom prst="roundRect">
              <a:avLst>
                <a:gd name="adj" fmla="val 2716642"/>
              </a:avLst>
            </a:prstGeom>
            <a:solidFill>
              <a:srgbClr val="6E40C9">
                <a:alpha val="18000"/>
              </a:srgbClr>
            </a:solidFill>
            <a:ln w="9525">
              <a:solidFill>
                <a:srgbClr val="6E40C9">
                  <a:alpha val="30000"/>
                </a:srgbClr>
              </a:solidFill>
            </a:ln>
          </p:spPr>
          <p:txBody>
            <a:bodyPr wrap="none" lIns="223431" tIns="49530" rIns="114300" bIns="49530" rtlCol="0" anchor="ctr"/>
            <a:lstStyle/>
            <a:p>
              <a:r>
                <a:rPr lang="en-US" sz="1400" b="1" kern="0" spc="15" dirty="0">
                  <a:solidFill>
                    <a:srgbClr val="C4B0F0"/>
                  </a:solidFill>
                  <a:latin typeface="Calibri" pitchFamily="34" charset="0"/>
                  <a:cs typeface="Calibri" pitchFamily="34" charset="-120"/>
                </a:rPr>
                <a:t>User Controlled</a:t>
              </a:r>
            </a:p>
          </p:txBody>
        </p:sp>
        <p:pic>
          <p:nvPicPr>
            <p:cNvPr id="42" name="Image 2" descr="preencoded.png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85255" y="3470919"/>
              <a:ext cx="132588" cy="132588"/>
            </a:xfrm>
            <a:prstGeom prst="rect">
              <a:avLst/>
            </a:prstGeom>
          </p:spPr>
        </p:pic>
      </p:grpSp>
      <p:sp>
        <p:nvSpPr>
          <p:cNvPr id="43" name="Text 38"/>
          <p:cNvSpPr/>
          <p:nvPr/>
        </p:nvSpPr>
        <p:spPr>
          <a:xfrm>
            <a:off x="5160020" y="3461593"/>
            <a:ext cx="29170" cy="29170"/>
          </a:xfrm>
          <a:prstGeom prst="ellipse">
            <a:avLst/>
          </a:prstGeom>
          <a:solidFill>
            <a:srgbClr val="6E40C9">
              <a:alpha val="3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6259061-635F-42F4-2B54-EA6B59B04A27}"/>
              </a:ext>
            </a:extLst>
          </p:cNvPr>
          <p:cNvGrpSpPr/>
          <p:nvPr/>
        </p:nvGrpSpPr>
        <p:grpSpPr>
          <a:xfrm>
            <a:off x="6634014" y="3622104"/>
            <a:ext cx="1391989" cy="262682"/>
            <a:chOff x="5275510" y="3344912"/>
            <a:chExt cx="1391989" cy="262682"/>
          </a:xfrm>
        </p:grpSpPr>
        <p:sp>
          <p:nvSpPr>
            <p:cNvPr id="44" name="Text 39"/>
            <p:cNvSpPr/>
            <p:nvPr/>
          </p:nvSpPr>
          <p:spPr>
            <a:xfrm>
              <a:off x="5275510" y="3344912"/>
              <a:ext cx="1391989" cy="262682"/>
            </a:xfrm>
            <a:prstGeom prst="roundRect">
              <a:avLst>
                <a:gd name="adj" fmla="val 2716642"/>
              </a:avLst>
            </a:prstGeom>
            <a:solidFill>
              <a:srgbClr val="6E40C9">
                <a:alpha val="18000"/>
              </a:srgbClr>
            </a:solidFill>
            <a:ln w="9525">
              <a:solidFill>
                <a:srgbClr val="6E40C9">
                  <a:alpha val="30000"/>
                </a:srgbClr>
              </a:solidFill>
            </a:ln>
          </p:spPr>
          <p:txBody>
            <a:bodyPr wrap="none" lIns="223431" tIns="49530" rIns="114300" bIns="49530" rtlCol="0" anchor="ctr"/>
            <a:lstStyle/>
            <a:p>
              <a:r>
                <a:rPr lang="en-US" sz="1400" b="1" kern="0" spc="15" dirty="0">
                  <a:solidFill>
                    <a:srgbClr val="C4B0F0"/>
                  </a:solidFill>
                  <a:latin typeface="Calibri" pitchFamily="34" charset="0"/>
                  <a:cs typeface="Calibri" pitchFamily="34" charset="-120"/>
                </a:rPr>
                <a:t>GitHub Native</a:t>
              </a:r>
            </a:p>
          </p:txBody>
        </p:sp>
        <p:pic>
          <p:nvPicPr>
            <p:cNvPr id="45" name="Image 3" descr="preencoded.png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345022" y="3409959"/>
              <a:ext cx="132588" cy="132588"/>
            </a:xfrm>
            <a:prstGeom prst="rect">
              <a:avLst/>
            </a:prstGeom>
          </p:spPr>
        </p:pic>
      </p:grpSp>
      <p:sp>
        <p:nvSpPr>
          <p:cNvPr id="46" name="Text 40"/>
          <p:cNvSpPr/>
          <p:nvPr/>
        </p:nvSpPr>
        <p:spPr>
          <a:xfrm>
            <a:off x="0" y="4771430"/>
            <a:ext cx="9144000" cy="372070"/>
          </a:xfrm>
          <a:prstGeom prst="rect">
            <a:avLst/>
          </a:prstGeom>
          <a:solidFill>
            <a:srgbClr val="161B22">
              <a:alpha val="70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Text 41"/>
          <p:cNvSpPr/>
          <p:nvPr/>
        </p:nvSpPr>
        <p:spPr>
          <a:xfrm>
            <a:off x="0" y="4771430"/>
            <a:ext cx="9144000" cy="9525"/>
          </a:xfrm>
          <a:prstGeom prst="rect">
            <a:avLst/>
          </a:prstGeom>
          <a:solidFill>
            <a:srgbClr val="6E40C9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Text 42"/>
          <p:cNvSpPr/>
          <p:nvPr/>
        </p:nvSpPr>
        <p:spPr>
          <a:xfrm>
            <a:off x="457200" y="4876502"/>
            <a:ext cx="80496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8B949E">
                    <a:alpha val="5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copilot</a:t>
            </a:r>
            <a:endParaRPr lang="en-US" sz="900" dirty="0"/>
          </a:p>
        </p:txBody>
      </p:sp>
      <p:sp>
        <p:nvSpPr>
          <p:cNvPr id="49" name="Text 43"/>
          <p:cNvSpPr/>
          <p:nvPr/>
        </p:nvSpPr>
        <p:spPr>
          <a:xfrm>
            <a:off x="1210568" y="4898082"/>
            <a:ext cx="70991" cy="128141"/>
          </a:xfrm>
          <a:prstGeom prst="rect">
            <a:avLst/>
          </a:prstGeom>
          <a:solidFill>
            <a:srgbClr val="6E40C9">
              <a:alpha val="7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44"/>
          <p:cNvSpPr/>
          <p:nvPr/>
        </p:nvSpPr>
        <p:spPr>
          <a:xfrm>
            <a:off x="7576542" y="4892129"/>
            <a:ext cx="1221284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kern="0" spc="27" dirty="0">
                <a:solidFill>
                  <a:srgbClr val="8B949E">
                    <a:alpha val="3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docs.github.com/en/copilot</a:t>
            </a:r>
            <a:endParaRPr lang="en-US" sz="6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71500"/>
            <a:ext cx="29170" cy="4000500"/>
          </a:xfrm>
          <a:prstGeom prst="rect">
            <a:avLst/>
          </a:prstGeom>
          <a:gradFill rotWithShape="1">
            <a:gsLst>
              <a:gs pos="0">
                <a:srgbClr val="6E40C9"/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14350" y="372070"/>
            <a:ext cx="750540" cy="195411"/>
          </a:xfrm>
          <a:prstGeom prst="roundRect">
            <a:avLst>
              <a:gd name="adj" fmla="val 73440"/>
            </a:avLst>
          </a:prstGeom>
          <a:solidFill>
            <a:srgbClr val="6E40C9">
              <a:alpha val="15000"/>
            </a:srgbClr>
          </a:solidFill>
          <a:ln w="9525">
            <a:solidFill>
              <a:srgbClr val="6E40C9">
                <a:alpha val="35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10195" y="448121"/>
            <a:ext cx="43160" cy="43160"/>
          </a:xfrm>
          <a:prstGeom prst="ellipse">
            <a:avLst/>
          </a:prstGeom>
          <a:solidFill>
            <a:srgbClr val="6E40C9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96516" y="410766"/>
            <a:ext cx="519782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12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14350" y="667792"/>
            <a:ext cx="8683371" cy="3286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87"/>
              </a:lnSpc>
              <a:spcAft>
                <a:spcPts val="450"/>
              </a:spcAft>
              <a:buNone/>
            </a:pPr>
            <a:r>
              <a:rPr lang="en-US" sz="2250" kern="0" spc="-45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Is </a:t>
            </a:r>
            <a:r>
              <a:rPr lang="en-US" sz="2250" kern="0" spc="-45" dirty="0">
                <a:solidFill>
                  <a:srgbClr val="6E40C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GitHub Copilot CLI</a:t>
            </a:r>
            <a:r>
              <a:rPr lang="en-US" sz="2250" kern="0" spc="-45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?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514350" y="1053554"/>
            <a:ext cx="8926830" cy="182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960" kern="0" spc="1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assistant that lives where you work — the terminal.</a:t>
            </a:r>
            <a:endParaRPr lang="en-US" sz="960" dirty="0"/>
          </a:p>
        </p:txBody>
      </p:sp>
      <p:sp>
        <p:nvSpPr>
          <p:cNvPr id="8" name="Text 6"/>
          <p:cNvSpPr/>
          <p:nvPr/>
        </p:nvSpPr>
        <p:spPr>
          <a:xfrm>
            <a:off x="514349" y="1494086"/>
            <a:ext cx="6762929" cy="678061"/>
          </a:xfrm>
          <a:prstGeom prst="roundRect">
            <a:avLst>
              <a:gd name="adj" fmla="val 12736"/>
            </a:avLst>
          </a:prstGeom>
          <a:solidFill>
            <a:srgbClr val="161B22"/>
          </a:solidFill>
          <a:ln w="9525">
            <a:solidFill>
              <a:srgbClr val="FFFFFF">
                <a:alpha val="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07350" y="1763613"/>
            <a:ext cx="188595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lnSpc>
                <a:spcPts val="1095"/>
              </a:lnSpc>
              <a:buNone/>
            </a:pPr>
            <a:r>
              <a:rPr lang="en-US" sz="1200" b="1" dirty="0">
                <a:solidFill>
                  <a:srgbClr val="703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>
              <a:solidFill>
                <a:srgbClr val="7030A0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1067395" y="1647081"/>
            <a:ext cx="372070" cy="372070"/>
          </a:xfrm>
          <a:prstGeom prst="roundRect">
            <a:avLst>
              <a:gd name="adj" fmla="val 23211"/>
            </a:avLst>
          </a:prstGeom>
          <a:solidFill>
            <a:srgbClr val="6E40C9">
              <a:alpha val="12000"/>
            </a:srgbClr>
          </a:solidFill>
          <a:ln w="9525">
            <a:solidFill>
              <a:srgbClr val="6E40C9">
                <a:alpha val="2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sz="1200" dirty="0">
              <a:solidFill>
                <a:srgbClr val="7030A0"/>
              </a:solidFill>
            </a:endParaRPr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83928" y="1763613"/>
            <a:ext cx="139005" cy="139005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610916" y="1674019"/>
            <a:ext cx="5666363" cy="15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48"/>
              </a:lnSpc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Terminal-native AI coding assistant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610916" y="1846213"/>
            <a:ext cx="5666363" cy="1458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48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specifically for the command line — not an afterthought, but the primary interface.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14349" y="2272457"/>
            <a:ext cx="6762929" cy="678061"/>
          </a:xfrm>
          <a:prstGeom prst="roundRect">
            <a:avLst>
              <a:gd name="adj" fmla="val 12736"/>
            </a:avLst>
          </a:prstGeom>
          <a:solidFill>
            <a:srgbClr val="161B22"/>
          </a:solidFill>
          <a:ln w="9525">
            <a:solidFill>
              <a:srgbClr val="FFFFFF">
                <a:alpha val="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707350" y="2541984"/>
            <a:ext cx="188595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lnSpc>
                <a:spcPts val="1095"/>
              </a:lnSpc>
              <a:buNone/>
            </a:pPr>
            <a:r>
              <a:rPr lang="en-US" sz="1200" b="1" dirty="0">
                <a:solidFill>
                  <a:srgbClr val="703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200" dirty="0">
              <a:solidFill>
                <a:srgbClr val="7030A0"/>
              </a:solidFill>
            </a:endParaRPr>
          </a:p>
        </p:txBody>
      </p:sp>
      <p:sp>
        <p:nvSpPr>
          <p:cNvPr id="16" name="Text 13"/>
          <p:cNvSpPr/>
          <p:nvPr/>
        </p:nvSpPr>
        <p:spPr>
          <a:xfrm>
            <a:off x="1067395" y="2425452"/>
            <a:ext cx="372070" cy="372070"/>
          </a:xfrm>
          <a:prstGeom prst="roundRect">
            <a:avLst>
              <a:gd name="adj" fmla="val 23211"/>
            </a:avLst>
          </a:prstGeom>
          <a:solidFill>
            <a:srgbClr val="6E40C9">
              <a:alpha val="12000"/>
            </a:srgbClr>
          </a:solidFill>
          <a:ln w="9525">
            <a:solidFill>
              <a:srgbClr val="6E40C9">
                <a:alpha val="2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>
              <a:solidFill>
                <a:srgbClr val="7030A0"/>
              </a:solidFill>
            </a:endParaRPr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83928" y="2541984"/>
            <a:ext cx="139005" cy="139005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610916" y="2452390"/>
            <a:ext cx="5666363" cy="15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48"/>
              </a:lnSpc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capabilities in your shell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1610916" y="2624584"/>
            <a:ext cx="5666363" cy="1458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48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autonomous AI reasoning directly to your terminal workflow — no context switching required.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514349" y="3050828"/>
            <a:ext cx="6762929" cy="678061"/>
          </a:xfrm>
          <a:prstGeom prst="roundRect">
            <a:avLst>
              <a:gd name="adj" fmla="val 12736"/>
            </a:avLst>
          </a:prstGeom>
          <a:solidFill>
            <a:srgbClr val="161B22"/>
          </a:solidFill>
          <a:ln w="9525">
            <a:solidFill>
              <a:srgbClr val="FFFFFF">
                <a:alpha val="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7"/>
          <p:cNvSpPr/>
          <p:nvPr/>
        </p:nvSpPr>
        <p:spPr>
          <a:xfrm>
            <a:off x="707350" y="3320355"/>
            <a:ext cx="188595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lnSpc>
                <a:spcPts val="1095"/>
              </a:lnSpc>
              <a:buNone/>
            </a:pPr>
            <a:r>
              <a:rPr lang="en-US" sz="1200" b="1" dirty="0">
                <a:solidFill>
                  <a:srgbClr val="703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00" dirty="0">
              <a:solidFill>
                <a:srgbClr val="7030A0"/>
              </a:solidFill>
            </a:endParaRPr>
          </a:p>
        </p:txBody>
      </p:sp>
      <p:sp>
        <p:nvSpPr>
          <p:cNvPr id="22" name="Text 18"/>
          <p:cNvSpPr/>
          <p:nvPr/>
        </p:nvSpPr>
        <p:spPr>
          <a:xfrm>
            <a:off x="1067395" y="3203823"/>
            <a:ext cx="372070" cy="372070"/>
          </a:xfrm>
          <a:prstGeom prst="roundRect">
            <a:avLst>
              <a:gd name="adj" fmla="val 23211"/>
            </a:avLst>
          </a:prstGeom>
          <a:solidFill>
            <a:srgbClr val="6E40C9">
              <a:alpha val="12000"/>
            </a:srgbClr>
          </a:solidFill>
          <a:ln w="9525">
            <a:solidFill>
              <a:srgbClr val="6E40C9">
                <a:alpha val="2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sz="1200" dirty="0">
              <a:solidFill>
                <a:srgbClr val="7030A0"/>
              </a:solidFill>
            </a:endParaRPr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83928" y="3320355"/>
            <a:ext cx="139005" cy="139005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610916" y="3230761"/>
            <a:ext cx="5666363" cy="15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48"/>
              </a:lnSpc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flexibility &amp; GitHub workflow integration</a:t>
            </a:r>
            <a:endParaRPr lang="en-US" sz="1600" dirty="0"/>
          </a:p>
        </p:txBody>
      </p:sp>
      <p:sp>
        <p:nvSpPr>
          <p:cNvPr id="25" name="Text 20"/>
          <p:cNvSpPr/>
          <p:nvPr/>
        </p:nvSpPr>
        <p:spPr>
          <a:xfrm>
            <a:off x="1610916" y="3402955"/>
            <a:ext cx="5666363" cy="1458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48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Seamlessly integrates with your existing GitHub repos, branches, and development pipelines.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514349" y="3829199"/>
            <a:ext cx="6762929" cy="678061"/>
          </a:xfrm>
          <a:prstGeom prst="roundRect">
            <a:avLst>
              <a:gd name="adj" fmla="val 12736"/>
            </a:avLst>
          </a:prstGeom>
          <a:solidFill>
            <a:srgbClr val="161B22"/>
          </a:solidFill>
          <a:ln w="9525">
            <a:solidFill>
              <a:srgbClr val="FFFFFF">
                <a:alpha val="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2"/>
          <p:cNvSpPr/>
          <p:nvPr/>
        </p:nvSpPr>
        <p:spPr>
          <a:xfrm>
            <a:off x="707350" y="4098727"/>
            <a:ext cx="188595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lnSpc>
                <a:spcPts val="1095"/>
              </a:lnSpc>
              <a:buNone/>
            </a:pPr>
            <a:r>
              <a:rPr lang="en-US" sz="1200" b="1" dirty="0">
                <a:solidFill>
                  <a:srgbClr val="703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200" dirty="0">
              <a:solidFill>
                <a:srgbClr val="7030A0"/>
              </a:solidFill>
            </a:endParaRPr>
          </a:p>
        </p:txBody>
      </p:sp>
      <p:sp>
        <p:nvSpPr>
          <p:cNvPr id="28" name="Text 23"/>
          <p:cNvSpPr/>
          <p:nvPr/>
        </p:nvSpPr>
        <p:spPr>
          <a:xfrm>
            <a:off x="1067395" y="3982194"/>
            <a:ext cx="372070" cy="372070"/>
          </a:xfrm>
          <a:prstGeom prst="roundRect">
            <a:avLst>
              <a:gd name="adj" fmla="val 23211"/>
            </a:avLst>
          </a:prstGeom>
          <a:solidFill>
            <a:srgbClr val="6E40C9">
              <a:alpha val="12000"/>
            </a:srgbClr>
          </a:solidFill>
          <a:ln w="9525">
            <a:solidFill>
              <a:srgbClr val="6E40C9">
                <a:alpha val="2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>
              <a:solidFill>
                <a:srgbClr val="7030A0"/>
              </a:solidFill>
            </a:endParaRPr>
          </a:p>
        </p:txBody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83928" y="4098727"/>
            <a:ext cx="139005" cy="139005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1610916" y="4009132"/>
            <a:ext cx="5666363" cy="15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48"/>
              </a:lnSpc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— with you in full control</a:t>
            </a:r>
            <a:endParaRPr lang="en-US" sz="1600" dirty="0"/>
          </a:p>
        </p:txBody>
      </p:sp>
      <p:sp>
        <p:nvSpPr>
          <p:cNvPr id="31" name="Text 25"/>
          <p:cNvSpPr/>
          <p:nvPr/>
        </p:nvSpPr>
        <p:spPr>
          <a:xfrm>
            <a:off x="1610916" y="4181326"/>
            <a:ext cx="5666363" cy="1458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48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independently on complex tasks while requiring your explicit approval for every consequential action.</a:t>
            </a:r>
            <a:endParaRPr lang="en-US" sz="1000" dirty="0"/>
          </a:p>
        </p:txBody>
      </p:sp>
      <p:sp>
        <p:nvSpPr>
          <p:cNvPr id="32" name="Text 26"/>
          <p:cNvSpPr/>
          <p:nvPr/>
        </p:nvSpPr>
        <p:spPr>
          <a:xfrm>
            <a:off x="7490460" y="668060"/>
            <a:ext cx="1502450" cy="926157"/>
          </a:xfrm>
          <a:prstGeom prst="roundRect">
            <a:avLst>
              <a:gd name="adj" fmla="val 7679"/>
            </a:avLst>
          </a:prstGeom>
          <a:solidFill>
            <a:srgbClr val="161B22">
              <a:alpha val="38000"/>
            </a:srgbClr>
          </a:solidFill>
          <a:ln w="9525">
            <a:solidFill>
              <a:srgbClr val="6E40C9">
                <a:alpha val="2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33" name="Text 27"/>
          <p:cNvSpPr/>
          <p:nvPr/>
        </p:nvSpPr>
        <p:spPr>
          <a:xfrm>
            <a:off x="7614285" y="777895"/>
            <a:ext cx="57150" cy="57150"/>
          </a:xfrm>
          <a:prstGeom prst="ellipse">
            <a:avLst/>
          </a:prstGeom>
          <a:solidFill>
            <a:srgbClr val="FF5F57">
              <a:alpha val="3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34" name="Text 28"/>
          <p:cNvSpPr/>
          <p:nvPr/>
        </p:nvSpPr>
        <p:spPr>
          <a:xfrm>
            <a:off x="7706856" y="777895"/>
            <a:ext cx="57150" cy="57150"/>
          </a:xfrm>
          <a:prstGeom prst="ellipse">
            <a:avLst/>
          </a:prstGeom>
          <a:solidFill>
            <a:srgbClr val="FEBC2E">
              <a:alpha val="3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35" name="Text 29"/>
          <p:cNvSpPr/>
          <p:nvPr/>
        </p:nvSpPr>
        <p:spPr>
          <a:xfrm>
            <a:off x="7799427" y="777895"/>
            <a:ext cx="57150" cy="57150"/>
          </a:xfrm>
          <a:prstGeom prst="ellipse">
            <a:avLst/>
          </a:prstGeom>
          <a:solidFill>
            <a:srgbClr val="28C840">
              <a:alpha val="3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36" name="Text 30"/>
          <p:cNvSpPr/>
          <p:nvPr/>
        </p:nvSpPr>
        <p:spPr>
          <a:xfrm>
            <a:off x="7614285" y="906036"/>
            <a:ext cx="1299210" cy="1337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54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copilot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37" name="Text 31"/>
          <p:cNvSpPr/>
          <p:nvPr/>
        </p:nvSpPr>
        <p:spPr>
          <a:xfrm>
            <a:off x="7614285" y="1039832"/>
            <a:ext cx="1299210" cy="1337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4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 Welcome to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38" name="Text 32"/>
          <p:cNvSpPr/>
          <p:nvPr/>
        </p:nvSpPr>
        <p:spPr>
          <a:xfrm>
            <a:off x="7614285" y="1173629"/>
            <a:ext cx="1299210" cy="1337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4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Copilot CLI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39" name="Text 33"/>
          <p:cNvSpPr/>
          <p:nvPr/>
        </p:nvSpPr>
        <p:spPr>
          <a:xfrm>
            <a:off x="7614285" y="1350585"/>
            <a:ext cx="1299210" cy="1337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54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 _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40" name="Text 34"/>
          <p:cNvSpPr/>
          <p:nvPr/>
        </p:nvSpPr>
        <p:spPr>
          <a:xfrm>
            <a:off x="7490460" y="2274897"/>
            <a:ext cx="1428750" cy="841623"/>
          </a:xfrm>
          <a:prstGeom prst="roundRect">
            <a:avLst>
              <a:gd name="adj" fmla="val 8450"/>
            </a:avLst>
          </a:prstGeom>
          <a:solidFill>
            <a:srgbClr val="161B22">
              <a:alpha val="38000"/>
            </a:srgbClr>
          </a:solidFill>
          <a:ln w="9525">
            <a:solidFill>
              <a:srgbClr val="FFFFFF">
                <a:alpha val="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41" name="Text 35"/>
          <p:cNvSpPr/>
          <p:nvPr/>
        </p:nvSpPr>
        <p:spPr>
          <a:xfrm>
            <a:off x="7614285" y="2370743"/>
            <a:ext cx="1299210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1100" kern="0" spc="37" dirty="0">
                <a:solidFill>
                  <a:srgbClr val="8B949E">
                    <a:alpha val="3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</a:t>
            </a:r>
            <a:endParaRPr lang="en-US" sz="1100" dirty="0"/>
          </a:p>
        </p:txBody>
      </p:sp>
      <p:sp>
        <p:nvSpPr>
          <p:cNvPr id="42" name="Text 36"/>
          <p:cNvSpPr/>
          <p:nvPr/>
        </p:nvSpPr>
        <p:spPr>
          <a:xfrm>
            <a:off x="7614285" y="2589074"/>
            <a:ext cx="43160" cy="43160"/>
          </a:xfrm>
          <a:prstGeom prst="ellipse">
            <a:avLst/>
          </a:prstGeom>
          <a:solidFill>
            <a:srgbClr val="6E40C9">
              <a:alpha val="3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43" name="Text 37"/>
          <p:cNvSpPr/>
          <p:nvPr/>
        </p:nvSpPr>
        <p:spPr>
          <a:xfrm>
            <a:off x="7714595" y="2545913"/>
            <a:ext cx="658609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 / zsh / fish</a:t>
            </a:r>
            <a:endParaRPr lang="en-US" sz="1100" dirty="0"/>
          </a:p>
        </p:txBody>
      </p:sp>
      <p:sp>
        <p:nvSpPr>
          <p:cNvPr id="44" name="Text 38"/>
          <p:cNvSpPr/>
          <p:nvPr/>
        </p:nvSpPr>
        <p:spPr>
          <a:xfrm>
            <a:off x="7614285" y="2761714"/>
            <a:ext cx="43160" cy="43160"/>
          </a:xfrm>
          <a:prstGeom prst="ellipse">
            <a:avLst/>
          </a:prstGeom>
          <a:solidFill>
            <a:srgbClr val="6E40C9">
              <a:alpha val="3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45" name="Text 39"/>
          <p:cNvSpPr/>
          <p:nvPr/>
        </p:nvSpPr>
        <p:spPr>
          <a:xfrm>
            <a:off x="7714595" y="2718554"/>
            <a:ext cx="774353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PowerShell / CMD</a:t>
            </a:r>
            <a:endParaRPr lang="en-US" sz="1100" dirty="0"/>
          </a:p>
        </p:txBody>
      </p:sp>
      <p:sp>
        <p:nvSpPr>
          <p:cNvPr id="46" name="Text 40"/>
          <p:cNvSpPr/>
          <p:nvPr/>
        </p:nvSpPr>
        <p:spPr>
          <a:xfrm>
            <a:off x="7614285" y="2934355"/>
            <a:ext cx="43160" cy="43160"/>
          </a:xfrm>
          <a:prstGeom prst="ellipse">
            <a:avLst/>
          </a:prstGeom>
          <a:solidFill>
            <a:srgbClr val="6E40C9">
              <a:alpha val="3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47" name="Text 41"/>
          <p:cNvSpPr/>
          <p:nvPr/>
        </p:nvSpPr>
        <p:spPr>
          <a:xfrm>
            <a:off x="7714595" y="2891195"/>
            <a:ext cx="784994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major platforms</a:t>
            </a:r>
            <a:endParaRPr lang="en-US" sz="1100" dirty="0"/>
          </a:p>
        </p:txBody>
      </p:sp>
      <p:sp>
        <p:nvSpPr>
          <p:cNvPr id="48" name="Text 42"/>
          <p:cNvSpPr/>
          <p:nvPr/>
        </p:nvSpPr>
        <p:spPr>
          <a:xfrm>
            <a:off x="7476173" y="3621941"/>
            <a:ext cx="1457325" cy="407343"/>
          </a:xfrm>
          <a:prstGeom prst="roundRect">
            <a:avLst>
              <a:gd name="adj" fmla="val 14030"/>
            </a:avLst>
          </a:prstGeom>
          <a:solidFill>
            <a:srgbClr val="6E40C9">
              <a:alpha val="5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100330" tIns="71120" rIns="100330" bIns="71120" rtlCol="0" anchor="t"/>
          <a:lstStyle/>
          <a:p>
            <a:pPr marL="0" indent="0" algn="ctr">
              <a:buNone/>
            </a:pPr>
            <a:r>
              <a:rPr lang="en-US" sz="1100" b="1" kern="0" spc="3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NATIVE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extra sign-up needed</a:t>
            </a:r>
            <a:endParaRPr lang="en-US" sz="1100" dirty="0"/>
          </a:p>
        </p:txBody>
      </p:sp>
      <p:sp>
        <p:nvSpPr>
          <p:cNvPr id="49" name="Text 43"/>
          <p:cNvSpPr/>
          <p:nvPr/>
        </p:nvSpPr>
        <p:spPr>
          <a:xfrm>
            <a:off x="2822228" y="4744194"/>
            <a:ext cx="35421" cy="35421"/>
          </a:xfrm>
          <a:prstGeom prst="ellipse">
            <a:avLst/>
          </a:prstGeom>
          <a:solidFill>
            <a:srgbClr val="6E40C9">
              <a:alpha val="6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44"/>
          <p:cNvSpPr/>
          <p:nvPr/>
        </p:nvSpPr>
        <p:spPr>
          <a:xfrm>
            <a:off x="1651702" y="4687193"/>
            <a:ext cx="5584790" cy="272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with all GitHub Copilot plans — Free, Pro, Business, and Enterprise</a:t>
            </a:r>
            <a:endParaRPr lang="en-US" sz="1400" dirty="0"/>
          </a:p>
        </p:txBody>
      </p:sp>
      <p:sp>
        <p:nvSpPr>
          <p:cNvPr id="51" name="Text 45"/>
          <p:cNvSpPr/>
          <p:nvPr/>
        </p:nvSpPr>
        <p:spPr>
          <a:xfrm>
            <a:off x="6286351" y="4744194"/>
            <a:ext cx="35421" cy="35421"/>
          </a:xfrm>
          <a:prstGeom prst="ellipse">
            <a:avLst/>
          </a:prstGeom>
          <a:solidFill>
            <a:srgbClr val="6E40C9">
              <a:alpha val="6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2" name="Text 46"/>
          <p:cNvSpPr/>
          <p:nvPr/>
        </p:nvSpPr>
        <p:spPr>
          <a:xfrm>
            <a:off x="523875" y="1503611"/>
            <a:ext cx="21580" cy="659011"/>
          </a:xfrm>
          <a:custGeom>
            <a:avLst/>
            <a:gdLst/>
            <a:ahLst/>
            <a:cxnLst/>
            <a:rect l="l" t="t" r="r" b="b"/>
            <a:pathLst>
              <a:path w="21580" h="659011">
                <a:moveTo>
                  <a:pt x="0" y="86360"/>
                </a:moveTo>
                <a:lnTo>
                  <a:pt x="2698" y="64944"/>
                </a:lnTo>
                <a:lnTo>
                  <a:pt x="5395" y="56315"/>
                </a:lnTo>
                <a:lnTo>
                  <a:pt x="8093" y="49860"/>
                </a:lnTo>
                <a:lnTo>
                  <a:pt x="10790" y="44560"/>
                </a:lnTo>
                <a:lnTo>
                  <a:pt x="13488" y="40017"/>
                </a:lnTo>
                <a:lnTo>
                  <a:pt x="16185" y="36026"/>
                </a:lnTo>
                <a:lnTo>
                  <a:pt x="18883" y="32463"/>
                </a:lnTo>
                <a:lnTo>
                  <a:pt x="21580" y="29250"/>
                </a:lnTo>
                <a:lnTo>
                  <a:pt x="21580" y="629761"/>
                </a:lnTo>
                <a:lnTo>
                  <a:pt x="18883" y="626547"/>
                </a:lnTo>
                <a:lnTo>
                  <a:pt x="16185" y="622985"/>
                </a:lnTo>
                <a:lnTo>
                  <a:pt x="13488" y="618994"/>
                </a:lnTo>
                <a:lnTo>
                  <a:pt x="10790" y="614451"/>
                </a:lnTo>
                <a:lnTo>
                  <a:pt x="8093" y="609151"/>
                </a:lnTo>
                <a:lnTo>
                  <a:pt x="5395" y="602696"/>
                </a:lnTo>
                <a:lnTo>
                  <a:pt x="2698" y="594067"/>
                </a:lnTo>
                <a:lnTo>
                  <a:pt x="0" y="572651"/>
                </a:lnTo>
                <a:close/>
              </a:path>
            </a:pathLst>
          </a:custGeom>
          <a:solidFill>
            <a:srgbClr val="6E40C9">
              <a:alpha val="70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00" dirty="0">
              <a:solidFill>
                <a:srgbClr val="7030A0"/>
              </a:solidFill>
            </a:endParaRPr>
          </a:p>
        </p:txBody>
      </p:sp>
      <p:sp>
        <p:nvSpPr>
          <p:cNvPr id="53" name="Text 47"/>
          <p:cNvSpPr/>
          <p:nvPr/>
        </p:nvSpPr>
        <p:spPr>
          <a:xfrm>
            <a:off x="523875" y="1503611"/>
            <a:ext cx="571500" cy="659011"/>
          </a:xfrm>
          <a:prstGeom prst="roundRect">
            <a:avLst>
              <a:gd name="adj" fmla="val 15111"/>
            </a:avLst>
          </a:prstGeom>
          <a:gradFill rotWithShape="1">
            <a:gsLst>
              <a:gs pos="0">
                <a:srgbClr val="6E40C9">
                  <a:alpha val="7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00" dirty="0">
              <a:solidFill>
                <a:srgbClr val="7030A0"/>
              </a:solidFill>
            </a:endParaRPr>
          </a:p>
        </p:txBody>
      </p:sp>
      <p:sp>
        <p:nvSpPr>
          <p:cNvPr id="54" name="Text 48"/>
          <p:cNvSpPr/>
          <p:nvPr/>
        </p:nvSpPr>
        <p:spPr>
          <a:xfrm>
            <a:off x="523875" y="2281982"/>
            <a:ext cx="21580" cy="659011"/>
          </a:xfrm>
          <a:custGeom>
            <a:avLst/>
            <a:gdLst/>
            <a:ahLst/>
            <a:cxnLst/>
            <a:rect l="l" t="t" r="r" b="b"/>
            <a:pathLst>
              <a:path w="21580" h="659011">
                <a:moveTo>
                  <a:pt x="0" y="86360"/>
                </a:moveTo>
                <a:lnTo>
                  <a:pt x="2698" y="64944"/>
                </a:lnTo>
                <a:lnTo>
                  <a:pt x="5395" y="56315"/>
                </a:lnTo>
                <a:lnTo>
                  <a:pt x="8093" y="49860"/>
                </a:lnTo>
                <a:lnTo>
                  <a:pt x="10790" y="44560"/>
                </a:lnTo>
                <a:lnTo>
                  <a:pt x="13488" y="40017"/>
                </a:lnTo>
                <a:lnTo>
                  <a:pt x="16185" y="36026"/>
                </a:lnTo>
                <a:lnTo>
                  <a:pt x="18883" y="32463"/>
                </a:lnTo>
                <a:lnTo>
                  <a:pt x="21580" y="29250"/>
                </a:lnTo>
                <a:lnTo>
                  <a:pt x="21580" y="629761"/>
                </a:lnTo>
                <a:lnTo>
                  <a:pt x="18883" y="626547"/>
                </a:lnTo>
                <a:lnTo>
                  <a:pt x="16185" y="622985"/>
                </a:lnTo>
                <a:lnTo>
                  <a:pt x="13488" y="618994"/>
                </a:lnTo>
                <a:lnTo>
                  <a:pt x="10790" y="614451"/>
                </a:lnTo>
                <a:lnTo>
                  <a:pt x="8093" y="609151"/>
                </a:lnTo>
                <a:lnTo>
                  <a:pt x="5395" y="602696"/>
                </a:lnTo>
                <a:lnTo>
                  <a:pt x="2698" y="594067"/>
                </a:lnTo>
                <a:lnTo>
                  <a:pt x="0" y="572651"/>
                </a:lnTo>
                <a:close/>
              </a:path>
            </a:pathLst>
          </a:custGeom>
          <a:solidFill>
            <a:srgbClr val="6E40C9">
              <a:alpha val="70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00" dirty="0">
              <a:solidFill>
                <a:srgbClr val="7030A0"/>
              </a:solidFill>
            </a:endParaRPr>
          </a:p>
        </p:txBody>
      </p:sp>
      <p:sp>
        <p:nvSpPr>
          <p:cNvPr id="55" name="Text 49"/>
          <p:cNvSpPr/>
          <p:nvPr/>
        </p:nvSpPr>
        <p:spPr>
          <a:xfrm>
            <a:off x="523875" y="2281982"/>
            <a:ext cx="571500" cy="659011"/>
          </a:xfrm>
          <a:prstGeom prst="roundRect">
            <a:avLst>
              <a:gd name="adj" fmla="val 15111"/>
            </a:avLst>
          </a:prstGeom>
          <a:gradFill rotWithShape="1">
            <a:gsLst>
              <a:gs pos="0">
                <a:srgbClr val="6E40C9">
                  <a:alpha val="7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endParaRPr lang="en-US" sz="1200" dirty="0">
              <a:solidFill>
                <a:srgbClr val="7030A0"/>
              </a:solidFill>
            </a:endParaRPr>
          </a:p>
        </p:txBody>
      </p:sp>
      <p:sp>
        <p:nvSpPr>
          <p:cNvPr id="56" name="Text 50"/>
          <p:cNvSpPr/>
          <p:nvPr/>
        </p:nvSpPr>
        <p:spPr>
          <a:xfrm>
            <a:off x="523875" y="3060353"/>
            <a:ext cx="21580" cy="659011"/>
          </a:xfrm>
          <a:custGeom>
            <a:avLst/>
            <a:gdLst/>
            <a:ahLst/>
            <a:cxnLst/>
            <a:rect l="l" t="t" r="r" b="b"/>
            <a:pathLst>
              <a:path w="21580" h="659011">
                <a:moveTo>
                  <a:pt x="0" y="86360"/>
                </a:moveTo>
                <a:lnTo>
                  <a:pt x="2698" y="64944"/>
                </a:lnTo>
                <a:lnTo>
                  <a:pt x="5395" y="56315"/>
                </a:lnTo>
                <a:lnTo>
                  <a:pt x="8093" y="49860"/>
                </a:lnTo>
                <a:lnTo>
                  <a:pt x="10790" y="44560"/>
                </a:lnTo>
                <a:lnTo>
                  <a:pt x="13488" y="40017"/>
                </a:lnTo>
                <a:lnTo>
                  <a:pt x="16185" y="36026"/>
                </a:lnTo>
                <a:lnTo>
                  <a:pt x="18883" y="32463"/>
                </a:lnTo>
                <a:lnTo>
                  <a:pt x="21580" y="29250"/>
                </a:lnTo>
                <a:lnTo>
                  <a:pt x="21580" y="629761"/>
                </a:lnTo>
                <a:lnTo>
                  <a:pt x="18883" y="626547"/>
                </a:lnTo>
                <a:lnTo>
                  <a:pt x="16185" y="622985"/>
                </a:lnTo>
                <a:lnTo>
                  <a:pt x="13488" y="618994"/>
                </a:lnTo>
                <a:lnTo>
                  <a:pt x="10790" y="614451"/>
                </a:lnTo>
                <a:lnTo>
                  <a:pt x="8093" y="609151"/>
                </a:lnTo>
                <a:lnTo>
                  <a:pt x="5395" y="602696"/>
                </a:lnTo>
                <a:lnTo>
                  <a:pt x="2698" y="594067"/>
                </a:lnTo>
                <a:lnTo>
                  <a:pt x="0" y="572651"/>
                </a:lnTo>
                <a:close/>
              </a:path>
            </a:pathLst>
          </a:custGeom>
          <a:solidFill>
            <a:srgbClr val="6E40C9">
              <a:alpha val="70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00" dirty="0">
              <a:solidFill>
                <a:srgbClr val="7030A0"/>
              </a:solidFill>
            </a:endParaRPr>
          </a:p>
        </p:txBody>
      </p:sp>
      <p:sp>
        <p:nvSpPr>
          <p:cNvPr id="57" name="Text 51"/>
          <p:cNvSpPr/>
          <p:nvPr/>
        </p:nvSpPr>
        <p:spPr>
          <a:xfrm>
            <a:off x="523875" y="3060353"/>
            <a:ext cx="571500" cy="659011"/>
          </a:xfrm>
          <a:prstGeom prst="roundRect">
            <a:avLst>
              <a:gd name="adj" fmla="val 15111"/>
            </a:avLst>
          </a:prstGeom>
          <a:gradFill rotWithShape="1">
            <a:gsLst>
              <a:gs pos="0">
                <a:srgbClr val="6E40C9">
                  <a:alpha val="7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00" dirty="0">
              <a:solidFill>
                <a:srgbClr val="7030A0"/>
              </a:solidFill>
            </a:endParaRPr>
          </a:p>
        </p:txBody>
      </p:sp>
      <p:sp>
        <p:nvSpPr>
          <p:cNvPr id="58" name="Text 52"/>
          <p:cNvSpPr/>
          <p:nvPr/>
        </p:nvSpPr>
        <p:spPr>
          <a:xfrm>
            <a:off x="523875" y="3838724"/>
            <a:ext cx="21580" cy="659011"/>
          </a:xfrm>
          <a:custGeom>
            <a:avLst/>
            <a:gdLst/>
            <a:ahLst/>
            <a:cxnLst/>
            <a:rect l="l" t="t" r="r" b="b"/>
            <a:pathLst>
              <a:path w="21580" h="659011">
                <a:moveTo>
                  <a:pt x="0" y="86360"/>
                </a:moveTo>
                <a:lnTo>
                  <a:pt x="2698" y="64944"/>
                </a:lnTo>
                <a:lnTo>
                  <a:pt x="5395" y="56315"/>
                </a:lnTo>
                <a:lnTo>
                  <a:pt x="8093" y="49860"/>
                </a:lnTo>
                <a:lnTo>
                  <a:pt x="10790" y="44560"/>
                </a:lnTo>
                <a:lnTo>
                  <a:pt x="13488" y="40017"/>
                </a:lnTo>
                <a:lnTo>
                  <a:pt x="16185" y="36026"/>
                </a:lnTo>
                <a:lnTo>
                  <a:pt x="18883" y="32463"/>
                </a:lnTo>
                <a:lnTo>
                  <a:pt x="21580" y="29250"/>
                </a:lnTo>
                <a:lnTo>
                  <a:pt x="21580" y="629761"/>
                </a:lnTo>
                <a:lnTo>
                  <a:pt x="18883" y="626547"/>
                </a:lnTo>
                <a:lnTo>
                  <a:pt x="16185" y="622985"/>
                </a:lnTo>
                <a:lnTo>
                  <a:pt x="13488" y="618994"/>
                </a:lnTo>
                <a:lnTo>
                  <a:pt x="10790" y="614451"/>
                </a:lnTo>
                <a:lnTo>
                  <a:pt x="8093" y="609151"/>
                </a:lnTo>
                <a:lnTo>
                  <a:pt x="5395" y="602696"/>
                </a:lnTo>
                <a:lnTo>
                  <a:pt x="2698" y="594067"/>
                </a:lnTo>
                <a:lnTo>
                  <a:pt x="0" y="572651"/>
                </a:lnTo>
                <a:close/>
              </a:path>
            </a:pathLst>
          </a:custGeom>
          <a:solidFill>
            <a:srgbClr val="6E40C9">
              <a:alpha val="70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00" dirty="0">
              <a:solidFill>
                <a:srgbClr val="7030A0"/>
              </a:solidFill>
            </a:endParaRPr>
          </a:p>
        </p:txBody>
      </p:sp>
      <p:sp>
        <p:nvSpPr>
          <p:cNvPr id="59" name="Text 53"/>
          <p:cNvSpPr/>
          <p:nvPr/>
        </p:nvSpPr>
        <p:spPr>
          <a:xfrm>
            <a:off x="523875" y="3838724"/>
            <a:ext cx="571500" cy="659011"/>
          </a:xfrm>
          <a:prstGeom prst="roundRect">
            <a:avLst>
              <a:gd name="adj" fmla="val 15111"/>
            </a:avLst>
          </a:prstGeom>
          <a:gradFill rotWithShape="1">
            <a:gsLst>
              <a:gs pos="0">
                <a:srgbClr val="6E40C9">
                  <a:alpha val="7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00" dirty="0">
              <a:solidFill>
                <a:srgbClr val="7030A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0" y="3429000"/>
            <a:ext cx="2286000" cy="1714500"/>
          </a:xfrm>
          <a:prstGeom prst="rect">
            <a:avLst/>
          </a:prstGeom>
          <a:gradFill rotWithShape="1">
            <a:gsLst>
              <a:gs pos="0">
                <a:srgbClr val="6E40C9">
                  <a:alpha val="7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66725" y="1520875"/>
            <a:ext cx="4031609" cy="13841"/>
          </a:xfrm>
          <a:custGeom>
            <a:avLst/>
            <a:gdLst/>
            <a:ahLst/>
            <a:cxnLst/>
            <a:rect l="l" t="t" r="r" b="b"/>
            <a:pathLst>
              <a:path w="4031609" h="13841">
                <a:moveTo>
                  <a:pt x="100330" y="0"/>
                </a:moveTo>
                <a:lnTo>
                  <a:pt x="3931279" y="0"/>
                </a:lnTo>
                <a:lnTo>
                  <a:pt x="3949831" y="1730"/>
                </a:lnTo>
                <a:lnTo>
                  <a:pt x="3957401" y="3460"/>
                </a:lnTo>
                <a:lnTo>
                  <a:pt x="3963131" y="5190"/>
                </a:lnTo>
                <a:lnTo>
                  <a:pt x="3967895" y="6920"/>
                </a:lnTo>
                <a:lnTo>
                  <a:pt x="3972034" y="8651"/>
                </a:lnTo>
                <a:lnTo>
                  <a:pt x="3975723" y="10381"/>
                </a:lnTo>
                <a:lnTo>
                  <a:pt x="3979065" y="12111"/>
                </a:lnTo>
                <a:lnTo>
                  <a:pt x="3982129" y="13841"/>
                </a:lnTo>
                <a:lnTo>
                  <a:pt x="49479" y="13841"/>
                </a:lnTo>
                <a:lnTo>
                  <a:pt x="52544" y="12111"/>
                </a:lnTo>
                <a:lnTo>
                  <a:pt x="55886" y="10381"/>
                </a:lnTo>
                <a:lnTo>
                  <a:pt x="59574" y="8651"/>
                </a:lnTo>
                <a:lnTo>
                  <a:pt x="63713" y="6920"/>
                </a:lnTo>
                <a:lnTo>
                  <a:pt x="68478" y="5190"/>
                </a:lnTo>
                <a:lnTo>
                  <a:pt x="74208" y="3460"/>
                </a:lnTo>
                <a:lnTo>
                  <a:pt x="81778" y="1730"/>
                </a:lnTo>
                <a:close/>
              </a:path>
            </a:pathLst>
          </a:custGeom>
          <a:gradFill rotWithShape="1">
            <a:gsLst>
              <a:gs pos="0">
                <a:srgbClr val="6E40C9">
                  <a:alpha val="60000"/>
                </a:srgbClr>
              </a:gs>
              <a:gs pos="8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645521" y="1520875"/>
            <a:ext cx="4031752" cy="13841"/>
          </a:xfrm>
          <a:custGeom>
            <a:avLst/>
            <a:gdLst/>
            <a:ahLst/>
            <a:cxnLst/>
            <a:rect l="l" t="t" r="r" b="b"/>
            <a:pathLst>
              <a:path w="4031752" h="13841">
                <a:moveTo>
                  <a:pt x="100330" y="0"/>
                </a:moveTo>
                <a:lnTo>
                  <a:pt x="3931422" y="0"/>
                </a:lnTo>
                <a:lnTo>
                  <a:pt x="3949974" y="1730"/>
                </a:lnTo>
                <a:lnTo>
                  <a:pt x="3957544" y="3460"/>
                </a:lnTo>
                <a:lnTo>
                  <a:pt x="3963274" y="5190"/>
                </a:lnTo>
                <a:lnTo>
                  <a:pt x="3968038" y="6920"/>
                </a:lnTo>
                <a:lnTo>
                  <a:pt x="3972177" y="8651"/>
                </a:lnTo>
                <a:lnTo>
                  <a:pt x="3975865" y="10381"/>
                </a:lnTo>
                <a:lnTo>
                  <a:pt x="3979208" y="12111"/>
                </a:lnTo>
                <a:lnTo>
                  <a:pt x="3982272" y="13841"/>
                </a:lnTo>
                <a:lnTo>
                  <a:pt x="49479" y="13841"/>
                </a:lnTo>
                <a:lnTo>
                  <a:pt x="52544" y="12111"/>
                </a:lnTo>
                <a:lnTo>
                  <a:pt x="55886" y="10381"/>
                </a:lnTo>
                <a:lnTo>
                  <a:pt x="59574" y="8651"/>
                </a:lnTo>
                <a:lnTo>
                  <a:pt x="63713" y="6920"/>
                </a:lnTo>
                <a:lnTo>
                  <a:pt x="68478" y="5190"/>
                </a:lnTo>
                <a:lnTo>
                  <a:pt x="74208" y="3460"/>
                </a:lnTo>
                <a:lnTo>
                  <a:pt x="81778" y="1730"/>
                </a:lnTo>
                <a:close/>
              </a:path>
            </a:pathLst>
          </a:custGeom>
          <a:gradFill rotWithShape="1">
            <a:gsLst>
              <a:gs pos="0">
                <a:srgbClr val="6E40C9"/>
              </a:gs>
              <a:gs pos="60000">
                <a:srgbClr val="9B6DFF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466725" y="3054995"/>
            <a:ext cx="4031609" cy="13841"/>
          </a:xfrm>
          <a:custGeom>
            <a:avLst/>
            <a:gdLst/>
            <a:ahLst/>
            <a:cxnLst/>
            <a:rect l="l" t="t" r="r" b="b"/>
            <a:pathLst>
              <a:path w="4031609" h="13841">
                <a:moveTo>
                  <a:pt x="100330" y="0"/>
                </a:moveTo>
                <a:lnTo>
                  <a:pt x="3931279" y="0"/>
                </a:lnTo>
                <a:lnTo>
                  <a:pt x="3949831" y="1730"/>
                </a:lnTo>
                <a:lnTo>
                  <a:pt x="3957401" y="3460"/>
                </a:lnTo>
                <a:lnTo>
                  <a:pt x="3963131" y="5190"/>
                </a:lnTo>
                <a:lnTo>
                  <a:pt x="3967895" y="6920"/>
                </a:lnTo>
                <a:lnTo>
                  <a:pt x="3972034" y="8651"/>
                </a:lnTo>
                <a:lnTo>
                  <a:pt x="3975723" y="10381"/>
                </a:lnTo>
                <a:lnTo>
                  <a:pt x="3979065" y="12111"/>
                </a:lnTo>
                <a:lnTo>
                  <a:pt x="3982129" y="13841"/>
                </a:lnTo>
                <a:lnTo>
                  <a:pt x="49479" y="13841"/>
                </a:lnTo>
                <a:lnTo>
                  <a:pt x="52544" y="12111"/>
                </a:lnTo>
                <a:lnTo>
                  <a:pt x="55886" y="10381"/>
                </a:lnTo>
                <a:lnTo>
                  <a:pt x="59574" y="8651"/>
                </a:lnTo>
                <a:lnTo>
                  <a:pt x="63713" y="6920"/>
                </a:lnTo>
                <a:lnTo>
                  <a:pt x="68478" y="5190"/>
                </a:lnTo>
                <a:lnTo>
                  <a:pt x="74208" y="3460"/>
                </a:lnTo>
                <a:lnTo>
                  <a:pt x="81778" y="1730"/>
                </a:lnTo>
                <a:close/>
              </a:path>
            </a:pathLst>
          </a:custGeom>
          <a:gradFill rotWithShape="1">
            <a:gsLst>
              <a:gs pos="0">
                <a:srgbClr val="6E40C9">
                  <a:alpha val="60000"/>
                </a:srgbClr>
              </a:gs>
              <a:gs pos="8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4645521" y="3054995"/>
            <a:ext cx="4031752" cy="13841"/>
          </a:xfrm>
          <a:custGeom>
            <a:avLst/>
            <a:gdLst/>
            <a:ahLst/>
            <a:cxnLst/>
            <a:rect l="l" t="t" r="r" b="b"/>
            <a:pathLst>
              <a:path w="4031752" h="13841">
                <a:moveTo>
                  <a:pt x="100330" y="0"/>
                </a:moveTo>
                <a:lnTo>
                  <a:pt x="3931422" y="0"/>
                </a:lnTo>
                <a:lnTo>
                  <a:pt x="3949974" y="1730"/>
                </a:lnTo>
                <a:lnTo>
                  <a:pt x="3957544" y="3460"/>
                </a:lnTo>
                <a:lnTo>
                  <a:pt x="3963274" y="5190"/>
                </a:lnTo>
                <a:lnTo>
                  <a:pt x="3968038" y="6920"/>
                </a:lnTo>
                <a:lnTo>
                  <a:pt x="3972177" y="8651"/>
                </a:lnTo>
                <a:lnTo>
                  <a:pt x="3975865" y="10381"/>
                </a:lnTo>
                <a:lnTo>
                  <a:pt x="3979208" y="12111"/>
                </a:lnTo>
                <a:lnTo>
                  <a:pt x="3982272" y="13841"/>
                </a:lnTo>
                <a:lnTo>
                  <a:pt x="49479" y="13841"/>
                </a:lnTo>
                <a:lnTo>
                  <a:pt x="52544" y="12111"/>
                </a:lnTo>
                <a:lnTo>
                  <a:pt x="55886" y="10381"/>
                </a:lnTo>
                <a:lnTo>
                  <a:pt x="59574" y="8651"/>
                </a:lnTo>
                <a:lnTo>
                  <a:pt x="63713" y="6920"/>
                </a:lnTo>
                <a:lnTo>
                  <a:pt x="68478" y="5190"/>
                </a:lnTo>
                <a:lnTo>
                  <a:pt x="74208" y="3460"/>
                </a:lnTo>
                <a:lnTo>
                  <a:pt x="81778" y="1730"/>
                </a:lnTo>
                <a:close/>
              </a:path>
            </a:pathLst>
          </a:custGeom>
          <a:gradFill rotWithShape="1">
            <a:gsLst>
              <a:gs pos="0">
                <a:srgbClr val="6E40C9">
                  <a:alpha val="60000"/>
                </a:srgbClr>
              </a:gs>
              <a:gs pos="8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457200" y="372070"/>
            <a:ext cx="1016943" cy="228898"/>
          </a:xfrm>
          <a:prstGeom prst="roundRect">
            <a:avLst>
              <a:gd name="adj" fmla="val 62696"/>
            </a:avLst>
          </a:prstGeom>
          <a:solidFill>
            <a:srgbClr val="6E40C9">
              <a:alpha val="15000"/>
            </a:srgbClr>
          </a:solidFill>
          <a:ln w="9525">
            <a:solidFill>
              <a:srgbClr val="6E40C9">
                <a:alpha val="35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67035" y="461814"/>
            <a:ext cx="49411" cy="49411"/>
          </a:xfrm>
          <a:prstGeom prst="ellipse">
            <a:avLst/>
          </a:prstGeom>
          <a:solidFill>
            <a:srgbClr val="9B6D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73596" y="417016"/>
            <a:ext cx="759782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b="1" dirty="0">
                <a:solidFill>
                  <a:srgbClr val="9B6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</a:t>
            </a:r>
            <a:endParaRPr lang="en-US" sz="730" dirty="0"/>
          </a:p>
        </p:txBody>
      </p:sp>
      <p:sp>
        <p:nvSpPr>
          <p:cNvPr id="11" name="Text 9"/>
          <p:cNvSpPr/>
          <p:nvPr/>
        </p:nvSpPr>
        <p:spPr>
          <a:xfrm>
            <a:off x="457200" y="701278"/>
            <a:ext cx="8805672" cy="312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61"/>
              </a:lnSpc>
              <a:spcAft>
                <a:spcPts val="450"/>
              </a:spcAft>
              <a:buNone/>
            </a:pPr>
            <a:r>
              <a:rPr lang="en-US" sz="2140" kern="0" spc="-2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Who Can Use </a:t>
            </a:r>
            <a:r>
              <a:rPr lang="en-US" sz="2140" kern="0" spc="-20" dirty="0">
                <a:solidFill>
                  <a:srgbClr val="9B6D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GitHub Copilot CLI?</a:t>
            </a:r>
            <a:endParaRPr lang="en-US" sz="2140" dirty="0"/>
          </a:p>
        </p:txBody>
      </p:sp>
      <p:sp>
        <p:nvSpPr>
          <p:cNvPr id="12" name="Text 10"/>
          <p:cNvSpPr/>
          <p:nvPr/>
        </p:nvSpPr>
        <p:spPr>
          <a:xfrm>
            <a:off x="457200" y="1070818"/>
            <a:ext cx="9052560" cy="182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across all Copilot subscription tiers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1511350"/>
            <a:ext cx="4050655" cy="1405979"/>
          </a:xfrm>
          <a:prstGeom prst="roundRect">
            <a:avLst>
              <a:gd name="adj" fmla="val 7136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681335" y="1735336"/>
            <a:ext cx="372070" cy="372070"/>
          </a:xfrm>
          <a:prstGeom prst="roundRect">
            <a:avLst>
              <a:gd name="adj" fmla="val 23211"/>
            </a:avLst>
          </a:prstGeom>
          <a:solidFill>
            <a:srgbClr val="6E40C9">
              <a:alpha val="15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sz="4800" dirty="0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7868" y="1851868"/>
            <a:ext cx="139005" cy="139005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210866" y="1721495"/>
            <a:ext cx="3380140" cy="224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70"/>
              </a:lnSpc>
              <a:spcAft>
                <a:spcPts val="510"/>
              </a:spcAft>
              <a:buNone/>
            </a:pPr>
            <a:r>
              <a:rPr lang="en-US" sz="3200" kern="0" spc="-10" dirty="0">
                <a:solidFill>
                  <a:srgbClr val="9B6D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All Copilot </a:t>
            </a:r>
            <a:r>
              <a:rPr lang="en-US" sz="2800" kern="0" spc="-10" dirty="0">
                <a:solidFill>
                  <a:srgbClr val="9B6D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Plans</a:t>
            </a:r>
            <a:endParaRPr lang="en-US" sz="3200" dirty="0"/>
          </a:p>
        </p:txBody>
      </p:sp>
      <p:sp>
        <p:nvSpPr>
          <p:cNvPr id="17" name="Text 14"/>
          <p:cNvSpPr/>
          <p:nvPr/>
        </p:nvSpPr>
        <p:spPr>
          <a:xfrm>
            <a:off x="1210866" y="2010966"/>
            <a:ext cx="3134311" cy="359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72000" indent="0" algn="l">
              <a:lnSpc>
                <a:spcPts val="1349"/>
              </a:lnSpc>
              <a:spcBef>
                <a:spcPts val="600"/>
              </a:spcBef>
              <a:buNone/>
            </a:pPr>
            <a:r>
              <a:rPr lang="en-US" sz="1600" dirty="0">
                <a:solidFill>
                  <a:srgbClr val="ADB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Free, Pro, Business, and Enterprise all include CLI access — no upgrade required.</a:t>
            </a:r>
            <a:endParaRPr lang="en-US" sz="1600" dirty="0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602EB8CA-4AD3-0C45-DC94-C5B0B7522ECF}"/>
              </a:ext>
            </a:extLst>
          </p:cNvPr>
          <p:cNvGrpSpPr/>
          <p:nvPr/>
        </p:nvGrpSpPr>
        <p:grpSpPr>
          <a:xfrm>
            <a:off x="1210866" y="2650292"/>
            <a:ext cx="926464" cy="191691"/>
            <a:chOff x="1210866" y="2650292"/>
            <a:chExt cx="926464" cy="191691"/>
          </a:xfrm>
        </p:grpSpPr>
        <p:sp>
          <p:nvSpPr>
            <p:cNvPr id="18" name="Text 15"/>
            <p:cNvSpPr/>
            <p:nvPr/>
          </p:nvSpPr>
          <p:spPr>
            <a:xfrm>
              <a:off x="1210866" y="2650292"/>
              <a:ext cx="926464" cy="191691"/>
            </a:xfrm>
            <a:prstGeom prst="roundRect">
              <a:avLst>
                <a:gd name="adj" fmla="val 74865"/>
              </a:avLst>
            </a:prstGeom>
            <a:solidFill>
              <a:srgbClr val="6E40C9">
                <a:alpha val="18000"/>
              </a:srgbClr>
            </a:solidFill>
            <a:ln w="9525">
              <a:solidFill>
                <a:srgbClr val="6E40C9">
                  <a:alpha val="30000"/>
                </a:srgbClr>
              </a:solidFill>
            </a:ln>
          </p:spPr>
          <p:txBody>
            <a:bodyPr wrap="none" lIns="159960" tIns="21590" rIns="71120" bIns="21590" rtlCol="0" anchor="ctr"/>
            <a:lstStyle/>
            <a:p>
              <a:pPr marL="0" indent="0" algn="l">
                <a:buNone/>
              </a:pPr>
              <a:r>
                <a:rPr lang="en-US" sz="1600" kern="0" spc="14" dirty="0">
                  <a:solidFill>
                    <a:srgbClr val="9B6D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All tiers included</a:t>
              </a:r>
              <a:endParaRPr lang="en-US" sz="1600" dirty="0"/>
            </a:p>
          </p:txBody>
        </p:sp>
        <p:pic>
          <p:nvPicPr>
            <p:cNvPr id="19" name="Image 1" descr="preencoded.png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251728" y="2679844"/>
              <a:ext cx="132588" cy="132588"/>
            </a:xfrm>
            <a:prstGeom prst="rect">
              <a:avLst/>
            </a:prstGeom>
          </p:spPr>
        </p:pic>
      </p:grpSp>
      <p:sp>
        <p:nvSpPr>
          <p:cNvPr id="20" name="Text 16"/>
          <p:cNvSpPr/>
          <p:nvPr/>
        </p:nvSpPr>
        <p:spPr>
          <a:xfrm>
            <a:off x="4635996" y="1511350"/>
            <a:ext cx="4050804" cy="1405979"/>
          </a:xfrm>
          <a:prstGeom prst="roundRect">
            <a:avLst>
              <a:gd name="adj" fmla="val 7136"/>
            </a:avLst>
          </a:prstGeom>
          <a:gradFill rotWithShape="1">
            <a:gsLst>
              <a:gs pos="0">
                <a:srgbClr val="161B22"/>
              </a:gs>
              <a:gs pos="100000">
                <a:srgbClr val="1A1632"/>
              </a:gs>
            </a:gsLst>
            <a:lin ang="2700000" scaled="1"/>
          </a:gradFill>
          <a:ln w="9525">
            <a:solidFill>
              <a:srgbClr val="6E40C9">
                <a:alpha val="4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sz="4800" dirty="0"/>
          </a:p>
        </p:txBody>
      </p:sp>
      <p:sp>
        <p:nvSpPr>
          <p:cNvPr id="21" name="Text 17"/>
          <p:cNvSpPr/>
          <p:nvPr/>
        </p:nvSpPr>
        <p:spPr>
          <a:xfrm>
            <a:off x="4860131" y="1735336"/>
            <a:ext cx="372070" cy="372070"/>
          </a:xfrm>
          <a:prstGeom prst="roundRect">
            <a:avLst>
              <a:gd name="adj" fmla="val 23211"/>
            </a:avLst>
          </a:prstGeom>
          <a:solidFill>
            <a:srgbClr val="6E40C9">
              <a:alpha val="15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sz="480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76664" y="1851868"/>
            <a:ext cx="139005" cy="139005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389662" y="1721495"/>
            <a:ext cx="3380303" cy="224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70"/>
              </a:lnSpc>
              <a:spcAft>
                <a:spcPts val="510"/>
              </a:spcAft>
              <a:buNone/>
            </a:pPr>
            <a:r>
              <a:rPr lang="en-US" sz="2800" kern="0" spc="-10" dirty="0">
                <a:solidFill>
                  <a:srgbClr val="9B6D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Organization Users</a:t>
            </a:r>
            <a:endParaRPr lang="en-US" sz="2800" dirty="0"/>
          </a:p>
        </p:txBody>
      </p:sp>
      <p:sp>
        <p:nvSpPr>
          <p:cNvPr id="24" name="Text 19"/>
          <p:cNvSpPr/>
          <p:nvPr/>
        </p:nvSpPr>
        <p:spPr>
          <a:xfrm>
            <a:off x="5389662" y="2010966"/>
            <a:ext cx="3134463" cy="359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72000">
              <a:lnSpc>
                <a:spcPts val="1349"/>
              </a:lnSpc>
              <a:spcBef>
                <a:spcPts val="600"/>
              </a:spcBef>
            </a:pPr>
            <a:r>
              <a:rPr lang="en-US" sz="1600" dirty="0">
                <a:solidFill>
                  <a:srgbClr val="ADB9C7"/>
                </a:solidFill>
                <a:latin typeface="Calibri" pitchFamily="34" charset="0"/>
                <a:cs typeface="Calibri" pitchFamily="34" charset="-120"/>
              </a:rPr>
              <a:t>If you receive Copilot from an org, an admin must enable the Copilot CLI policy in organization settings before use.</a:t>
            </a: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33B33D7-49A8-6C7C-A619-55311B07FA9B}"/>
              </a:ext>
            </a:extLst>
          </p:cNvPr>
          <p:cNvGrpSpPr/>
          <p:nvPr/>
        </p:nvGrpSpPr>
        <p:grpSpPr>
          <a:xfrm>
            <a:off x="5389662" y="2670837"/>
            <a:ext cx="1137017" cy="191691"/>
            <a:chOff x="5389662" y="2670837"/>
            <a:chExt cx="1137017" cy="191691"/>
          </a:xfrm>
        </p:grpSpPr>
        <p:sp>
          <p:nvSpPr>
            <p:cNvPr id="25" name="Text 20"/>
            <p:cNvSpPr/>
            <p:nvPr/>
          </p:nvSpPr>
          <p:spPr>
            <a:xfrm>
              <a:off x="5389662" y="2670837"/>
              <a:ext cx="1137017" cy="191691"/>
            </a:xfrm>
            <a:prstGeom prst="roundRect">
              <a:avLst>
                <a:gd name="adj" fmla="val 74865"/>
              </a:avLst>
            </a:prstGeom>
            <a:solidFill>
              <a:srgbClr val="6E40C9">
                <a:alpha val="18000"/>
              </a:srgbClr>
            </a:solidFill>
            <a:ln w="9525">
              <a:solidFill>
                <a:srgbClr val="6E40C9">
                  <a:alpha val="30000"/>
                </a:srgbClr>
              </a:solidFill>
            </a:ln>
          </p:spPr>
          <p:txBody>
            <a:bodyPr wrap="none" lIns="159960" tIns="21590" rIns="71120" bIns="21590" rtlCol="0" anchor="ctr"/>
            <a:lstStyle/>
            <a:p>
              <a:pPr marL="0" indent="0" algn="l">
                <a:buNone/>
              </a:pPr>
              <a:r>
                <a:rPr lang="en-US" sz="1600" kern="0" spc="14" dirty="0">
                  <a:solidFill>
                    <a:srgbClr val="9B6D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Admin policy required</a:t>
              </a:r>
              <a:endParaRPr lang="en-US" sz="1600" dirty="0"/>
            </a:p>
          </p:txBody>
        </p:sp>
        <p:pic>
          <p:nvPicPr>
            <p:cNvPr id="26" name="Image 3" descr="preencoded.png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430524" y="2700389"/>
              <a:ext cx="132588" cy="132588"/>
            </a:xfrm>
            <a:prstGeom prst="rect">
              <a:avLst/>
            </a:prstGeom>
          </p:spPr>
        </p:pic>
      </p:grpSp>
      <p:sp>
        <p:nvSpPr>
          <p:cNvPr id="27" name="Text 21"/>
          <p:cNvSpPr/>
          <p:nvPr/>
        </p:nvSpPr>
        <p:spPr>
          <a:xfrm>
            <a:off x="457200" y="3045470"/>
            <a:ext cx="4050655" cy="1406128"/>
          </a:xfrm>
          <a:prstGeom prst="roundRect">
            <a:avLst>
              <a:gd name="adj" fmla="val 7135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sz="4800" dirty="0"/>
          </a:p>
        </p:txBody>
      </p:sp>
      <p:sp>
        <p:nvSpPr>
          <p:cNvPr id="28" name="Text 22"/>
          <p:cNvSpPr/>
          <p:nvPr/>
        </p:nvSpPr>
        <p:spPr>
          <a:xfrm>
            <a:off x="681335" y="3269456"/>
            <a:ext cx="372070" cy="372070"/>
          </a:xfrm>
          <a:prstGeom prst="roundRect">
            <a:avLst>
              <a:gd name="adj" fmla="val 23211"/>
            </a:avLst>
          </a:prstGeom>
          <a:solidFill>
            <a:srgbClr val="6E40C9">
              <a:alpha val="15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sz="4800" dirty="0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97868" y="3385989"/>
            <a:ext cx="139005" cy="139005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1210866" y="3255615"/>
            <a:ext cx="3380140" cy="224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70"/>
              </a:lnSpc>
              <a:spcAft>
                <a:spcPts val="510"/>
              </a:spcAft>
              <a:buNone/>
            </a:pPr>
            <a:r>
              <a:rPr lang="en-US" sz="2800" kern="0" spc="-10" dirty="0">
                <a:solidFill>
                  <a:srgbClr val="9B6D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Cross-Platform</a:t>
            </a:r>
            <a:endParaRPr lang="en-US" sz="3200" dirty="0"/>
          </a:p>
        </p:txBody>
      </p:sp>
      <p:sp>
        <p:nvSpPr>
          <p:cNvPr id="31" name="Text 24"/>
          <p:cNvSpPr/>
          <p:nvPr/>
        </p:nvSpPr>
        <p:spPr>
          <a:xfrm>
            <a:off x="1210866" y="3545086"/>
            <a:ext cx="3134311" cy="359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72000" indent="0" algn="l">
              <a:lnSpc>
                <a:spcPts val="1349"/>
              </a:lnSpc>
              <a:spcBef>
                <a:spcPts val="600"/>
              </a:spcBef>
              <a:buNone/>
            </a:pPr>
            <a:r>
              <a:rPr lang="en-US" sz="1600" dirty="0">
                <a:solidFill>
                  <a:srgbClr val="ADB9C7"/>
                </a:solidFill>
                <a:latin typeface="Calibri" pitchFamily="34" charset="0"/>
                <a:cs typeface="Calibri" pitchFamily="34" charset="-120"/>
              </a:rPr>
              <a:t>Works on Windows, macOS, and Linux — install your way using npm, WinGet, or Homebrew.</a:t>
            </a: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7FB0E412-CC98-4241-EF1E-7BEFF34BC5A1}"/>
              </a:ext>
            </a:extLst>
          </p:cNvPr>
          <p:cNvGrpSpPr/>
          <p:nvPr/>
        </p:nvGrpSpPr>
        <p:grpSpPr>
          <a:xfrm>
            <a:off x="1210866" y="4194685"/>
            <a:ext cx="1311289" cy="191691"/>
            <a:chOff x="1210866" y="4194685"/>
            <a:chExt cx="1311289" cy="191691"/>
          </a:xfrm>
        </p:grpSpPr>
        <p:sp>
          <p:nvSpPr>
            <p:cNvPr id="32" name="Text 25"/>
            <p:cNvSpPr/>
            <p:nvPr/>
          </p:nvSpPr>
          <p:spPr>
            <a:xfrm>
              <a:off x="1210866" y="4194685"/>
              <a:ext cx="1311289" cy="191691"/>
            </a:xfrm>
            <a:prstGeom prst="roundRect">
              <a:avLst>
                <a:gd name="adj" fmla="val 74865"/>
              </a:avLst>
            </a:prstGeom>
            <a:solidFill>
              <a:srgbClr val="6E40C9">
                <a:alpha val="18000"/>
              </a:srgbClr>
            </a:solidFill>
            <a:ln w="9525">
              <a:solidFill>
                <a:srgbClr val="6E40C9">
                  <a:alpha val="30000"/>
                </a:srgbClr>
              </a:solidFill>
            </a:ln>
          </p:spPr>
          <p:txBody>
            <a:bodyPr wrap="none" lIns="159960" tIns="21590" rIns="71120" bIns="21590" rtlCol="0" anchor="ctr"/>
            <a:lstStyle/>
            <a:p>
              <a:pPr marL="0" indent="0" algn="l">
                <a:buNone/>
              </a:pPr>
              <a:r>
                <a:rPr lang="en-US" sz="1600" kern="0" spc="14" dirty="0">
                  <a:solidFill>
                    <a:srgbClr val="9B6D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Windows · macOS · Linux</a:t>
              </a:r>
              <a:endParaRPr lang="en-US" sz="1600" dirty="0"/>
            </a:p>
          </p:txBody>
        </p:sp>
        <p:pic>
          <p:nvPicPr>
            <p:cNvPr id="33" name="Image 5" descr="preencoded.png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251728" y="4224236"/>
              <a:ext cx="132588" cy="132588"/>
            </a:xfrm>
            <a:prstGeom prst="rect">
              <a:avLst/>
            </a:prstGeom>
          </p:spPr>
        </p:pic>
      </p:grpSp>
      <p:sp>
        <p:nvSpPr>
          <p:cNvPr id="34" name="Text 26"/>
          <p:cNvSpPr/>
          <p:nvPr/>
        </p:nvSpPr>
        <p:spPr>
          <a:xfrm>
            <a:off x="4635996" y="3045470"/>
            <a:ext cx="4050804" cy="1406128"/>
          </a:xfrm>
          <a:prstGeom prst="roundRect">
            <a:avLst>
              <a:gd name="adj" fmla="val 7135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sz="4800" dirty="0"/>
          </a:p>
        </p:txBody>
      </p:sp>
      <p:sp>
        <p:nvSpPr>
          <p:cNvPr id="35" name="Text 27"/>
          <p:cNvSpPr/>
          <p:nvPr/>
        </p:nvSpPr>
        <p:spPr>
          <a:xfrm>
            <a:off x="4860131" y="3269456"/>
            <a:ext cx="372070" cy="372070"/>
          </a:xfrm>
          <a:prstGeom prst="roundRect">
            <a:avLst>
              <a:gd name="adj" fmla="val 23211"/>
            </a:avLst>
          </a:prstGeom>
          <a:solidFill>
            <a:srgbClr val="6E40C9">
              <a:alpha val="15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sz="4800" dirty="0"/>
          </a:p>
        </p:txBody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76664" y="3385989"/>
            <a:ext cx="139005" cy="139005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5389662" y="3255615"/>
            <a:ext cx="3380303" cy="224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70"/>
              </a:lnSpc>
              <a:spcAft>
                <a:spcPts val="510"/>
              </a:spcAft>
              <a:buNone/>
            </a:pPr>
            <a:r>
              <a:rPr lang="en-US" sz="2800" kern="0" spc="-10" dirty="0">
                <a:solidFill>
                  <a:srgbClr val="9B6D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GitHub Authentication</a:t>
            </a:r>
            <a:endParaRPr lang="en-US" sz="2800" dirty="0"/>
          </a:p>
        </p:txBody>
      </p:sp>
      <p:sp>
        <p:nvSpPr>
          <p:cNvPr id="38" name="Text 29"/>
          <p:cNvSpPr/>
          <p:nvPr/>
        </p:nvSpPr>
        <p:spPr>
          <a:xfrm>
            <a:off x="5389662" y="3545086"/>
            <a:ext cx="3134463" cy="359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72000" indent="0" algn="l">
              <a:lnSpc>
                <a:spcPts val="1349"/>
              </a:lnSpc>
              <a:spcBef>
                <a:spcPts val="600"/>
              </a:spcBef>
              <a:buNone/>
            </a:pPr>
            <a:r>
              <a:rPr lang="en-US" sz="1600" dirty="0">
                <a:solidFill>
                  <a:srgbClr val="ADB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once with your GitHub account using </a:t>
            </a:r>
            <a:r>
              <a:rPr lang="en-US" sz="1600" dirty="0">
                <a:solidFill>
                  <a:srgbClr val="9B6DFF"/>
                </a:solidFill>
                <a:highlight>
                  <a:srgbClr val="6E40C9">
                    <a:alpha val="12000"/>
                  </a:srgbClr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/login</a:t>
            </a:r>
            <a:r>
              <a:rPr lang="en-US" sz="1600" dirty="0">
                <a:solidFill>
                  <a:srgbClr val="ADB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no repeat auth required across sessions.</a:t>
            </a:r>
            <a:endParaRPr lang="en-US" sz="1600" dirty="0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5358000D-0717-E6FD-6347-FCB37832C771}"/>
              </a:ext>
            </a:extLst>
          </p:cNvPr>
          <p:cNvGrpSpPr/>
          <p:nvPr/>
        </p:nvGrpSpPr>
        <p:grpSpPr>
          <a:xfrm>
            <a:off x="5389662" y="4204961"/>
            <a:ext cx="880315" cy="191691"/>
            <a:chOff x="5389662" y="3958382"/>
            <a:chExt cx="880315" cy="191691"/>
          </a:xfrm>
        </p:grpSpPr>
        <p:sp>
          <p:nvSpPr>
            <p:cNvPr id="39" name="Text 30"/>
            <p:cNvSpPr/>
            <p:nvPr/>
          </p:nvSpPr>
          <p:spPr>
            <a:xfrm>
              <a:off x="5389662" y="3958382"/>
              <a:ext cx="880315" cy="191691"/>
            </a:xfrm>
            <a:prstGeom prst="roundRect">
              <a:avLst>
                <a:gd name="adj" fmla="val 74865"/>
              </a:avLst>
            </a:prstGeom>
            <a:solidFill>
              <a:srgbClr val="6E40C9">
                <a:alpha val="18000"/>
              </a:srgbClr>
            </a:solidFill>
            <a:ln w="9525">
              <a:solidFill>
                <a:srgbClr val="6E40C9">
                  <a:alpha val="30000"/>
                </a:srgbClr>
              </a:solidFill>
            </a:ln>
          </p:spPr>
          <p:txBody>
            <a:bodyPr wrap="none" lIns="159960" tIns="21590" rIns="71120" bIns="21590" rtlCol="0" anchor="ctr"/>
            <a:lstStyle/>
            <a:p>
              <a:pPr marL="0" indent="0" algn="l">
                <a:buNone/>
              </a:pPr>
              <a:r>
                <a:rPr lang="en-US" sz="1600" kern="0" spc="14" dirty="0">
                  <a:solidFill>
                    <a:srgbClr val="9B6D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One-time setup</a:t>
              </a:r>
              <a:endParaRPr lang="en-US" sz="1600" dirty="0"/>
            </a:p>
          </p:txBody>
        </p:sp>
        <p:pic>
          <p:nvPicPr>
            <p:cNvPr id="40" name="Image 7" descr="preencoded.png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430524" y="3987933"/>
              <a:ext cx="132588" cy="132588"/>
            </a:xfrm>
            <a:prstGeom prst="rect">
              <a:avLst/>
            </a:prstGeom>
          </p:spPr>
        </p:pic>
      </p:grpSp>
      <p:sp>
        <p:nvSpPr>
          <p:cNvPr id="41" name="Text 31"/>
          <p:cNvSpPr/>
          <p:nvPr/>
        </p:nvSpPr>
        <p:spPr>
          <a:xfrm>
            <a:off x="457200" y="4579739"/>
            <a:ext cx="8229600" cy="9525"/>
          </a:xfrm>
          <a:prstGeom prst="rect">
            <a:avLst/>
          </a:prstGeom>
          <a:solidFill>
            <a:srgbClr val="30363D">
              <a:alpha val="6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4800" dirty="0"/>
          </a:p>
        </p:txBody>
      </p:sp>
      <p:sp>
        <p:nvSpPr>
          <p:cNvPr id="42" name="Text 32"/>
          <p:cNvSpPr/>
          <p:nvPr/>
        </p:nvSpPr>
        <p:spPr>
          <a:xfrm>
            <a:off x="457200" y="4741366"/>
            <a:ext cx="35421" cy="35421"/>
          </a:xfrm>
          <a:prstGeom prst="ellipse">
            <a:avLst/>
          </a:prstGeom>
          <a:solidFill>
            <a:srgbClr val="6E40C9">
              <a:alpha val="7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4800" dirty="0"/>
          </a:p>
        </p:txBody>
      </p:sp>
      <p:sp>
        <p:nvSpPr>
          <p:cNvPr id="43" name="Text 33"/>
          <p:cNvSpPr>
            <a:spLocks/>
          </p:cNvSpPr>
          <p:nvPr/>
        </p:nvSpPr>
        <p:spPr>
          <a:xfrm>
            <a:off x="549771" y="4679119"/>
            <a:ext cx="6597704" cy="15991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Autofit/>
          </a:bodyPr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with all GitHub Copilot plans — Copilot CLI is included at no extra cost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21580"/>
          </a:xfrm>
          <a:prstGeom prst="rect">
            <a:avLst/>
          </a:prstGeom>
          <a:gradFill rotWithShape="1">
            <a:gsLst>
              <a:gs pos="0">
                <a:srgbClr val="6E40C9"/>
              </a:gs>
              <a:gs pos="50000">
                <a:srgbClr val="9B72E8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168261"/>
            <a:ext cx="9144000" cy="5143500"/>
          </a:xfrm>
          <a:prstGeom prst="rect">
            <a:avLst/>
          </a:prstGeom>
          <a:gradFill rotWithShape="1">
            <a:gsLst>
              <a:gs pos="0">
                <a:srgbClr val="6E40C9">
                  <a:alpha val="8000"/>
                </a:srgbClr>
              </a:gs>
              <a:gs pos="10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7143750" y="0"/>
            <a:ext cx="2000250" cy="2000250"/>
          </a:xfrm>
          <a:prstGeom prst="ellipse">
            <a:avLst/>
          </a:prstGeom>
          <a:gradFill rotWithShape="1">
            <a:gsLst>
              <a:gs pos="0">
                <a:srgbClr val="6E40C9">
                  <a:alpha val="1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23875" y="1292275"/>
            <a:ext cx="2571750" cy="21580"/>
          </a:xfrm>
          <a:custGeom>
            <a:avLst/>
            <a:gdLst/>
            <a:ahLst/>
            <a:cxnLst/>
            <a:rect l="l" t="t" r="r" b="b"/>
            <a:pathLst>
              <a:path w="2571750" h="21580">
                <a:moveTo>
                  <a:pt x="86360" y="0"/>
                </a:moveTo>
                <a:lnTo>
                  <a:pt x="2485390" y="0"/>
                </a:lnTo>
                <a:lnTo>
                  <a:pt x="2506806" y="2698"/>
                </a:lnTo>
                <a:lnTo>
                  <a:pt x="2515435" y="5395"/>
                </a:lnTo>
                <a:lnTo>
                  <a:pt x="2521890" y="8093"/>
                </a:lnTo>
                <a:lnTo>
                  <a:pt x="2527190" y="10790"/>
                </a:lnTo>
                <a:lnTo>
                  <a:pt x="2531733" y="13488"/>
                </a:lnTo>
                <a:lnTo>
                  <a:pt x="2535724" y="16185"/>
                </a:lnTo>
                <a:lnTo>
                  <a:pt x="2539287" y="18883"/>
                </a:lnTo>
                <a:lnTo>
                  <a:pt x="2542500" y="21580"/>
                </a:lnTo>
                <a:lnTo>
                  <a:pt x="29250" y="21580"/>
                </a:lnTo>
                <a:lnTo>
                  <a:pt x="32463" y="18883"/>
                </a:lnTo>
                <a:lnTo>
                  <a:pt x="36026" y="16185"/>
                </a:lnTo>
                <a:lnTo>
                  <a:pt x="40017" y="13488"/>
                </a:lnTo>
                <a:lnTo>
                  <a:pt x="44560" y="10790"/>
                </a:lnTo>
                <a:lnTo>
                  <a:pt x="49860" y="8093"/>
                </a:lnTo>
                <a:lnTo>
                  <a:pt x="56315" y="5395"/>
                </a:lnTo>
                <a:lnTo>
                  <a:pt x="64944" y="2698"/>
                </a:lnTo>
                <a:close/>
              </a:path>
            </a:pathLst>
          </a:custGeom>
          <a:gradFill rotWithShape="1">
            <a:gsLst>
              <a:gs pos="0">
                <a:srgbClr val="6E40C9"/>
              </a:gs>
              <a:gs pos="100000">
                <a:srgbClr val="9B72E8"/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094909" y="3565025"/>
            <a:ext cx="1000716" cy="1000716"/>
          </a:xfrm>
          <a:prstGeom prst="ellipse">
            <a:avLst/>
          </a:prstGeom>
          <a:gradFill rotWithShape="1">
            <a:gsLst>
              <a:gs pos="0">
                <a:srgbClr val="6E40C9">
                  <a:alpha val="7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286125" y="1292275"/>
            <a:ext cx="2571750" cy="21580"/>
          </a:xfrm>
          <a:custGeom>
            <a:avLst/>
            <a:gdLst/>
            <a:ahLst/>
            <a:cxnLst/>
            <a:rect l="l" t="t" r="r" b="b"/>
            <a:pathLst>
              <a:path w="2571750" h="21580">
                <a:moveTo>
                  <a:pt x="86360" y="0"/>
                </a:moveTo>
                <a:lnTo>
                  <a:pt x="2485390" y="0"/>
                </a:lnTo>
                <a:lnTo>
                  <a:pt x="2506806" y="2698"/>
                </a:lnTo>
                <a:lnTo>
                  <a:pt x="2515435" y="5395"/>
                </a:lnTo>
                <a:lnTo>
                  <a:pt x="2521890" y="8093"/>
                </a:lnTo>
                <a:lnTo>
                  <a:pt x="2527190" y="10790"/>
                </a:lnTo>
                <a:lnTo>
                  <a:pt x="2531733" y="13488"/>
                </a:lnTo>
                <a:lnTo>
                  <a:pt x="2535724" y="16185"/>
                </a:lnTo>
                <a:lnTo>
                  <a:pt x="2539287" y="18883"/>
                </a:lnTo>
                <a:lnTo>
                  <a:pt x="2542500" y="21580"/>
                </a:lnTo>
                <a:lnTo>
                  <a:pt x="29250" y="21580"/>
                </a:lnTo>
                <a:lnTo>
                  <a:pt x="32463" y="18883"/>
                </a:lnTo>
                <a:lnTo>
                  <a:pt x="36026" y="16185"/>
                </a:lnTo>
                <a:lnTo>
                  <a:pt x="40017" y="13488"/>
                </a:lnTo>
                <a:lnTo>
                  <a:pt x="44560" y="10790"/>
                </a:lnTo>
                <a:lnTo>
                  <a:pt x="49860" y="8093"/>
                </a:lnTo>
                <a:lnTo>
                  <a:pt x="56315" y="5395"/>
                </a:lnTo>
                <a:lnTo>
                  <a:pt x="64944" y="2698"/>
                </a:lnTo>
                <a:close/>
              </a:path>
            </a:pathLst>
          </a:custGeom>
          <a:gradFill rotWithShape="1">
            <a:gsLst>
              <a:gs pos="0">
                <a:srgbClr val="6E40C9"/>
              </a:gs>
              <a:gs pos="100000">
                <a:srgbClr val="9B72E8"/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857159" y="3565025"/>
            <a:ext cx="1000716" cy="1000716"/>
          </a:xfrm>
          <a:prstGeom prst="ellipse">
            <a:avLst/>
          </a:prstGeom>
          <a:gradFill rotWithShape="1">
            <a:gsLst>
              <a:gs pos="0">
                <a:srgbClr val="6E40C9">
                  <a:alpha val="7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048375" y="1292275"/>
            <a:ext cx="2571750" cy="21580"/>
          </a:xfrm>
          <a:custGeom>
            <a:avLst/>
            <a:gdLst/>
            <a:ahLst/>
            <a:cxnLst/>
            <a:rect l="l" t="t" r="r" b="b"/>
            <a:pathLst>
              <a:path w="2571750" h="21580">
                <a:moveTo>
                  <a:pt x="86360" y="0"/>
                </a:moveTo>
                <a:lnTo>
                  <a:pt x="2485390" y="0"/>
                </a:lnTo>
                <a:lnTo>
                  <a:pt x="2506806" y="2698"/>
                </a:lnTo>
                <a:lnTo>
                  <a:pt x="2515435" y="5395"/>
                </a:lnTo>
                <a:lnTo>
                  <a:pt x="2521890" y="8093"/>
                </a:lnTo>
                <a:lnTo>
                  <a:pt x="2527190" y="10790"/>
                </a:lnTo>
                <a:lnTo>
                  <a:pt x="2531733" y="13488"/>
                </a:lnTo>
                <a:lnTo>
                  <a:pt x="2535724" y="16185"/>
                </a:lnTo>
                <a:lnTo>
                  <a:pt x="2539287" y="18883"/>
                </a:lnTo>
                <a:lnTo>
                  <a:pt x="2542500" y="21580"/>
                </a:lnTo>
                <a:lnTo>
                  <a:pt x="29250" y="21580"/>
                </a:lnTo>
                <a:lnTo>
                  <a:pt x="32463" y="18883"/>
                </a:lnTo>
                <a:lnTo>
                  <a:pt x="36026" y="16185"/>
                </a:lnTo>
                <a:lnTo>
                  <a:pt x="40017" y="13488"/>
                </a:lnTo>
                <a:lnTo>
                  <a:pt x="44560" y="10790"/>
                </a:lnTo>
                <a:lnTo>
                  <a:pt x="49860" y="8093"/>
                </a:lnTo>
                <a:lnTo>
                  <a:pt x="56315" y="5395"/>
                </a:lnTo>
                <a:lnTo>
                  <a:pt x="64944" y="2698"/>
                </a:lnTo>
                <a:close/>
              </a:path>
            </a:pathLst>
          </a:custGeom>
          <a:gradFill rotWithShape="1">
            <a:gsLst>
              <a:gs pos="0">
                <a:srgbClr val="6E40C9"/>
              </a:gs>
              <a:gs pos="100000">
                <a:srgbClr val="9B72E8"/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619409" y="3565025"/>
            <a:ext cx="1000716" cy="1000716"/>
          </a:xfrm>
          <a:prstGeom prst="ellipse">
            <a:avLst/>
          </a:prstGeom>
          <a:gradFill rotWithShape="1">
            <a:gsLst>
              <a:gs pos="0">
                <a:srgbClr val="6E40C9">
                  <a:alpha val="7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514350" y="372070"/>
            <a:ext cx="342900" cy="13841"/>
          </a:xfrm>
          <a:prstGeom prst="roundRect">
            <a:avLst>
              <a:gd name="adj" fmla="val 100932"/>
            </a:avLst>
          </a:prstGeom>
          <a:solidFill>
            <a:srgbClr val="6E40C9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14350" y="486221"/>
            <a:ext cx="8683371" cy="2988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4"/>
              </a:lnSpc>
              <a:spcAft>
                <a:spcPts val="450"/>
              </a:spcAft>
              <a:buNone/>
            </a:pPr>
            <a:r>
              <a:rPr lang="en-US" sz="2140" kern="0" spc="-3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Three Ways to Install</a:t>
            </a:r>
            <a:endParaRPr lang="en-US" sz="2140" dirty="0"/>
          </a:p>
        </p:txBody>
      </p:sp>
      <p:sp>
        <p:nvSpPr>
          <p:cNvPr id="13" name="Text 11"/>
          <p:cNvSpPr/>
          <p:nvPr/>
        </p:nvSpPr>
        <p:spPr>
          <a:xfrm>
            <a:off x="514350" y="842218"/>
            <a:ext cx="8926830" cy="182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960" kern="0" spc="1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method that fits your environment</a:t>
            </a:r>
            <a:endParaRPr lang="en-US" sz="960" dirty="0"/>
          </a:p>
        </p:txBody>
      </p:sp>
      <p:sp>
        <p:nvSpPr>
          <p:cNvPr id="14" name="Text 12"/>
          <p:cNvSpPr/>
          <p:nvPr/>
        </p:nvSpPr>
        <p:spPr>
          <a:xfrm>
            <a:off x="514350" y="1282750"/>
            <a:ext cx="2590800" cy="3292525"/>
          </a:xfrm>
          <a:prstGeom prst="roundRect">
            <a:avLst>
              <a:gd name="adj" fmla="val 3333"/>
            </a:avLst>
          </a:prstGeom>
          <a:solidFill>
            <a:srgbClr val="161B22"/>
          </a:solidFill>
          <a:ln w="9525">
            <a:solidFill>
              <a:srgbClr val="6E40C9">
                <a:alpha val="2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88716" y="1498261"/>
            <a:ext cx="272793" cy="272793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752475" y="1520875"/>
            <a:ext cx="2220278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150"/>
              </a:lnSpc>
              <a:buNone/>
            </a:pPr>
            <a:r>
              <a:rPr lang="en-US" sz="3150" kern="0" spc="-110" dirty="0">
                <a:solidFill>
                  <a:srgbClr val="6E40C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npm</a:t>
            </a:r>
            <a:endParaRPr lang="en-US" sz="3150" dirty="0"/>
          </a:p>
        </p:txBody>
      </p:sp>
      <p:sp>
        <p:nvSpPr>
          <p:cNvPr id="18" name="Text 15"/>
          <p:cNvSpPr/>
          <p:nvPr/>
        </p:nvSpPr>
        <p:spPr>
          <a:xfrm>
            <a:off x="752475" y="1964085"/>
            <a:ext cx="2326005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1000" b="1" kern="0" spc="110" dirty="0">
                <a:solidFill>
                  <a:srgbClr val="9B7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CROSS-PLATFORM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752475" y="2217390"/>
            <a:ext cx="2114550" cy="7590"/>
          </a:xfrm>
          <a:prstGeom prst="rect">
            <a:avLst/>
          </a:prstGeom>
          <a:solidFill>
            <a:srgbClr val="6E40C9">
              <a:alpha val="2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752475" y="2339280"/>
            <a:ext cx="2156841" cy="3584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44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Node.js 22 or later. Works on any OS.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52475" y="3559522"/>
            <a:ext cx="2114550" cy="452214"/>
          </a:xfrm>
          <a:prstGeom prst="roundRect">
            <a:avLst>
              <a:gd name="adj" fmla="val 9549"/>
            </a:avLst>
          </a:prstGeom>
          <a:solidFill>
            <a:srgbClr val="0D1117">
              <a:alpha val="80000"/>
            </a:srgbClr>
          </a:solidFill>
          <a:ln/>
        </p:spPr>
        <p:txBody>
          <a:bodyPr wrap="square" lIns="100330" tIns="71120" rIns="100330" bIns="71120" rtlCol="0" anchor="t"/>
          <a:lstStyle/>
          <a:p>
            <a:pPr marL="0" indent="0" algn="l">
              <a:buNone/>
            </a:pPr>
            <a:r>
              <a:rPr lang="en-US" sz="1000" kern="0" spc="2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r>
              <a:rPr lang="en-US" sz="1000" dirty="0"/>
              <a:t> </a:t>
            </a:r>
            <a:r>
              <a:rPr lang="en-US" sz="1000" kern="0" spc="2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</a:t>
            </a:r>
            <a:r>
              <a:rPr lang="en-US" sz="1000" kern="0" spc="2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install -g @github/copilot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752475" y="3559522"/>
            <a:ext cx="19050" cy="439043"/>
          </a:xfrm>
          <a:custGeom>
            <a:avLst/>
            <a:gdLst/>
            <a:ahLst/>
            <a:cxnLst/>
            <a:rect l="l" t="t" r="r" b="b"/>
            <a:pathLst>
              <a:path w="19050" h="439043">
                <a:moveTo>
                  <a:pt x="0" y="43180"/>
                </a:moveTo>
                <a:lnTo>
                  <a:pt x="2381" y="29039"/>
                </a:lnTo>
                <a:lnTo>
                  <a:pt x="4763" y="23467"/>
                </a:lnTo>
                <a:lnTo>
                  <a:pt x="7144" y="19391"/>
                </a:lnTo>
                <a:lnTo>
                  <a:pt x="9525" y="16127"/>
                </a:lnTo>
                <a:lnTo>
                  <a:pt x="11906" y="13406"/>
                </a:lnTo>
                <a:lnTo>
                  <a:pt x="14288" y="11090"/>
                </a:lnTo>
                <a:lnTo>
                  <a:pt x="16669" y="9097"/>
                </a:lnTo>
                <a:lnTo>
                  <a:pt x="19050" y="7371"/>
                </a:lnTo>
                <a:lnTo>
                  <a:pt x="19050" y="431672"/>
                </a:lnTo>
                <a:lnTo>
                  <a:pt x="16669" y="429946"/>
                </a:lnTo>
                <a:lnTo>
                  <a:pt x="14288" y="427952"/>
                </a:lnTo>
                <a:lnTo>
                  <a:pt x="11906" y="425637"/>
                </a:lnTo>
                <a:lnTo>
                  <a:pt x="9525" y="422916"/>
                </a:lnTo>
                <a:lnTo>
                  <a:pt x="7144" y="419652"/>
                </a:lnTo>
                <a:lnTo>
                  <a:pt x="4763" y="415576"/>
                </a:lnTo>
                <a:lnTo>
                  <a:pt x="2381" y="410004"/>
                </a:lnTo>
                <a:lnTo>
                  <a:pt x="0" y="395863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752475" y="4142036"/>
            <a:ext cx="1668030" cy="223093"/>
          </a:xfrm>
          <a:prstGeom prst="roundRect">
            <a:avLst>
              <a:gd name="adj" fmla="val 64328"/>
            </a:avLst>
          </a:prstGeom>
          <a:solidFill>
            <a:srgbClr val="6E40C9">
              <a:alpha val="18000"/>
            </a:srgbClr>
          </a:solidFill>
          <a:ln w="9525">
            <a:solidFill>
              <a:srgbClr val="6E40C9">
                <a:alpha val="35000"/>
              </a:srgbClr>
            </a:solidFill>
          </a:ln>
        </p:spPr>
        <p:txBody>
          <a:bodyPr wrap="none" lIns="208250" tIns="35560" rIns="100330" bIns="35560" rtlCol="0" anchor="ctr"/>
          <a:lstStyle/>
          <a:p>
            <a:pPr marL="0" indent="0" algn="l">
              <a:buNone/>
            </a:pPr>
            <a:r>
              <a:rPr lang="en-US" sz="1200" b="1" kern="0" spc="20" dirty="0">
                <a:solidFill>
                  <a:srgbClr val="9B7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for most devs</a:t>
            </a:r>
            <a:endParaRPr lang="en-US" sz="1200" dirty="0"/>
          </a:p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8386" y="4187288"/>
            <a:ext cx="132588" cy="132588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3276600" y="1282750"/>
            <a:ext cx="2590800" cy="3292525"/>
          </a:xfrm>
          <a:prstGeom prst="roundRect">
            <a:avLst>
              <a:gd name="adj" fmla="val 3333"/>
            </a:avLst>
          </a:prstGeom>
          <a:solidFill>
            <a:srgbClr val="161B22"/>
          </a:solidFill>
          <a:ln w="9525">
            <a:solidFill>
              <a:srgbClr val="6E40C9">
                <a:alpha val="2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2"/>
          <p:cNvSpPr/>
          <p:nvPr/>
        </p:nvSpPr>
        <p:spPr>
          <a:xfrm>
            <a:off x="5428655" y="1435745"/>
            <a:ext cx="257770" cy="257770"/>
          </a:xfrm>
          <a:prstGeom prst="roundRect">
            <a:avLst>
              <a:gd name="adj" fmla="val 22171"/>
            </a:avLst>
          </a:prstGeom>
          <a:solidFill>
            <a:srgbClr val="6E40C9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74934" y="1498261"/>
            <a:ext cx="248825" cy="248825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3514725" y="1520875"/>
            <a:ext cx="2220278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150"/>
              </a:lnSpc>
              <a:buNone/>
            </a:pPr>
            <a:r>
              <a:rPr lang="en-US" sz="3150" kern="0" spc="-110" dirty="0">
                <a:solidFill>
                  <a:srgbClr val="6E40C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WinGet</a:t>
            </a:r>
            <a:endParaRPr lang="en-US" sz="3150" dirty="0"/>
          </a:p>
        </p:txBody>
      </p:sp>
      <p:sp>
        <p:nvSpPr>
          <p:cNvPr id="29" name="Text 24"/>
          <p:cNvSpPr/>
          <p:nvPr/>
        </p:nvSpPr>
        <p:spPr>
          <a:xfrm>
            <a:off x="3514725" y="1964085"/>
            <a:ext cx="2326005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1000" b="1" kern="0" spc="110" dirty="0">
                <a:solidFill>
                  <a:srgbClr val="9B7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3514725" y="2217390"/>
            <a:ext cx="2114550" cy="7590"/>
          </a:xfrm>
          <a:prstGeom prst="rect">
            <a:avLst/>
          </a:prstGeom>
          <a:solidFill>
            <a:srgbClr val="6E40C9">
              <a:alpha val="2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4000" dirty="0"/>
          </a:p>
        </p:txBody>
      </p:sp>
      <p:sp>
        <p:nvSpPr>
          <p:cNvPr id="31" name="Text 26"/>
          <p:cNvSpPr/>
          <p:nvPr/>
        </p:nvSpPr>
        <p:spPr>
          <a:xfrm>
            <a:off x="3514725" y="2339280"/>
            <a:ext cx="2156841" cy="3584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44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Windows Package Manager. No Node.js required.</a:t>
            </a:r>
            <a:endParaRPr lang="en-US" sz="1400" dirty="0"/>
          </a:p>
        </p:txBody>
      </p:sp>
      <p:sp>
        <p:nvSpPr>
          <p:cNvPr id="32" name="Text 27"/>
          <p:cNvSpPr/>
          <p:nvPr/>
        </p:nvSpPr>
        <p:spPr>
          <a:xfrm>
            <a:off x="3514725" y="3698528"/>
            <a:ext cx="2156841" cy="300038"/>
          </a:xfrm>
          <a:prstGeom prst="roundRect">
            <a:avLst>
              <a:gd name="adj" fmla="val 14391"/>
            </a:avLst>
          </a:prstGeom>
          <a:solidFill>
            <a:srgbClr val="0D1117">
              <a:alpha val="80000"/>
            </a:srgbClr>
          </a:solidFill>
          <a:ln/>
        </p:spPr>
        <p:txBody>
          <a:bodyPr wrap="none" lIns="100330" tIns="71120" rIns="100330" bIns="71120" rtlCol="0" anchor="t"/>
          <a:lstStyle/>
          <a:p>
            <a:pPr marL="0" indent="0" algn="l">
              <a:buNone/>
            </a:pPr>
            <a:r>
              <a:rPr lang="en-US" sz="1000" kern="0" spc="2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r>
              <a:rPr lang="en-US" sz="1000" dirty="0"/>
              <a:t> </a:t>
            </a:r>
            <a:r>
              <a:rPr lang="en-US" sz="1000" kern="0" spc="2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winget</a:t>
            </a:r>
            <a:r>
              <a:rPr lang="en-US" sz="1000" kern="0" spc="2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install GitHub.Copilot</a:t>
            </a:r>
            <a:endParaRPr lang="en-US" sz="1000" dirty="0"/>
          </a:p>
        </p:txBody>
      </p:sp>
      <p:sp>
        <p:nvSpPr>
          <p:cNvPr id="33" name="Text 28"/>
          <p:cNvSpPr/>
          <p:nvPr/>
        </p:nvSpPr>
        <p:spPr>
          <a:xfrm>
            <a:off x="3514725" y="3698528"/>
            <a:ext cx="19050" cy="300038"/>
          </a:xfrm>
          <a:custGeom>
            <a:avLst/>
            <a:gdLst/>
            <a:ahLst/>
            <a:cxnLst/>
            <a:rect l="l" t="t" r="r" b="b"/>
            <a:pathLst>
              <a:path w="19050" h="300038">
                <a:moveTo>
                  <a:pt x="0" y="43180"/>
                </a:moveTo>
                <a:lnTo>
                  <a:pt x="2381" y="29039"/>
                </a:lnTo>
                <a:lnTo>
                  <a:pt x="4763" y="23467"/>
                </a:lnTo>
                <a:lnTo>
                  <a:pt x="7144" y="19391"/>
                </a:lnTo>
                <a:lnTo>
                  <a:pt x="9525" y="16127"/>
                </a:lnTo>
                <a:lnTo>
                  <a:pt x="11906" y="13406"/>
                </a:lnTo>
                <a:lnTo>
                  <a:pt x="14288" y="11090"/>
                </a:lnTo>
                <a:lnTo>
                  <a:pt x="16669" y="9097"/>
                </a:lnTo>
                <a:lnTo>
                  <a:pt x="19050" y="7371"/>
                </a:lnTo>
                <a:lnTo>
                  <a:pt x="19050" y="292666"/>
                </a:lnTo>
                <a:lnTo>
                  <a:pt x="16669" y="290941"/>
                </a:lnTo>
                <a:lnTo>
                  <a:pt x="14288" y="288947"/>
                </a:lnTo>
                <a:lnTo>
                  <a:pt x="11906" y="286631"/>
                </a:lnTo>
                <a:lnTo>
                  <a:pt x="9525" y="283910"/>
                </a:lnTo>
                <a:lnTo>
                  <a:pt x="7144" y="280646"/>
                </a:lnTo>
                <a:lnTo>
                  <a:pt x="4763" y="276571"/>
                </a:lnTo>
                <a:lnTo>
                  <a:pt x="2381" y="270999"/>
                </a:lnTo>
                <a:lnTo>
                  <a:pt x="0" y="256858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2800" dirty="0"/>
          </a:p>
        </p:txBody>
      </p:sp>
      <p:sp>
        <p:nvSpPr>
          <p:cNvPr id="34" name="Text 29"/>
          <p:cNvSpPr/>
          <p:nvPr/>
        </p:nvSpPr>
        <p:spPr>
          <a:xfrm>
            <a:off x="3514725" y="4142036"/>
            <a:ext cx="1422714" cy="223093"/>
          </a:xfrm>
          <a:prstGeom prst="roundRect">
            <a:avLst>
              <a:gd name="adj" fmla="val 64328"/>
            </a:avLst>
          </a:prstGeom>
          <a:solidFill>
            <a:srgbClr val="6E40C9">
              <a:alpha val="18000"/>
            </a:srgbClr>
          </a:solidFill>
          <a:ln w="9525">
            <a:solidFill>
              <a:srgbClr val="6E40C9">
                <a:alpha val="35000"/>
              </a:srgbClr>
            </a:solidFill>
          </a:ln>
        </p:spPr>
        <p:txBody>
          <a:bodyPr wrap="none" lIns="208250" tIns="35560" rIns="100330" bIns="35560" rtlCol="0" anchor="ctr"/>
          <a:lstStyle/>
          <a:p>
            <a:pPr marL="0" indent="0" algn="l">
              <a:buNone/>
            </a:pPr>
            <a:r>
              <a:rPr lang="en-US" sz="1200" b="1" kern="0" spc="20" dirty="0">
                <a:solidFill>
                  <a:srgbClr val="9B7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Windows users</a:t>
            </a:r>
            <a:endParaRPr lang="en-US" sz="1200" dirty="0"/>
          </a:p>
        </p:txBody>
      </p:sp>
      <p:pic>
        <p:nvPicPr>
          <p:cNvPr id="35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90636" y="4187288"/>
            <a:ext cx="132588" cy="132588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6038850" y="1282750"/>
            <a:ext cx="2590800" cy="3292525"/>
          </a:xfrm>
          <a:prstGeom prst="roundRect">
            <a:avLst>
              <a:gd name="adj" fmla="val 3333"/>
            </a:avLst>
          </a:prstGeom>
          <a:solidFill>
            <a:srgbClr val="161B22"/>
          </a:solidFill>
          <a:ln w="9525">
            <a:solidFill>
              <a:srgbClr val="6E40C9">
                <a:alpha val="2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8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104554" y="1498261"/>
            <a:ext cx="281455" cy="281455"/>
          </a:xfrm>
          <a:prstGeom prst="rect">
            <a:avLst/>
          </a:prstGeom>
        </p:spPr>
      </p:pic>
      <p:sp>
        <p:nvSpPr>
          <p:cNvPr id="39" name="Text 32"/>
          <p:cNvSpPr/>
          <p:nvPr/>
        </p:nvSpPr>
        <p:spPr>
          <a:xfrm>
            <a:off x="6276975" y="1520875"/>
            <a:ext cx="2220278" cy="3289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90"/>
              </a:lnSpc>
              <a:buNone/>
            </a:pPr>
            <a:r>
              <a:rPr lang="en-US" sz="2590" kern="0" spc="-60" dirty="0">
                <a:solidFill>
                  <a:srgbClr val="6E40C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Homebrew</a:t>
            </a:r>
            <a:endParaRPr lang="en-US" sz="2590" dirty="0"/>
          </a:p>
        </p:txBody>
      </p:sp>
      <p:sp>
        <p:nvSpPr>
          <p:cNvPr id="40" name="Text 33"/>
          <p:cNvSpPr/>
          <p:nvPr/>
        </p:nvSpPr>
        <p:spPr>
          <a:xfrm>
            <a:off x="6276975" y="1892945"/>
            <a:ext cx="2326005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1000" b="1" kern="0" spc="110" dirty="0">
                <a:solidFill>
                  <a:srgbClr val="9B7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 / LINUX</a:t>
            </a:r>
            <a:endParaRPr lang="en-US" sz="1000" dirty="0"/>
          </a:p>
        </p:txBody>
      </p:sp>
      <p:sp>
        <p:nvSpPr>
          <p:cNvPr id="41" name="Text 34"/>
          <p:cNvSpPr/>
          <p:nvPr/>
        </p:nvSpPr>
        <p:spPr>
          <a:xfrm>
            <a:off x="6276975" y="2146250"/>
            <a:ext cx="2114550" cy="7590"/>
          </a:xfrm>
          <a:prstGeom prst="rect">
            <a:avLst/>
          </a:prstGeom>
          <a:solidFill>
            <a:srgbClr val="6E40C9">
              <a:alpha val="2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4000" dirty="0"/>
          </a:p>
        </p:txBody>
      </p:sp>
      <p:sp>
        <p:nvSpPr>
          <p:cNvPr id="42" name="Text 35"/>
          <p:cNvSpPr/>
          <p:nvPr/>
        </p:nvSpPr>
        <p:spPr>
          <a:xfrm>
            <a:off x="6276975" y="2268141"/>
            <a:ext cx="2156841" cy="3584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44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Familiar brew command. Integrates with your existing toolchain.</a:t>
            </a:r>
            <a:endParaRPr lang="en-US" sz="1400" dirty="0"/>
          </a:p>
        </p:txBody>
      </p:sp>
      <p:sp>
        <p:nvSpPr>
          <p:cNvPr id="43" name="Text 36"/>
          <p:cNvSpPr/>
          <p:nvPr/>
        </p:nvSpPr>
        <p:spPr>
          <a:xfrm>
            <a:off x="6276975" y="3698528"/>
            <a:ext cx="2156841" cy="300038"/>
          </a:xfrm>
          <a:prstGeom prst="roundRect">
            <a:avLst>
              <a:gd name="adj" fmla="val 14391"/>
            </a:avLst>
          </a:prstGeom>
          <a:solidFill>
            <a:srgbClr val="0D1117">
              <a:alpha val="80000"/>
            </a:srgbClr>
          </a:solidFill>
          <a:ln/>
        </p:spPr>
        <p:txBody>
          <a:bodyPr wrap="none" lIns="100330" tIns="71120" rIns="100330" bIns="71120" rtlCol="0" anchor="t"/>
          <a:lstStyle/>
          <a:p>
            <a:pPr marL="0" indent="0" algn="l">
              <a:buNone/>
            </a:pPr>
            <a:r>
              <a:rPr lang="en-US" sz="1000" kern="0" spc="2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r>
              <a:rPr lang="en-US" sz="1000" dirty="0"/>
              <a:t> </a:t>
            </a:r>
            <a:r>
              <a:rPr lang="en-US" sz="1000" kern="0" spc="2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brew install copilot-cli</a:t>
            </a:r>
            <a:endParaRPr lang="en-US" sz="1000" dirty="0"/>
          </a:p>
        </p:txBody>
      </p:sp>
      <p:sp>
        <p:nvSpPr>
          <p:cNvPr id="44" name="Text 37"/>
          <p:cNvSpPr/>
          <p:nvPr/>
        </p:nvSpPr>
        <p:spPr>
          <a:xfrm>
            <a:off x="6276975" y="3698528"/>
            <a:ext cx="19050" cy="300038"/>
          </a:xfrm>
          <a:custGeom>
            <a:avLst/>
            <a:gdLst/>
            <a:ahLst/>
            <a:cxnLst/>
            <a:rect l="l" t="t" r="r" b="b"/>
            <a:pathLst>
              <a:path w="19050" h="300038">
                <a:moveTo>
                  <a:pt x="0" y="43180"/>
                </a:moveTo>
                <a:lnTo>
                  <a:pt x="2381" y="29039"/>
                </a:lnTo>
                <a:lnTo>
                  <a:pt x="4763" y="23467"/>
                </a:lnTo>
                <a:lnTo>
                  <a:pt x="7144" y="19391"/>
                </a:lnTo>
                <a:lnTo>
                  <a:pt x="9525" y="16127"/>
                </a:lnTo>
                <a:lnTo>
                  <a:pt x="11906" y="13406"/>
                </a:lnTo>
                <a:lnTo>
                  <a:pt x="14288" y="11090"/>
                </a:lnTo>
                <a:lnTo>
                  <a:pt x="16669" y="9097"/>
                </a:lnTo>
                <a:lnTo>
                  <a:pt x="19050" y="7371"/>
                </a:lnTo>
                <a:lnTo>
                  <a:pt x="19050" y="292666"/>
                </a:lnTo>
                <a:lnTo>
                  <a:pt x="16669" y="290941"/>
                </a:lnTo>
                <a:lnTo>
                  <a:pt x="14288" y="288947"/>
                </a:lnTo>
                <a:lnTo>
                  <a:pt x="11906" y="286631"/>
                </a:lnTo>
                <a:lnTo>
                  <a:pt x="9525" y="283910"/>
                </a:lnTo>
                <a:lnTo>
                  <a:pt x="7144" y="280646"/>
                </a:lnTo>
                <a:lnTo>
                  <a:pt x="4763" y="276571"/>
                </a:lnTo>
                <a:lnTo>
                  <a:pt x="2381" y="270999"/>
                </a:lnTo>
                <a:lnTo>
                  <a:pt x="0" y="256858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2800" dirty="0"/>
          </a:p>
        </p:txBody>
      </p:sp>
      <p:sp>
        <p:nvSpPr>
          <p:cNvPr id="45" name="Text 38"/>
          <p:cNvSpPr/>
          <p:nvPr/>
        </p:nvSpPr>
        <p:spPr>
          <a:xfrm>
            <a:off x="6276975" y="4142036"/>
            <a:ext cx="1287304" cy="223093"/>
          </a:xfrm>
          <a:prstGeom prst="roundRect">
            <a:avLst>
              <a:gd name="adj" fmla="val 64328"/>
            </a:avLst>
          </a:prstGeom>
          <a:solidFill>
            <a:srgbClr val="6E40C9">
              <a:alpha val="18000"/>
            </a:srgbClr>
          </a:solidFill>
          <a:ln w="9525">
            <a:solidFill>
              <a:srgbClr val="6E40C9">
                <a:alpha val="35000"/>
              </a:srgbClr>
            </a:solidFill>
          </a:ln>
        </p:spPr>
        <p:txBody>
          <a:bodyPr wrap="none" lIns="208250" tIns="35560" rIns="100330" bIns="35560" rtlCol="0" anchor="ctr"/>
          <a:lstStyle/>
          <a:p>
            <a:pPr marL="0" indent="0" algn="l">
              <a:buNone/>
            </a:pPr>
            <a:r>
              <a:rPr lang="en-US" sz="1200" b="1" kern="0" spc="20" dirty="0">
                <a:solidFill>
                  <a:srgbClr val="9B7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Mac &amp; Linux</a:t>
            </a:r>
            <a:endParaRPr lang="en-US" sz="1200" dirty="0"/>
          </a:p>
        </p:txBody>
      </p:sp>
      <p:pic>
        <p:nvPicPr>
          <p:cNvPr id="46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2886" y="4187288"/>
            <a:ext cx="132588" cy="132588"/>
          </a:xfrm>
          <a:prstGeom prst="rect">
            <a:avLst/>
          </a:prstGeom>
        </p:spPr>
      </p:pic>
      <p:sp>
        <p:nvSpPr>
          <p:cNvPr id="47" name="Text 39"/>
          <p:cNvSpPr/>
          <p:nvPr/>
        </p:nvSpPr>
        <p:spPr>
          <a:xfrm>
            <a:off x="3387030" y="4773662"/>
            <a:ext cx="29170" cy="29170"/>
          </a:xfrm>
          <a:prstGeom prst="ellipse">
            <a:avLst/>
          </a:prstGeom>
          <a:solidFill>
            <a:srgbClr val="6E40C9">
              <a:alpha val="6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4000" dirty="0"/>
          </a:p>
        </p:txBody>
      </p:sp>
      <p:sp>
        <p:nvSpPr>
          <p:cNvPr id="48" name="Text 40"/>
          <p:cNvSpPr/>
          <p:nvPr/>
        </p:nvSpPr>
        <p:spPr>
          <a:xfrm>
            <a:off x="2463641" y="4803993"/>
            <a:ext cx="2386578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methods install the same Copilot CLI binary.</a:t>
            </a:r>
            <a:endParaRPr lang="en-US" dirty="0"/>
          </a:p>
        </p:txBody>
      </p:sp>
      <p:sp>
        <p:nvSpPr>
          <p:cNvPr id="49" name="Text 41"/>
          <p:cNvSpPr/>
          <p:nvPr/>
        </p:nvSpPr>
        <p:spPr>
          <a:xfrm>
            <a:off x="5727799" y="4773662"/>
            <a:ext cx="29170" cy="29170"/>
          </a:xfrm>
          <a:prstGeom prst="ellipse">
            <a:avLst/>
          </a:prstGeom>
          <a:solidFill>
            <a:srgbClr val="6E40C9">
              <a:alpha val="6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6E40C9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7684"/>
            <a:ext cx="9144000" cy="5143500"/>
          </a:xfrm>
          <a:prstGeom prst="rect">
            <a:avLst/>
          </a:prstGeom>
          <a:gradFill rotWithShape="1">
            <a:gsLst>
              <a:gs pos="0">
                <a:srgbClr val="6E40C9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143125" y="1285875"/>
            <a:ext cx="4857750" cy="2571750"/>
          </a:xfrm>
          <a:prstGeom prst="rect">
            <a:avLst/>
          </a:prstGeom>
          <a:gradFill rotWithShape="1">
            <a:gsLst>
              <a:gs pos="0">
                <a:srgbClr val="6E40C9">
                  <a:alpha val="12000"/>
                </a:srgbClr>
              </a:gs>
              <a:gs pos="72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0" y="0"/>
            <a:ext cx="9144000" cy="2158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30000">
                <a:srgbClr val="6E40C9"/>
              </a:gs>
              <a:gs pos="60000">
                <a:srgbClr val="9B5DE5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991005" y="4771430"/>
            <a:ext cx="9525" cy="228600"/>
          </a:xfrm>
          <a:prstGeom prst="rect">
            <a:avLst/>
          </a:prstGeom>
          <a:solidFill>
            <a:srgbClr val="6E40C9">
              <a:alpha val="3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98952" y="2258540"/>
            <a:ext cx="1501732" cy="275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1200" kern="0" spc="170" dirty="0">
                <a:solidFill>
                  <a:srgbClr val="92D0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INSTALLATION</a:t>
            </a:r>
            <a:endParaRPr lang="en-US" sz="1200" dirty="0">
              <a:solidFill>
                <a:srgbClr val="92D050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2686850" y="1232595"/>
            <a:ext cx="3770151" cy="2911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292"/>
              </a:lnSpc>
              <a:spcAft>
                <a:spcPts val="340"/>
              </a:spcAft>
              <a:buNone/>
            </a:pPr>
            <a:r>
              <a:rPr lang="en-US" sz="1910" kern="0" spc="-2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Install with npm </a:t>
            </a:r>
            <a:r>
              <a:rPr lang="en-US" sz="1460" kern="0" spc="-20" dirty="0">
                <a:solidFill>
                  <a:srgbClr val="8B949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—</a:t>
            </a:r>
            <a:r>
              <a:rPr lang="en-US" sz="1910" kern="0" spc="-2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Cross-Platform</a:t>
            </a:r>
            <a:endParaRPr lang="en-US" sz="1910" dirty="0"/>
          </a:p>
        </p:txBody>
      </p:sp>
      <p:sp>
        <p:nvSpPr>
          <p:cNvPr id="9" name="Text 7"/>
          <p:cNvSpPr/>
          <p:nvPr/>
        </p:nvSpPr>
        <p:spPr>
          <a:xfrm>
            <a:off x="4371975" y="1566863"/>
            <a:ext cx="400050" cy="21580"/>
          </a:xfrm>
          <a:prstGeom prst="roundRect">
            <a:avLst>
              <a:gd name="adj" fmla="val 64736"/>
            </a:avLst>
          </a:prstGeom>
          <a:solidFill>
            <a:srgbClr val="6E40C9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143125" y="1789063"/>
            <a:ext cx="4857750" cy="1106388"/>
          </a:xfrm>
          <a:prstGeom prst="roundRect">
            <a:avLst>
              <a:gd name="adj" fmla="val 6428"/>
            </a:avLst>
          </a:prstGeom>
          <a:solidFill>
            <a:srgbClr val="161B22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143125" y="1789063"/>
            <a:ext cx="28575" cy="1106388"/>
          </a:xfrm>
          <a:custGeom>
            <a:avLst/>
            <a:gdLst/>
            <a:ahLst/>
            <a:cxnLst/>
            <a:rect l="l" t="t" r="r" b="b"/>
            <a:pathLst>
              <a:path w="28575" h="1106388">
                <a:moveTo>
                  <a:pt x="0" y="71120"/>
                </a:moveTo>
                <a:lnTo>
                  <a:pt x="3572" y="48865"/>
                </a:lnTo>
                <a:lnTo>
                  <a:pt x="7144" y="40054"/>
                </a:lnTo>
                <a:lnTo>
                  <a:pt x="10716" y="33579"/>
                </a:lnTo>
                <a:lnTo>
                  <a:pt x="14288" y="28363"/>
                </a:lnTo>
                <a:lnTo>
                  <a:pt x="17859" y="23989"/>
                </a:lnTo>
                <a:lnTo>
                  <a:pt x="21431" y="20237"/>
                </a:lnTo>
                <a:lnTo>
                  <a:pt x="25003" y="16979"/>
                </a:lnTo>
                <a:lnTo>
                  <a:pt x="28575" y="14129"/>
                </a:lnTo>
                <a:lnTo>
                  <a:pt x="28575" y="1092259"/>
                </a:lnTo>
                <a:lnTo>
                  <a:pt x="25003" y="1089410"/>
                </a:lnTo>
                <a:lnTo>
                  <a:pt x="21431" y="1086151"/>
                </a:lnTo>
                <a:lnTo>
                  <a:pt x="17859" y="1082400"/>
                </a:lnTo>
                <a:lnTo>
                  <a:pt x="14288" y="1078025"/>
                </a:lnTo>
                <a:lnTo>
                  <a:pt x="10716" y="1072810"/>
                </a:lnTo>
                <a:lnTo>
                  <a:pt x="7144" y="1066334"/>
                </a:lnTo>
                <a:lnTo>
                  <a:pt x="3572" y="1057524"/>
                </a:lnTo>
                <a:lnTo>
                  <a:pt x="0" y="1035268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171700" y="1798588"/>
            <a:ext cx="4819650" cy="280988"/>
          </a:xfrm>
          <a:prstGeom prst="rect">
            <a:avLst/>
          </a:prstGeom>
          <a:solidFill>
            <a:srgbClr val="6E40C9">
              <a:alpha val="12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171700" y="2070050"/>
            <a:ext cx="4819650" cy="9525"/>
          </a:xfrm>
          <a:prstGeom prst="rect">
            <a:avLst/>
          </a:prstGeom>
          <a:solidFill>
            <a:srgbClr val="6E40C9">
              <a:alpha val="2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286000" y="1898749"/>
            <a:ext cx="70991" cy="70991"/>
          </a:xfrm>
          <a:prstGeom prst="ellipse">
            <a:avLst/>
          </a:prstGeom>
          <a:solidFill>
            <a:srgbClr val="FF5F57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414141" y="1898749"/>
            <a:ext cx="70991" cy="70991"/>
          </a:xfrm>
          <a:prstGeom prst="ellipse">
            <a:avLst/>
          </a:prstGeom>
          <a:solidFill>
            <a:srgbClr val="FEBC2E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2542282" y="1898749"/>
            <a:ext cx="70991" cy="70991"/>
          </a:xfrm>
          <a:prstGeom prst="ellipse">
            <a:avLst/>
          </a:prstGeom>
          <a:solidFill>
            <a:srgbClr val="28C840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2741414" y="1869579"/>
            <a:ext cx="490151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2357973" y="2268736"/>
            <a:ext cx="157817" cy="16549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lnSpc>
                <a:spcPts val="1303"/>
              </a:lnSpc>
              <a:buNone/>
            </a:pPr>
            <a:r>
              <a:rPr lang="en-US" sz="790" i="1" dirty="0">
                <a:solidFill>
                  <a:srgbClr val="8B949E">
                    <a:alpha val="4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790" dirty="0"/>
          </a:p>
        </p:txBody>
      </p:sp>
      <p:sp>
        <p:nvSpPr>
          <p:cNvPr id="19" name="Text 17"/>
          <p:cNvSpPr/>
          <p:nvPr/>
        </p:nvSpPr>
        <p:spPr>
          <a:xfrm>
            <a:off x="2615952" y="2251025"/>
            <a:ext cx="2825487" cy="2010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584"/>
              </a:lnSpc>
              <a:buNone/>
            </a:pPr>
            <a:r>
              <a:rPr lang="en-US" sz="960" i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Prerequisite: Node.js 22 or later</a:t>
            </a:r>
            <a:endParaRPr lang="en-US" sz="960" dirty="0"/>
          </a:p>
        </p:txBody>
      </p:sp>
      <p:sp>
        <p:nvSpPr>
          <p:cNvPr id="20" name="Text 18"/>
          <p:cNvSpPr/>
          <p:nvPr/>
        </p:nvSpPr>
        <p:spPr>
          <a:xfrm>
            <a:off x="2357973" y="2522041"/>
            <a:ext cx="157817" cy="16549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lnSpc>
                <a:spcPts val="1303"/>
              </a:lnSpc>
              <a:buNone/>
            </a:pPr>
            <a:r>
              <a:rPr lang="en-US" sz="790" dirty="0">
                <a:solidFill>
                  <a:srgbClr val="8B949E">
                    <a:alpha val="4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790" dirty="0"/>
          </a:p>
        </p:txBody>
      </p:sp>
      <p:sp>
        <p:nvSpPr>
          <p:cNvPr id="21" name="Text 19"/>
          <p:cNvSpPr/>
          <p:nvPr/>
        </p:nvSpPr>
        <p:spPr>
          <a:xfrm>
            <a:off x="2615952" y="2481263"/>
            <a:ext cx="2975119" cy="2472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947"/>
              </a:lnSpc>
              <a:buNone/>
            </a:pPr>
            <a:r>
              <a:rPr lang="en-US" sz="118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 -g @github/copilot</a:t>
            </a:r>
            <a:endParaRPr lang="en-US" sz="1180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B84CCA5-EF0B-6BF1-5AC5-673B1CF365D4}"/>
              </a:ext>
            </a:extLst>
          </p:cNvPr>
          <p:cNvGrpSpPr/>
          <p:nvPr/>
        </p:nvGrpSpPr>
        <p:grpSpPr>
          <a:xfrm>
            <a:off x="3427038" y="3066455"/>
            <a:ext cx="2308973" cy="304949"/>
            <a:chOff x="3751146" y="3029209"/>
            <a:chExt cx="2308973" cy="304949"/>
          </a:xfrm>
        </p:grpSpPr>
        <p:sp>
          <p:nvSpPr>
            <p:cNvPr id="22" name="Text 20"/>
            <p:cNvSpPr/>
            <p:nvPr/>
          </p:nvSpPr>
          <p:spPr>
            <a:xfrm>
              <a:off x="3751146" y="3029209"/>
              <a:ext cx="2308973" cy="304949"/>
            </a:xfrm>
            <a:prstGeom prst="roundRect">
              <a:avLst>
                <a:gd name="adj" fmla="val 52349"/>
              </a:avLst>
            </a:prstGeom>
            <a:solidFill>
              <a:srgbClr val="6E40C9">
                <a:alpha val="14000"/>
              </a:srgbClr>
            </a:solidFill>
            <a:ln w="9525">
              <a:solidFill>
                <a:srgbClr val="6E40C9">
                  <a:alpha val="40000"/>
                </a:srgbClr>
              </a:solidFill>
            </a:ln>
          </p:spPr>
          <p:txBody>
            <a:bodyPr wrap="none" lIns="239653" tIns="49530" rIns="128270" bIns="49530" rtlCol="0" anchor="ctr"/>
            <a:lstStyle/>
            <a:p>
              <a:pPr marL="0" indent="0" algn="l">
                <a:buNone/>
              </a:pPr>
              <a:r>
                <a:rPr lang="en-US" sz="1600" b="1" kern="0" spc="20" dirty="0">
                  <a:solidFill>
                    <a:srgbClr val="C2A7F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Requires Node.js v22+</a:t>
              </a:r>
              <a:endParaRPr lang="en-US" sz="1600" dirty="0"/>
            </a:p>
          </p:txBody>
        </p:sp>
        <p:pic>
          <p:nvPicPr>
            <p:cNvPr id="23" name="Image 0" descr="preencoded.png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872889" y="3109698"/>
              <a:ext cx="132588" cy="132588"/>
            </a:xfrm>
            <a:prstGeom prst="rect">
              <a:avLst/>
            </a:prstGeom>
          </p:spPr>
        </p:pic>
      </p:grpSp>
      <p:sp>
        <p:nvSpPr>
          <p:cNvPr id="24" name="Text 21"/>
          <p:cNvSpPr/>
          <p:nvPr/>
        </p:nvSpPr>
        <p:spPr>
          <a:xfrm>
            <a:off x="1131828" y="3709937"/>
            <a:ext cx="1065329" cy="275928"/>
          </a:xfrm>
          <a:prstGeom prst="roundRect">
            <a:avLst>
              <a:gd name="adj" fmla="val 16878"/>
            </a:avLst>
          </a:prstGeom>
          <a:solidFill>
            <a:srgbClr val="161B22">
              <a:alpha val="90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243751" tIns="43180" rIns="114300" bIns="4318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</a:t>
            </a:r>
            <a:endParaRPr lang="en-US" sz="1600" dirty="0"/>
          </a:p>
        </p:txBody>
      </p:sp>
      <p:pic>
        <p:nvPicPr>
          <p:cNvPr id="2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29320" y="3771561"/>
            <a:ext cx="132588" cy="132588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4239360" y="3725615"/>
            <a:ext cx="1065329" cy="264020"/>
          </a:xfrm>
          <a:prstGeom prst="roundRect">
            <a:avLst>
              <a:gd name="adj" fmla="val 16878"/>
            </a:avLst>
          </a:prstGeom>
          <a:solidFill>
            <a:srgbClr val="161B22">
              <a:alpha val="90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243751" tIns="43180" rIns="114300" bIns="4318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</a:t>
            </a:r>
            <a:endParaRPr lang="en-US" sz="1600" dirty="0"/>
          </a:p>
        </p:txBody>
      </p:sp>
      <p:pic>
        <p:nvPicPr>
          <p:cNvPr id="2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97434" y="3771561"/>
            <a:ext cx="132588" cy="132588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7012517" y="3709937"/>
            <a:ext cx="902163" cy="264020"/>
          </a:xfrm>
          <a:prstGeom prst="roundRect">
            <a:avLst>
              <a:gd name="adj" fmla="val 16878"/>
            </a:avLst>
          </a:prstGeom>
          <a:solidFill>
            <a:srgbClr val="161B22">
              <a:alpha val="90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243751" tIns="43180" rIns="114300" bIns="4318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</a:t>
            </a:r>
            <a:endParaRPr lang="en-US" sz="1600" dirty="0"/>
          </a:p>
        </p:txBody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10009" y="3771561"/>
            <a:ext cx="132588" cy="132588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2513008" y="4381092"/>
            <a:ext cx="411798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225"/>
              </a:lnSpc>
              <a:spcBef>
                <a:spcPts val="1130"/>
              </a:spcBef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r>
              <a:rPr lang="en-US" sz="1600" dirty="0">
                <a:solidFill>
                  <a:srgbClr val="C2A7F5"/>
                </a:solidFill>
                <a:highlight>
                  <a:srgbClr val="6E40C9">
                    <a:alpha val="10000"/>
                  </a:srgbClr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-g</a:t>
            </a: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flag installs Copilot CLI globally, making it available in any terminal session.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9220" y="1079153"/>
            <a:ext cx="4056459" cy="3806577"/>
          </a:xfrm>
          <a:prstGeom prst="roundRect">
            <a:avLst>
              <a:gd name="adj" fmla="val 2636"/>
            </a:avLst>
          </a:prstGeom>
          <a:solidFill>
            <a:srgbClr val="161B22"/>
          </a:solidFill>
          <a:ln w="9525">
            <a:solidFill>
              <a:srgbClr val="FFFFFF">
                <a:alpha val="7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53355" y="1289298"/>
            <a:ext cx="299591" cy="299591"/>
          </a:xfrm>
          <a:prstGeom prst="roundRect">
            <a:avLst>
              <a:gd name="adj" fmla="val 23739"/>
            </a:avLst>
          </a:prstGeom>
          <a:solidFill>
            <a:srgbClr val="6E40C9">
              <a:alpha val="18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sz="3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6857" y="1372800"/>
            <a:ext cx="132588" cy="13258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39266" y="1301949"/>
            <a:ext cx="3418433" cy="277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84"/>
              </a:lnSpc>
              <a:buNone/>
            </a:pPr>
            <a:r>
              <a:rPr lang="en-US" sz="1600" b="1" dirty="0">
                <a:solidFill>
                  <a:srgbClr val="6E40C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Windows — WinGet </a:t>
            </a:r>
            <a:r>
              <a:rPr lang="en-US" sz="105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Package Manager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53355" y="1717030"/>
            <a:ext cx="3608189" cy="385316"/>
          </a:xfrm>
          <a:prstGeom prst="roundRect">
            <a:avLst>
              <a:gd name="adj" fmla="val 14832"/>
            </a:avLst>
          </a:prstGeom>
          <a:solidFill>
            <a:srgbClr val="0D1117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653355" y="1717030"/>
            <a:ext cx="19050" cy="385316"/>
          </a:xfrm>
          <a:custGeom>
            <a:avLst/>
            <a:gdLst/>
            <a:ahLst/>
            <a:cxnLst/>
            <a:rect l="l" t="t" r="r" b="b"/>
            <a:pathLst>
              <a:path w="19050" h="385316">
                <a:moveTo>
                  <a:pt x="0" y="57150"/>
                </a:moveTo>
                <a:lnTo>
                  <a:pt x="2381" y="40825"/>
                </a:lnTo>
                <a:lnTo>
                  <a:pt x="4763" y="34310"/>
                </a:lnTo>
                <a:lnTo>
                  <a:pt x="7144" y="29482"/>
                </a:lnTo>
                <a:lnTo>
                  <a:pt x="9525" y="25559"/>
                </a:lnTo>
                <a:lnTo>
                  <a:pt x="11906" y="22234"/>
                </a:lnTo>
                <a:lnTo>
                  <a:pt x="14288" y="19349"/>
                </a:lnTo>
                <a:lnTo>
                  <a:pt x="16669" y="16809"/>
                </a:lnTo>
                <a:lnTo>
                  <a:pt x="19050" y="14553"/>
                </a:lnTo>
                <a:lnTo>
                  <a:pt x="19050" y="370763"/>
                </a:lnTo>
                <a:lnTo>
                  <a:pt x="16669" y="368507"/>
                </a:lnTo>
                <a:lnTo>
                  <a:pt x="14288" y="365967"/>
                </a:lnTo>
                <a:lnTo>
                  <a:pt x="11906" y="363082"/>
                </a:lnTo>
                <a:lnTo>
                  <a:pt x="9525" y="359757"/>
                </a:lnTo>
                <a:lnTo>
                  <a:pt x="7144" y="355834"/>
                </a:lnTo>
                <a:lnTo>
                  <a:pt x="4763" y="351006"/>
                </a:lnTo>
                <a:lnTo>
                  <a:pt x="2381" y="344491"/>
                </a:lnTo>
                <a:lnTo>
                  <a:pt x="0" y="328166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800546" y="1829693"/>
            <a:ext cx="70723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935831" y="1826865"/>
            <a:ext cx="2156237" cy="1656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305"/>
              </a:lnSpc>
              <a:buNone/>
            </a:pPr>
            <a:r>
              <a:rPr lang="en-US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winget install GitHub.Copilot</a:t>
            </a: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653355" y="2202656"/>
            <a:ext cx="3608189" cy="265510"/>
          </a:xfrm>
          <a:prstGeom prst="rect">
            <a:avLst/>
          </a:prstGeom>
          <a:noFill/>
          <a:ln/>
        </p:spPr>
        <p:txBody>
          <a:bodyPr wrap="square" lIns="13970" tIns="0" rIns="0" bIns="0" rtlCol="0" anchor="t"/>
          <a:lstStyle/>
          <a:p>
            <a:pPr marL="0" indent="0" algn="l">
              <a:spcAft>
                <a:spcPts val="1010"/>
              </a:spcAft>
              <a:buNone/>
            </a:pPr>
            <a:r>
              <a:rPr lang="en-US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the Windows Package Manager. Available on Windows 10 1709+ and Windows 11.</a:t>
            </a: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767507" y="3341331"/>
            <a:ext cx="979974" cy="1403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06"/>
              </a:lnSpc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Node.js required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53355" y="3389849"/>
            <a:ext cx="43160" cy="43160"/>
          </a:xfrm>
          <a:prstGeom prst="ellipse">
            <a:avLst/>
          </a:prstGeom>
          <a:solidFill>
            <a:srgbClr val="6E40C9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4800" dirty="0"/>
          </a:p>
        </p:txBody>
      </p:sp>
      <p:sp>
        <p:nvSpPr>
          <p:cNvPr id="13" name="Text 10"/>
          <p:cNvSpPr/>
          <p:nvPr/>
        </p:nvSpPr>
        <p:spPr>
          <a:xfrm>
            <a:off x="767507" y="3552667"/>
            <a:ext cx="1320984" cy="1403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06"/>
              </a:lnSpc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via </a:t>
            </a:r>
            <a:r>
              <a:rPr lang="en-US" sz="1600" dirty="0">
                <a:solidFill>
                  <a:srgbClr val="A78BFA"/>
                </a:solidFill>
                <a:highlight>
                  <a:srgbClr val="6E40C9">
                    <a:alpha val="10000"/>
                  </a:srgbClr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winget upgrade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53355" y="3601185"/>
            <a:ext cx="43160" cy="43160"/>
          </a:xfrm>
          <a:prstGeom prst="ellipse">
            <a:avLst/>
          </a:prstGeom>
          <a:solidFill>
            <a:srgbClr val="6E40C9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4800" dirty="0"/>
          </a:p>
        </p:txBody>
      </p:sp>
      <p:sp>
        <p:nvSpPr>
          <p:cNvPr id="15" name="Text 12"/>
          <p:cNvSpPr/>
          <p:nvPr/>
        </p:nvSpPr>
        <p:spPr>
          <a:xfrm>
            <a:off x="767507" y="3764003"/>
            <a:ext cx="1510397" cy="1403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06"/>
              </a:lnSpc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in PowerShell and CMD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53355" y="3812521"/>
            <a:ext cx="43160" cy="43160"/>
          </a:xfrm>
          <a:prstGeom prst="ellipse">
            <a:avLst/>
          </a:prstGeom>
          <a:solidFill>
            <a:srgbClr val="6E40C9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4800" dirty="0"/>
          </a:p>
        </p:txBody>
      </p:sp>
      <p:sp>
        <p:nvSpPr>
          <p:cNvPr id="19" name="Text 15"/>
          <p:cNvSpPr/>
          <p:nvPr/>
        </p:nvSpPr>
        <p:spPr>
          <a:xfrm>
            <a:off x="1656159" y="4495502"/>
            <a:ext cx="1618382" cy="214952"/>
          </a:xfrm>
          <a:prstGeom prst="roundRect">
            <a:avLst>
              <a:gd name="adj" fmla="val 66764"/>
            </a:avLst>
          </a:prstGeom>
          <a:solidFill>
            <a:srgbClr val="0078D7">
              <a:alpha val="12000"/>
            </a:srgbClr>
          </a:solidFill>
          <a:ln w="9525">
            <a:solidFill>
              <a:srgbClr val="0078D7">
                <a:alpha val="3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</a:t>
            </a:r>
            <a:endParaRPr lang="en-US" sz="1600" dirty="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97022" y="4526840"/>
            <a:ext cx="132588" cy="13258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658320" y="1079153"/>
            <a:ext cx="4056459" cy="3806577"/>
          </a:xfrm>
          <a:prstGeom prst="roundRect">
            <a:avLst>
              <a:gd name="adj" fmla="val 2636"/>
            </a:avLst>
          </a:prstGeom>
          <a:solidFill>
            <a:srgbClr val="161B22"/>
          </a:solidFill>
          <a:ln w="9525">
            <a:solidFill>
              <a:srgbClr val="FFFFFF">
                <a:alpha val="7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17"/>
          <p:cNvSpPr/>
          <p:nvPr/>
        </p:nvSpPr>
        <p:spPr>
          <a:xfrm>
            <a:off x="4882455" y="1289298"/>
            <a:ext cx="299591" cy="299591"/>
          </a:xfrm>
          <a:prstGeom prst="roundRect">
            <a:avLst>
              <a:gd name="adj" fmla="val 23739"/>
            </a:avLst>
          </a:prstGeom>
          <a:solidFill>
            <a:srgbClr val="6E40C9">
              <a:alpha val="18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sz="2400" dirty="0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65957" y="1372800"/>
            <a:ext cx="132588" cy="13258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268367" y="1301948"/>
            <a:ext cx="3222277" cy="277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84"/>
              </a:lnSpc>
              <a:buNone/>
            </a:pPr>
            <a:r>
              <a:rPr lang="en-US" sz="1600" b="1" dirty="0">
                <a:solidFill>
                  <a:srgbClr val="6E40C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macOS / Linux — Homebrew </a:t>
            </a:r>
            <a:r>
              <a:rPr lang="en-US" sz="16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Missing Package Manager</a:t>
            </a:r>
            <a:endParaRPr lang="en-US" sz="1600" dirty="0"/>
          </a:p>
        </p:txBody>
      </p:sp>
      <p:sp>
        <p:nvSpPr>
          <p:cNvPr id="25" name="Text 19"/>
          <p:cNvSpPr/>
          <p:nvPr/>
        </p:nvSpPr>
        <p:spPr>
          <a:xfrm>
            <a:off x="4882455" y="1717030"/>
            <a:ext cx="3608189" cy="385316"/>
          </a:xfrm>
          <a:prstGeom prst="roundRect">
            <a:avLst>
              <a:gd name="adj" fmla="val 14832"/>
            </a:avLst>
          </a:prstGeom>
          <a:solidFill>
            <a:srgbClr val="0D1117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0"/>
          <p:cNvSpPr/>
          <p:nvPr/>
        </p:nvSpPr>
        <p:spPr>
          <a:xfrm>
            <a:off x="4882455" y="1717030"/>
            <a:ext cx="19050" cy="385316"/>
          </a:xfrm>
          <a:custGeom>
            <a:avLst/>
            <a:gdLst/>
            <a:ahLst/>
            <a:cxnLst/>
            <a:rect l="l" t="t" r="r" b="b"/>
            <a:pathLst>
              <a:path w="19050" h="385316">
                <a:moveTo>
                  <a:pt x="0" y="57150"/>
                </a:moveTo>
                <a:lnTo>
                  <a:pt x="2381" y="40825"/>
                </a:lnTo>
                <a:lnTo>
                  <a:pt x="4763" y="34310"/>
                </a:lnTo>
                <a:lnTo>
                  <a:pt x="7144" y="29482"/>
                </a:lnTo>
                <a:lnTo>
                  <a:pt x="9525" y="25559"/>
                </a:lnTo>
                <a:lnTo>
                  <a:pt x="11906" y="22234"/>
                </a:lnTo>
                <a:lnTo>
                  <a:pt x="14288" y="19349"/>
                </a:lnTo>
                <a:lnTo>
                  <a:pt x="16669" y="16809"/>
                </a:lnTo>
                <a:lnTo>
                  <a:pt x="19050" y="14553"/>
                </a:lnTo>
                <a:lnTo>
                  <a:pt x="19050" y="370763"/>
                </a:lnTo>
                <a:lnTo>
                  <a:pt x="16669" y="368507"/>
                </a:lnTo>
                <a:lnTo>
                  <a:pt x="14288" y="365967"/>
                </a:lnTo>
                <a:lnTo>
                  <a:pt x="11906" y="363082"/>
                </a:lnTo>
                <a:lnTo>
                  <a:pt x="9525" y="359757"/>
                </a:lnTo>
                <a:lnTo>
                  <a:pt x="7144" y="355834"/>
                </a:lnTo>
                <a:lnTo>
                  <a:pt x="4763" y="351006"/>
                </a:lnTo>
                <a:lnTo>
                  <a:pt x="2381" y="344491"/>
                </a:lnTo>
                <a:lnTo>
                  <a:pt x="0" y="328166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2400" dirty="0"/>
          </a:p>
        </p:txBody>
      </p:sp>
      <p:sp>
        <p:nvSpPr>
          <p:cNvPr id="27" name="Text 21"/>
          <p:cNvSpPr/>
          <p:nvPr/>
        </p:nvSpPr>
        <p:spPr>
          <a:xfrm>
            <a:off x="5029646" y="1829693"/>
            <a:ext cx="70723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endParaRPr lang="en-US" dirty="0"/>
          </a:p>
        </p:txBody>
      </p:sp>
      <p:sp>
        <p:nvSpPr>
          <p:cNvPr id="28" name="Text 22"/>
          <p:cNvSpPr/>
          <p:nvPr/>
        </p:nvSpPr>
        <p:spPr>
          <a:xfrm>
            <a:off x="5164931" y="1826865"/>
            <a:ext cx="1784449" cy="1656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305"/>
              </a:lnSpc>
              <a:buNone/>
            </a:pPr>
            <a:r>
              <a:rPr lang="en-US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brew install copilot-cli</a:t>
            </a:r>
            <a:endParaRPr lang="en-US" dirty="0"/>
          </a:p>
        </p:txBody>
      </p:sp>
      <p:sp>
        <p:nvSpPr>
          <p:cNvPr id="29" name="Text 23"/>
          <p:cNvSpPr/>
          <p:nvPr/>
        </p:nvSpPr>
        <p:spPr>
          <a:xfrm>
            <a:off x="4882455" y="2202656"/>
            <a:ext cx="3969008" cy="133201"/>
          </a:xfrm>
          <a:prstGeom prst="rect">
            <a:avLst/>
          </a:prstGeom>
          <a:noFill/>
          <a:ln/>
        </p:spPr>
        <p:txBody>
          <a:bodyPr wrap="square" lIns="13970" tIns="0" rIns="0" bIns="0" rtlCol="0" anchor="t"/>
          <a:lstStyle/>
          <a:p>
            <a:pPr marL="0" indent="0" algn="l">
              <a:spcAft>
                <a:spcPts val="1010"/>
              </a:spcAft>
              <a:buNone/>
            </a:pPr>
            <a:r>
              <a:rPr lang="en-US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Homebrew first at brew.sh if not already available.</a:t>
            </a:r>
            <a:endParaRPr lang="en-US" dirty="0"/>
          </a:p>
        </p:txBody>
      </p:sp>
      <p:sp>
        <p:nvSpPr>
          <p:cNvPr id="30" name="Text 24"/>
          <p:cNvSpPr/>
          <p:nvPr/>
        </p:nvSpPr>
        <p:spPr>
          <a:xfrm>
            <a:off x="4996607" y="3341331"/>
            <a:ext cx="1849442" cy="1403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06"/>
              </a:lnSpc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Integrates with existing brew workflow</a:t>
            </a:r>
            <a:endParaRPr lang="en-US" sz="1600" dirty="0"/>
          </a:p>
        </p:txBody>
      </p:sp>
      <p:sp>
        <p:nvSpPr>
          <p:cNvPr id="31" name="Text 25"/>
          <p:cNvSpPr/>
          <p:nvPr/>
        </p:nvSpPr>
        <p:spPr>
          <a:xfrm>
            <a:off x="4882455" y="3389849"/>
            <a:ext cx="43160" cy="43160"/>
          </a:xfrm>
          <a:prstGeom prst="ellipse">
            <a:avLst/>
          </a:prstGeom>
          <a:solidFill>
            <a:srgbClr val="6E40C9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4800" dirty="0"/>
          </a:p>
        </p:txBody>
      </p:sp>
      <p:sp>
        <p:nvSpPr>
          <p:cNvPr id="32" name="Text 26"/>
          <p:cNvSpPr/>
          <p:nvPr/>
        </p:nvSpPr>
        <p:spPr>
          <a:xfrm>
            <a:off x="4996607" y="3552667"/>
            <a:ext cx="1247477" cy="1403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06"/>
              </a:lnSpc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via </a:t>
            </a:r>
            <a:r>
              <a:rPr lang="en-US" sz="1600" dirty="0">
                <a:solidFill>
                  <a:srgbClr val="A78BFA"/>
                </a:solidFill>
                <a:highlight>
                  <a:srgbClr val="6E40C9">
                    <a:alpha val="10000"/>
                  </a:srgbClr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brew upgrade</a:t>
            </a:r>
            <a:endParaRPr lang="en-US" sz="1600" dirty="0"/>
          </a:p>
        </p:txBody>
      </p:sp>
      <p:sp>
        <p:nvSpPr>
          <p:cNvPr id="33" name="Text 27"/>
          <p:cNvSpPr/>
          <p:nvPr/>
        </p:nvSpPr>
        <p:spPr>
          <a:xfrm>
            <a:off x="4882455" y="3601185"/>
            <a:ext cx="43160" cy="43160"/>
          </a:xfrm>
          <a:prstGeom prst="ellipse">
            <a:avLst/>
          </a:prstGeom>
          <a:solidFill>
            <a:srgbClr val="6E40C9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4800" dirty="0"/>
          </a:p>
        </p:txBody>
      </p:sp>
      <p:sp>
        <p:nvSpPr>
          <p:cNvPr id="34" name="Text 28"/>
          <p:cNvSpPr/>
          <p:nvPr/>
        </p:nvSpPr>
        <p:spPr>
          <a:xfrm>
            <a:off x="4996607" y="3764003"/>
            <a:ext cx="1375827" cy="1403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06"/>
              </a:lnSpc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in bash, zsh, and fish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4882455" y="3812521"/>
            <a:ext cx="43160" cy="43160"/>
          </a:xfrm>
          <a:prstGeom prst="ellipse">
            <a:avLst/>
          </a:prstGeom>
          <a:solidFill>
            <a:srgbClr val="6E40C9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4800" dirty="0"/>
          </a:p>
        </p:txBody>
      </p:sp>
      <p:sp>
        <p:nvSpPr>
          <p:cNvPr id="36" name="Text 30"/>
          <p:cNvSpPr/>
          <p:nvPr/>
        </p:nvSpPr>
        <p:spPr>
          <a:xfrm>
            <a:off x="5759788" y="4495502"/>
            <a:ext cx="520601" cy="214952"/>
          </a:xfrm>
          <a:prstGeom prst="roundRect">
            <a:avLst>
              <a:gd name="adj" fmla="val 66764"/>
            </a:avLst>
          </a:prstGeom>
          <a:solidFill>
            <a:srgbClr val="6E40C9">
              <a:alpha val="12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</a:t>
            </a:r>
            <a:endParaRPr lang="en-US" sz="1600" dirty="0"/>
          </a:p>
        </p:txBody>
      </p:sp>
      <p:pic>
        <p:nvPicPr>
          <p:cNvPr id="37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04088" y="4526840"/>
            <a:ext cx="132588" cy="132588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7487841" y="4444476"/>
            <a:ext cx="459284" cy="214952"/>
          </a:xfrm>
          <a:prstGeom prst="roundRect">
            <a:avLst>
              <a:gd name="adj" fmla="val 66764"/>
            </a:avLst>
          </a:prstGeom>
          <a:solidFill>
            <a:srgbClr val="6E40C9">
              <a:alpha val="12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</a:t>
            </a:r>
            <a:endParaRPr lang="en-US" sz="1600" dirty="0"/>
          </a:p>
        </p:txBody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43376" y="4526840"/>
            <a:ext cx="132588" cy="132588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438745" y="1088678"/>
            <a:ext cx="4037409" cy="21580"/>
          </a:xfrm>
          <a:custGeom>
            <a:avLst/>
            <a:gdLst/>
            <a:ahLst/>
            <a:cxnLst/>
            <a:rect l="l" t="t" r="r" b="b"/>
            <a:pathLst>
              <a:path w="4037409" h="21580">
                <a:moveTo>
                  <a:pt x="100330" y="0"/>
                </a:moveTo>
                <a:lnTo>
                  <a:pt x="3937080" y="0"/>
                </a:lnTo>
                <a:lnTo>
                  <a:pt x="3960188" y="2698"/>
                </a:lnTo>
                <a:lnTo>
                  <a:pt x="3969537" y="5395"/>
                </a:lnTo>
                <a:lnTo>
                  <a:pt x="3976556" y="8093"/>
                </a:lnTo>
                <a:lnTo>
                  <a:pt x="3982342" y="10790"/>
                </a:lnTo>
                <a:lnTo>
                  <a:pt x="3987324" y="13488"/>
                </a:lnTo>
                <a:lnTo>
                  <a:pt x="3991721" y="16185"/>
                </a:lnTo>
                <a:lnTo>
                  <a:pt x="3995666" y="18883"/>
                </a:lnTo>
                <a:lnTo>
                  <a:pt x="3999245" y="21580"/>
                </a:lnTo>
                <a:lnTo>
                  <a:pt x="38164" y="21580"/>
                </a:lnTo>
                <a:lnTo>
                  <a:pt x="41743" y="18883"/>
                </a:lnTo>
                <a:lnTo>
                  <a:pt x="45688" y="16185"/>
                </a:lnTo>
                <a:lnTo>
                  <a:pt x="50085" y="13488"/>
                </a:lnTo>
                <a:lnTo>
                  <a:pt x="55067" y="10790"/>
                </a:lnTo>
                <a:lnTo>
                  <a:pt x="60854" y="8093"/>
                </a:lnTo>
                <a:lnTo>
                  <a:pt x="67873" y="5395"/>
                </a:lnTo>
                <a:lnTo>
                  <a:pt x="77221" y="2698"/>
                </a:lnTo>
                <a:close/>
              </a:path>
            </a:pathLst>
          </a:custGeom>
          <a:gradFill rotWithShape="1">
            <a:gsLst>
              <a:gs pos="0">
                <a:srgbClr val="6E40C9"/>
              </a:gs>
              <a:gs pos="100000">
                <a:srgbClr val="9D6FDB"/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3"/>
          <p:cNvSpPr/>
          <p:nvPr/>
        </p:nvSpPr>
        <p:spPr>
          <a:xfrm>
            <a:off x="4667845" y="1088678"/>
            <a:ext cx="4037409" cy="21580"/>
          </a:xfrm>
          <a:custGeom>
            <a:avLst/>
            <a:gdLst/>
            <a:ahLst/>
            <a:cxnLst/>
            <a:rect l="l" t="t" r="r" b="b"/>
            <a:pathLst>
              <a:path w="4037409" h="21580">
                <a:moveTo>
                  <a:pt x="100330" y="0"/>
                </a:moveTo>
                <a:lnTo>
                  <a:pt x="3937080" y="0"/>
                </a:lnTo>
                <a:lnTo>
                  <a:pt x="3960188" y="2698"/>
                </a:lnTo>
                <a:lnTo>
                  <a:pt x="3969537" y="5395"/>
                </a:lnTo>
                <a:lnTo>
                  <a:pt x="3976556" y="8093"/>
                </a:lnTo>
                <a:lnTo>
                  <a:pt x="3982342" y="10790"/>
                </a:lnTo>
                <a:lnTo>
                  <a:pt x="3987324" y="13488"/>
                </a:lnTo>
                <a:lnTo>
                  <a:pt x="3991721" y="16185"/>
                </a:lnTo>
                <a:lnTo>
                  <a:pt x="3995666" y="18883"/>
                </a:lnTo>
                <a:lnTo>
                  <a:pt x="3999245" y="21580"/>
                </a:lnTo>
                <a:lnTo>
                  <a:pt x="38164" y="21580"/>
                </a:lnTo>
                <a:lnTo>
                  <a:pt x="41743" y="18883"/>
                </a:lnTo>
                <a:lnTo>
                  <a:pt x="45688" y="16185"/>
                </a:lnTo>
                <a:lnTo>
                  <a:pt x="50085" y="13488"/>
                </a:lnTo>
                <a:lnTo>
                  <a:pt x="55067" y="10790"/>
                </a:lnTo>
                <a:lnTo>
                  <a:pt x="60854" y="8093"/>
                </a:lnTo>
                <a:lnTo>
                  <a:pt x="67873" y="5395"/>
                </a:lnTo>
                <a:lnTo>
                  <a:pt x="77221" y="2698"/>
                </a:lnTo>
                <a:close/>
              </a:path>
            </a:pathLst>
          </a:custGeom>
          <a:gradFill rotWithShape="1">
            <a:gsLst>
              <a:gs pos="0">
                <a:srgbClr val="6E40C9"/>
              </a:gs>
              <a:gs pos="100000">
                <a:srgbClr val="9D6FDB"/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4" name="Text 36"/>
          <p:cNvSpPr/>
          <p:nvPr/>
        </p:nvSpPr>
        <p:spPr>
          <a:xfrm>
            <a:off x="429220" y="314920"/>
            <a:ext cx="1355464" cy="180231"/>
          </a:xfrm>
          <a:prstGeom prst="roundRect">
            <a:avLst>
              <a:gd name="adj" fmla="val 79626"/>
            </a:avLst>
          </a:prstGeom>
          <a:solidFill>
            <a:srgbClr val="6E40C9">
              <a:alpha val="15000"/>
            </a:srgbClr>
          </a:solidFill>
          <a:ln w="9525">
            <a:solidFill>
              <a:srgbClr val="6E40C9">
                <a:alpha val="35000"/>
              </a:srgbClr>
            </a:solidFill>
          </a:ln>
        </p:spPr>
        <p:txBody>
          <a:bodyPr wrap="none" lIns="182820" tIns="21590" rIns="86360" bIns="21590" rtlCol="0" anchor="ctr"/>
          <a:lstStyle/>
          <a:p>
            <a:pPr marL="0" indent="0" algn="l">
              <a:buNone/>
            </a:pPr>
            <a:r>
              <a:rPr lang="en-US" sz="1600" kern="0" spc="3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METHODS</a:t>
            </a:r>
            <a:endParaRPr lang="en-US" sz="1600" dirty="0"/>
          </a:p>
        </p:txBody>
      </p:sp>
      <p:pic>
        <p:nvPicPr>
          <p:cNvPr id="45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85412" y="338667"/>
            <a:ext cx="132588" cy="132588"/>
          </a:xfrm>
          <a:prstGeom prst="rect">
            <a:avLst/>
          </a:prstGeom>
        </p:spPr>
      </p:pic>
      <p:sp>
        <p:nvSpPr>
          <p:cNvPr id="46" name="Text 37"/>
          <p:cNvSpPr/>
          <p:nvPr/>
        </p:nvSpPr>
        <p:spPr>
          <a:xfrm>
            <a:off x="429220" y="566142"/>
            <a:ext cx="8865549" cy="312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61"/>
              </a:lnSpc>
              <a:buNone/>
            </a:pPr>
            <a:r>
              <a:rPr lang="en-US" sz="2140" kern="0" spc="-2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Platform-</a:t>
            </a:r>
            <a:r>
              <a:rPr lang="en-US" sz="2140" kern="0" spc="-20" dirty="0">
                <a:solidFill>
                  <a:srgbClr val="6E40C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Native</a:t>
            </a:r>
            <a:r>
              <a:rPr lang="en-US" sz="2140" kern="0" spc="-2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Installation</a:t>
            </a:r>
            <a:endParaRPr lang="en-US" sz="2140" dirty="0"/>
          </a:p>
        </p:txBody>
      </p:sp>
      <p:sp>
        <p:nvSpPr>
          <p:cNvPr id="47" name="Text 38"/>
          <p:cNvSpPr/>
          <p:nvPr/>
        </p:nvSpPr>
        <p:spPr>
          <a:xfrm>
            <a:off x="-457200" y="4905375"/>
            <a:ext cx="10058400" cy="1238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975"/>
              </a:lnSpc>
              <a:buNone/>
            </a:pPr>
            <a:r>
              <a:rPr lang="en-US" sz="6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Node.js dependency for either method — install natively with your platform's package manager</a:t>
            </a:r>
            <a:endParaRPr lang="en-US" sz="650" dirty="0"/>
          </a:p>
        </p:txBody>
      </p:sp>
      <p:sp>
        <p:nvSpPr>
          <p:cNvPr id="48" name="Text 39"/>
          <p:cNvSpPr/>
          <p:nvPr/>
        </p:nvSpPr>
        <p:spPr>
          <a:xfrm>
            <a:off x="4597375" y="1079153"/>
            <a:ext cx="7590" cy="3806577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20000">
                <a:srgbClr val="6E40C9">
                  <a:alpha val="30000"/>
                </a:srgbClr>
              </a:gs>
              <a:gs pos="80000">
                <a:srgbClr val="6E40C9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40"/>
          <p:cNvSpPr/>
          <p:nvPr/>
        </p:nvSpPr>
        <p:spPr>
          <a:xfrm>
            <a:off x="4394224" y="3274835"/>
            <a:ext cx="228600" cy="251460"/>
          </a:xfrm>
          <a:prstGeom prst="ellipse">
            <a:avLst/>
          </a:prstGeom>
          <a:solidFill>
            <a:srgbClr val="161B22"/>
          </a:solidFill>
          <a:ln w="9525">
            <a:solidFill>
              <a:srgbClr val="6E40C9">
                <a:alpha val="4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92D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</a:t>
            </a:r>
            <a:endParaRPr lang="en-US" sz="2400" dirty="0">
              <a:solidFill>
                <a:srgbClr val="92D050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6E40C9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15902"/>
            <a:ext cx="9144000" cy="5143500"/>
          </a:xfrm>
          <a:prstGeom prst="rect">
            <a:avLst/>
          </a:prstGeom>
          <a:gradFill rotWithShape="1">
            <a:gsLst>
              <a:gs pos="0">
                <a:srgbClr val="6E40C9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29170" cy="5143500"/>
          </a:xfrm>
          <a:prstGeom prst="rect">
            <a:avLst/>
          </a:prstGeom>
          <a:gradFill rotWithShape="1">
            <a:gsLst>
              <a:gs pos="0">
                <a:srgbClr val="6E40C9"/>
              </a:gs>
              <a:gs pos="8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428875" y="0"/>
            <a:ext cx="4286250" cy="13841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6E40C9">
                  <a:alpha val="6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66725" y="1257300"/>
            <a:ext cx="1845021" cy="3220936"/>
          </a:xfrm>
          <a:prstGeom prst="roundRect">
            <a:avLst>
              <a:gd name="adj" fmla="val 4681"/>
            </a:avLst>
          </a:prstGeom>
          <a:gradFill rotWithShape="1">
            <a:gsLst>
              <a:gs pos="0">
                <a:srgbClr val="6E40C9">
                  <a:alpha val="7000"/>
                </a:srgbClr>
              </a:gs>
              <a:gs pos="6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2588568" y="1257300"/>
            <a:ext cx="1845021" cy="3220936"/>
          </a:xfrm>
          <a:prstGeom prst="roundRect">
            <a:avLst>
              <a:gd name="adj" fmla="val 4681"/>
            </a:avLst>
          </a:prstGeom>
          <a:gradFill rotWithShape="1">
            <a:gsLst>
              <a:gs pos="0">
                <a:srgbClr val="6E40C9">
                  <a:alpha val="7000"/>
                </a:srgbClr>
              </a:gs>
              <a:gs pos="6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710410" y="1257300"/>
            <a:ext cx="1845021" cy="3220936"/>
          </a:xfrm>
          <a:prstGeom prst="roundRect">
            <a:avLst>
              <a:gd name="adj" fmla="val 4681"/>
            </a:avLst>
          </a:prstGeom>
          <a:gradFill rotWithShape="1">
            <a:gsLst>
              <a:gs pos="0">
                <a:srgbClr val="6E40C9">
                  <a:alpha val="7000"/>
                </a:srgbClr>
              </a:gs>
              <a:gs pos="6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832253" y="1257300"/>
            <a:ext cx="1845021" cy="3220936"/>
          </a:xfrm>
          <a:prstGeom prst="roundRect">
            <a:avLst>
              <a:gd name="adj" fmla="val 4681"/>
            </a:avLst>
          </a:prstGeom>
          <a:gradFill rotWithShape="1">
            <a:gsLst>
              <a:gs pos="0">
                <a:srgbClr val="6E40C9">
                  <a:alpha val="7000"/>
                </a:srgbClr>
              </a:gs>
              <a:gs pos="6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10195" y="1414760"/>
            <a:ext cx="285750" cy="314325"/>
          </a:xfrm>
          <a:prstGeom prst="ellipse">
            <a:avLst/>
          </a:prstGeom>
          <a:solidFill>
            <a:srgbClr val="6E40C9"/>
          </a:solidFill>
          <a:ln/>
          <a:effectLst>
            <a:outerShdw blurRad="114300" dist="50800" dir="16200000" algn="bl" rotWithShape="0">
              <a:srgbClr val="6E40C9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1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</a:t>
            </a:r>
            <a:endParaRPr lang="en-US" sz="1010" dirty="0"/>
          </a:p>
        </p:txBody>
      </p:sp>
      <p:sp>
        <p:nvSpPr>
          <p:cNvPr id="11" name="Text 9"/>
          <p:cNvSpPr/>
          <p:nvPr/>
        </p:nvSpPr>
        <p:spPr>
          <a:xfrm>
            <a:off x="2732038" y="1414760"/>
            <a:ext cx="285750" cy="314325"/>
          </a:xfrm>
          <a:prstGeom prst="ellipse">
            <a:avLst/>
          </a:prstGeom>
          <a:solidFill>
            <a:srgbClr val="6E40C9"/>
          </a:solidFill>
          <a:ln/>
          <a:effectLst>
            <a:outerShdw blurRad="114300" dist="50800" dir="16200000" algn="bl" rotWithShape="0">
              <a:srgbClr val="6E40C9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1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</a:t>
            </a:r>
            <a:endParaRPr lang="en-US" sz="1010" dirty="0"/>
          </a:p>
        </p:txBody>
      </p:sp>
      <p:sp>
        <p:nvSpPr>
          <p:cNvPr id="12" name="Text 10"/>
          <p:cNvSpPr/>
          <p:nvPr/>
        </p:nvSpPr>
        <p:spPr>
          <a:xfrm>
            <a:off x="4853880" y="1414760"/>
            <a:ext cx="285750" cy="314325"/>
          </a:xfrm>
          <a:prstGeom prst="ellipse">
            <a:avLst/>
          </a:prstGeom>
          <a:solidFill>
            <a:srgbClr val="6E40C9"/>
          </a:solidFill>
          <a:ln/>
          <a:effectLst>
            <a:outerShdw blurRad="114300" dist="50800" dir="16200000" algn="bl" rotWithShape="0">
              <a:srgbClr val="6E40C9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1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</a:t>
            </a:r>
            <a:endParaRPr lang="en-US" sz="1010" dirty="0"/>
          </a:p>
        </p:txBody>
      </p:sp>
      <p:sp>
        <p:nvSpPr>
          <p:cNvPr id="13" name="Text 11"/>
          <p:cNvSpPr/>
          <p:nvPr/>
        </p:nvSpPr>
        <p:spPr>
          <a:xfrm>
            <a:off x="6975723" y="1414760"/>
            <a:ext cx="285750" cy="314325"/>
          </a:xfrm>
          <a:prstGeom prst="ellipse">
            <a:avLst/>
          </a:prstGeom>
          <a:solidFill>
            <a:srgbClr val="6E40C9"/>
          </a:solidFill>
          <a:ln/>
          <a:effectLst>
            <a:outerShdw blurRad="114300" dist="50800" dir="16200000" algn="bl" rotWithShape="0">
              <a:srgbClr val="6E40C9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1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</a:t>
            </a:r>
            <a:endParaRPr lang="en-US" sz="1010" dirty="0"/>
          </a:p>
        </p:txBody>
      </p:sp>
      <p:sp>
        <p:nvSpPr>
          <p:cNvPr id="14" name="Text 12"/>
          <p:cNvSpPr/>
          <p:nvPr/>
        </p:nvSpPr>
        <p:spPr>
          <a:xfrm>
            <a:off x="457200" y="362843"/>
            <a:ext cx="43160" cy="43160"/>
          </a:xfrm>
          <a:prstGeom prst="ellipse">
            <a:avLst/>
          </a:prstGeom>
          <a:solidFill>
            <a:srgbClr val="6E40C9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57510" y="314920"/>
            <a:ext cx="899264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LAUNCH</a:t>
            </a:r>
            <a:endParaRPr lang="en-US" sz="730" dirty="0"/>
          </a:p>
        </p:txBody>
      </p:sp>
      <p:sp>
        <p:nvSpPr>
          <p:cNvPr id="16" name="Text 14"/>
          <p:cNvSpPr/>
          <p:nvPr/>
        </p:nvSpPr>
        <p:spPr>
          <a:xfrm>
            <a:off x="457200" y="524917"/>
            <a:ext cx="8805672" cy="2963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35"/>
              </a:lnSpc>
              <a:spcAft>
                <a:spcPts val="340"/>
              </a:spcAft>
              <a:buNone/>
            </a:pPr>
            <a:r>
              <a:rPr lang="en-US" sz="2030" kern="0" spc="-2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Starting the CLI for the </a:t>
            </a:r>
            <a:r>
              <a:rPr lang="en-US" sz="2030" b="1" kern="0" spc="-20" dirty="0">
                <a:solidFill>
                  <a:srgbClr val="6E40C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First Time</a:t>
            </a:r>
            <a:endParaRPr lang="en-US" sz="2030" dirty="0"/>
          </a:p>
        </p:txBody>
      </p:sp>
      <p:sp>
        <p:nvSpPr>
          <p:cNvPr id="17" name="Text 15"/>
          <p:cNvSpPr/>
          <p:nvPr/>
        </p:nvSpPr>
        <p:spPr>
          <a:xfrm>
            <a:off x="457200" y="864394"/>
            <a:ext cx="9052560" cy="182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96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steps to your first AI-powered terminal session</a:t>
            </a:r>
            <a:endParaRPr lang="en-US" sz="960" dirty="0"/>
          </a:p>
        </p:txBody>
      </p:sp>
      <p:sp>
        <p:nvSpPr>
          <p:cNvPr id="18" name="Text 16"/>
          <p:cNvSpPr/>
          <p:nvPr/>
        </p:nvSpPr>
        <p:spPr>
          <a:xfrm>
            <a:off x="457200" y="1247775"/>
            <a:ext cx="1864072" cy="3239988"/>
          </a:xfrm>
          <a:prstGeom prst="roundRect">
            <a:avLst>
              <a:gd name="adj" fmla="val 4633"/>
            </a:avLst>
          </a:prstGeom>
          <a:solidFill>
            <a:srgbClr val="161B22"/>
          </a:solidFill>
          <a:ln w="9525">
            <a:solidFill>
              <a:srgbClr val="6E40C9">
                <a:alpha val="2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796207" y="1414760"/>
            <a:ext cx="372070" cy="372070"/>
          </a:xfrm>
          <a:prstGeom prst="roundRect">
            <a:avLst>
              <a:gd name="adj" fmla="val 19115"/>
            </a:avLst>
          </a:prstGeom>
          <a:solidFill>
            <a:srgbClr val="6E40C9">
              <a:alpha val="15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12739" y="1531293"/>
            <a:ext cx="139005" cy="139005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610195" y="1958132"/>
            <a:ext cx="1713890" cy="1522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600" b="1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Navigate to Your Project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10195" y="2167533"/>
            <a:ext cx="1589243" cy="1928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terminal and </a:t>
            </a:r>
            <a:r>
              <a:rPr lang="en-US" sz="14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</a:t>
            </a: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the project directory you want Copilot to help with.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610194" y="4133552"/>
            <a:ext cx="1242051" cy="221337"/>
          </a:xfrm>
          <a:prstGeom prst="roundRect">
            <a:avLst>
              <a:gd name="adj" fmla="val 19509"/>
            </a:avLst>
          </a:prstGeom>
          <a:solidFill>
            <a:srgbClr val="6E40C9">
              <a:alpha val="12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~/my-project</a:t>
            </a:r>
            <a:endParaRPr lang="en-US" sz="1200" dirty="0"/>
          </a:p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>
            <a:alphaModFix amt="6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83789" y="2772826"/>
            <a:ext cx="132588" cy="132588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2579043" y="1247775"/>
            <a:ext cx="1864072" cy="3239988"/>
          </a:xfrm>
          <a:prstGeom prst="roundRect">
            <a:avLst>
              <a:gd name="adj" fmla="val 4633"/>
            </a:avLst>
          </a:prstGeom>
          <a:solidFill>
            <a:srgbClr val="161B22"/>
          </a:solidFill>
          <a:ln w="9525">
            <a:solidFill>
              <a:srgbClr val="6E40C9">
                <a:alpha val="2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2"/>
          <p:cNvSpPr/>
          <p:nvPr/>
        </p:nvSpPr>
        <p:spPr>
          <a:xfrm>
            <a:off x="3918049" y="1414760"/>
            <a:ext cx="372070" cy="372070"/>
          </a:xfrm>
          <a:prstGeom prst="roundRect">
            <a:avLst>
              <a:gd name="adj" fmla="val 19115"/>
            </a:avLst>
          </a:prstGeom>
          <a:solidFill>
            <a:srgbClr val="6E40C9">
              <a:alpha val="15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34582" y="1531293"/>
            <a:ext cx="139005" cy="139005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2732038" y="1958132"/>
            <a:ext cx="1713890" cy="1522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600" b="1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Launch the CLI</a:t>
            </a:r>
            <a:endParaRPr lang="en-US" sz="1600" dirty="0"/>
          </a:p>
        </p:txBody>
      </p:sp>
      <p:sp>
        <p:nvSpPr>
          <p:cNvPr id="29" name="Text 24"/>
          <p:cNvSpPr/>
          <p:nvPr/>
        </p:nvSpPr>
        <p:spPr>
          <a:xfrm>
            <a:off x="2732038" y="2167533"/>
            <a:ext cx="1589243" cy="1928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</a:t>
            </a:r>
            <a:r>
              <a:rPr lang="en-US" sz="14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</a:t>
            </a: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command to start an interactive Copilot CLI session in your current directory.</a:t>
            </a:r>
            <a:endParaRPr lang="en-US" sz="1400" dirty="0"/>
          </a:p>
        </p:txBody>
      </p:sp>
      <p:sp>
        <p:nvSpPr>
          <p:cNvPr id="30" name="Text 25"/>
          <p:cNvSpPr/>
          <p:nvPr/>
        </p:nvSpPr>
        <p:spPr>
          <a:xfrm>
            <a:off x="2732037" y="4133552"/>
            <a:ext cx="1037425" cy="221337"/>
          </a:xfrm>
          <a:prstGeom prst="roundRect">
            <a:avLst>
              <a:gd name="adj" fmla="val 19509"/>
            </a:avLst>
          </a:prstGeom>
          <a:solidFill>
            <a:srgbClr val="6E40C9">
              <a:alpha val="12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copilot</a:t>
            </a:r>
            <a:endParaRPr lang="en-US" sz="1200" dirty="0"/>
          </a:p>
        </p:txBody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>
            <a:alphaModFix amt="60000"/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05632" y="2772826"/>
            <a:ext cx="132588" cy="132588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4700885" y="1247775"/>
            <a:ext cx="1864072" cy="3239988"/>
          </a:xfrm>
          <a:prstGeom prst="roundRect">
            <a:avLst>
              <a:gd name="adj" fmla="val 4633"/>
            </a:avLst>
          </a:prstGeom>
          <a:solidFill>
            <a:srgbClr val="161B22"/>
          </a:solidFill>
          <a:ln w="9525">
            <a:solidFill>
              <a:srgbClr val="6E40C9">
                <a:alpha val="2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27"/>
          <p:cNvSpPr/>
          <p:nvPr/>
        </p:nvSpPr>
        <p:spPr>
          <a:xfrm>
            <a:off x="6039892" y="1414760"/>
            <a:ext cx="372070" cy="372070"/>
          </a:xfrm>
          <a:prstGeom prst="roundRect">
            <a:avLst>
              <a:gd name="adj" fmla="val 19115"/>
            </a:avLst>
          </a:prstGeom>
          <a:solidFill>
            <a:srgbClr val="6E40C9">
              <a:alpha val="15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156424" y="1531293"/>
            <a:ext cx="139005" cy="139005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4853880" y="1958132"/>
            <a:ext cx="1713890" cy="1522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600" b="1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Authenticate</a:t>
            </a:r>
            <a:endParaRPr lang="en-US" sz="1600" dirty="0"/>
          </a:p>
        </p:txBody>
      </p:sp>
      <p:sp>
        <p:nvSpPr>
          <p:cNvPr id="36" name="Text 29"/>
          <p:cNvSpPr/>
          <p:nvPr/>
        </p:nvSpPr>
        <p:spPr>
          <a:xfrm>
            <a:off x="4853880" y="2167533"/>
            <a:ext cx="1589243" cy="1928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</a:t>
            </a:r>
            <a:r>
              <a:rPr lang="en-US" sz="14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/login</a:t>
            </a: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follow the on-screen prompts to connect your GitHub account. </a:t>
            </a:r>
            <a:r>
              <a:rPr lang="en-US" sz="14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(one-time only)</a:t>
            </a:r>
            <a:endParaRPr lang="en-US" sz="1400" dirty="0"/>
          </a:p>
        </p:txBody>
      </p:sp>
      <p:sp>
        <p:nvSpPr>
          <p:cNvPr id="37" name="Text 30"/>
          <p:cNvSpPr/>
          <p:nvPr/>
        </p:nvSpPr>
        <p:spPr>
          <a:xfrm>
            <a:off x="4853880" y="4133552"/>
            <a:ext cx="843535" cy="221337"/>
          </a:xfrm>
          <a:prstGeom prst="roundRect">
            <a:avLst>
              <a:gd name="adj" fmla="val 19509"/>
            </a:avLst>
          </a:prstGeom>
          <a:solidFill>
            <a:srgbClr val="6E40C9">
              <a:alpha val="12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/login</a:t>
            </a:r>
            <a:endParaRPr lang="en-US" sz="1200" dirty="0"/>
          </a:p>
        </p:txBody>
      </p:sp>
      <p:pic>
        <p:nvPicPr>
          <p:cNvPr id="38" name="Image 5" descr="preencoded.png"/>
          <p:cNvPicPr>
            <a:picLocks noChangeAspect="1"/>
          </p:cNvPicPr>
          <p:nvPr/>
        </p:nvPicPr>
        <p:blipFill>
          <a:blip>
            <a:alphaModFix amt="60000"/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27474" y="2772826"/>
            <a:ext cx="132588" cy="132588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6822728" y="1247775"/>
            <a:ext cx="1864072" cy="3239988"/>
          </a:xfrm>
          <a:prstGeom prst="roundRect">
            <a:avLst>
              <a:gd name="adj" fmla="val 4633"/>
            </a:avLst>
          </a:prstGeom>
          <a:solidFill>
            <a:srgbClr val="161B22"/>
          </a:solidFill>
          <a:ln w="9525">
            <a:solidFill>
              <a:srgbClr val="6E40C9">
                <a:alpha val="2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2"/>
          <p:cNvSpPr/>
          <p:nvPr/>
        </p:nvSpPr>
        <p:spPr>
          <a:xfrm>
            <a:off x="8161734" y="1414760"/>
            <a:ext cx="372070" cy="372070"/>
          </a:xfrm>
          <a:prstGeom prst="roundRect">
            <a:avLst>
              <a:gd name="adj" fmla="val 19115"/>
            </a:avLst>
          </a:prstGeom>
          <a:solidFill>
            <a:srgbClr val="6E40C9">
              <a:alpha val="15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1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278267" y="1531293"/>
            <a:ext cx="139005" cy="139005"/>
          </a:xfrm>
          <a:prstGeom prst="rect">
            <a:avLst/>
          </a:prstGeom>
        </p:spPr>
      </p:pic>
      <p:sp>
        <p:nvSpPr>
          <p:cNvPr id="42" name="Text 33"/>
          <p:cNvSpPr/>
          <p:nvPr/>
        </p:nvSpPr>
        <p:spPr>
          <a:xfrm>
            <a:off x="6975723" y="1958132"/>
            <a:ext cx="1713890" cy="1522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600" b="1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Trust Your Directory</a:t>
            </a:r>
            <a:endParaRPr lang="en-US" sz="1600" dirty="0"/>
          </a:p>
        </p:txBody>
      </p:sp>
      <p:sp>
        <p:nvSpPr>
          <p:cNvPr id="43" name="Text 34"/>
          <p:cNvSpPr/>
          <p:nvPr/>
        </p:nvSpPr>
        <p:spPr>
          <a:xfrm>
            <a:off x="6975723" y="2167533"/>
            <a:ext cx="1589243" cy="2039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that files in the current directory are suitable for use with an AI tool when prompted by the CLI.</a:t>
            </a:r>
            <a:endParaRPr lang="en-US" sz="1400" dirty="0"/>
          </a:p>
        </p:txBody>
      </p:sp>
      <p:pic>
        <p:nvPicPr>
          <p:cNvPr id="44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947008" y="4183267"/>
            <a:ext cx="132588" cy="132588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7094040" y="4195763"/>
            <a:ext cx="1439763" cy="1325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12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prompt</a:t>
            </a:r>
            <a:endParaRPr lang="en-US" sz="1200" dirty="0"/>
          </a:p>
        </p:txBody>
      </p:sp>
      <p:sp>
        <p:nvSpPr>
          <p:cNvPr id="46" name="Text 36"/>
          <p:cNvSpPr/>
          <p:nvPr/>
        </p:nvSpPr>
        <p:spPr>
          <a:xfrm>
            <a:off x="457200" y="4615904"/>
            <a:ext cx="8229600" cy="326975"/>
          </a:xfrm>
          <a:prstGeom prst="roundRect">
            <a:avLst>
              <a:gd name="adj" fmla="val 17478"/>
            </a:avLst>
          </a:prstGeom>
          <a:solidFill>
            <a:srgbClr val="6E40C9">
              <a:alpha val="7000"/>
            </a:srgbClr>
          </a:solidFill>
          <a:ln w="9525">
            <a:solidFill>
              <a:srgbClr val="6E40C9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7" name="Image 8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92129" y="4605337"/>
            <a:ext cx="330762" cy="330762"/>
          </a:xfrm>
          <a:prstGeom prst="rect">
            <a:avLst/>
          </a:prstGeom>
        </p:spPr>
      </p:pic>
      <p:sp>
        <p:nvSpPr>
          <p:cNvPr id="48" name="Text 37"/>
          <p:cNvSpPr/>
          <p:nvPr/>
        </p:nvSpPr>
        <p:spPr>
          <a:xfrm>
            <a:off x="766910" y="4704159"/>
            <a:ext cx="7919889" cy="23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185"/>
              </a:lnSpc>
              <a:buNone/>
            </a:pPr>
            <a:r>
              <a:rPr lang="en-US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guarantee: Copilot will never modify your files without your explicit approval.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6E40C9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8792"/>
            <a:ext cx="9144000" cy="5143500"/>
          </a:xfrm>
          <a:prstGeom prst="rect">
            <a:avLst/>
          </a:prstGeom>
          <a:gradFill rotWithShape="1">
            <a:gsLst>
              <a:gs pos="0">
                <a:srgbClr val="6E40C9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572250" y="0"/>
            <a:ext cx="2571750" cy="2285955"/>
          </a:xfrm>
          <a:prstGeom prst="ellipse">
            <a:avLst/>
          </a:prstGeom>
          <a:gradFill rotWithShape="1">
            <a:gsLst>
              <a:gs pos="0">
                <a:srgbClr val="6E40C9">
                  <a:alpha val="1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0" y="2856309"/>
            <a:ext cx="1572216" cy="2143716"/>
          </a:xfrm>
          <a:prstGeom prst="ellipse">
            <a:avLst/>
          </a:prstGeom>
          <a:gradFill rotWithShape="1">
            <a:gsLst>
              <a:gs pos="0">
                <a:srgbClr val="6E40C9">
                  <a:alpha val="7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0" y="0"/>
            <a:ext cx="35421" cy="5143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30000">
                <a:srgbClr val="6E40C9"/>
              </a:gs>
              <a:gs pos="60000">
                <a:srgbClr val="9B72F5"/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743230" y="635050"/>
            <a:ext cx="1229320" cy="961281"/>
          </a:xfrm>
          <a:prstGeom prst="roundRect">
            <a:avLst>
              <a:gd name="adj" fmla="val 8984"/>
            </a:avLst>
          </a:prstGeom>
          <a:solidFill>
            <a:srgbClr val="161B22"/>
          </a:solidFill>
          <a:ln w="9525">
            <a:solidFill>
              <a:srgbClr val="6E40C9">
                <a:alpha val="2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200430" y="758875"/>
            <a:ext cx="314920" cy="314920"/>
          </a:xfrm>
          <a:prstGeom prst="ellipse">
            <a:avLst/>
          </a:prstGeom>
          <a:solidFill>
            <a:srgbClr val="6E40C9">
              <a:alpha val="20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91521" y="849966"/>
            <a:ext cx="132588" cy="13258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875152" y="1130946"/>
            <a:ext cx="965326" cy="994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806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via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944374" y="1290340"/>
            <a:ext cx="827032" cy="182166"/>
          </a:xfrm>
          <a:prstGeom prst="roundRect">
            <a:avLst>
              <a:gd name="adj" fmla="val 19521"/>
            </a:avLst>
          </a:prstGeom>
          <a:solidFill>
            <a:srgbClr val="6E40C9">
              <a:alpha val="12000"/>
            </a:srgbClr>
          </a:solidFill>
          <a:ln/>
        </p:spPr>
        <p:txBody>
          <a:bodyPr wrap="none" lIns="71120" tIns="21590" rIns="71120" bIns="2159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9B7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OAuth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8350895" y="1739801"/>
            <a:ext cx="13841" cy="14347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6E40C9">
                  <a:alpha val="50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7743230" y="2026741"/>
            <a:ext cx="1229320" cy="940296"/>
          </a:xfrm>
          <a:prstGeom prst="roundRect">
            <a:avLst>
              <a:gd name="adj" fmla="val 9184"/>
            </a:avLst>
          </a:prstGeom>
          <a:solidFill>
            <a:srgbClr val="161B22"/>
          </a:solidFill>
          <a:ln w="9525">
            <a:solidFill>
              <a:srgbClr val="6E40C9">
                <a:alpha val="2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8200430" y="2150566"/>
            <a:ext cx="314920" cy="314920"/>
          </a:xfrm>
          <a:prstGeom prst="ellipse">
            <a:avLst/>
          </a:prstGeom>
          <a:solidFill>
            <a:srgbClr val="6E40C9">
              <a:alpha val="20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91521" y="2241658"/>
            <a:ext cx="132588" cy="13258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801721" y="2522638"/>
            <a:ext cx="1111757" cy="84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806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setup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7875152" y="2682032"/>
            <a:ext cx="965326" cy="161181"/>
          </a:xfrm>
          <a:prstGeom prst="roundRect">
            <a:avLst>
              <a:gd name="adj" fmla="val 22062"/>
            </a:avLst>
          </a:prstGeom>
          <a:solidFill>
            <a:srgbClr val="6E40C9">
              <a:alpha val="12000"/>
            </a:srgbClr>
          </a:solidFill>
          <a:ln/>
        </p:spPr>
        <p:txBody>
          <a:bodyPr wrap="none" lIns="71120" tIns="21590" rIns="71120" bIns="2159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9B7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Credentials saved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350895" y="3110508"/>
            <a:ext cx="13841" cy="14347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6E40C9">
                  <a:alpha val="50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5"/>
          <p:cNvSpPr/>
          <p:nvPr/>
        </p:nvSpPr>
        <p:spPr>
          <a:xfrm>
            <a:off x="7681764" y="3397448"/>
            <a:ext cx="1352252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840"/>
              </a:lnSpc>
              <a:buNone/>
            </a:pPr>
            <a:r>
              <a:rPr lang="en-US" sz="1000" kern="0" spc="34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PLANS SUPPORTED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7730936" y="3547318"/>
            <a:ext cx="1253907" cy="207913"/>
          </a:xfrm>
          <a:prstGeom prst="roundRect">
            <a:avLst>
              <a:gd name="adj" fmla="val 69024"/>
            </a:avLst>
          </a:prstGeom>
          <a:solidFill>
            <a:srgbClr val="6E40C9">
              <a:alpha val="10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172700" tIns="35560" rIns="86360" bIns="3556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7803612" y="3629620"/>
            <a:ext cx="43160" cy="43160"/>
          </a:xfrm>
          <a:prstGeom prst="ellipse">
            <a:avLst/>
          </a:prstGeom>
          <a:solidFill>
            <a:srgbClr val="3FB950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18"/>
          <p:cNvSpPr/>
          <p:nvPr/>
        </p:nvSpPr>
        <p:spPr>
          <a:xfrm>
            <a:off x="7730936" y="3798391"/>
            <a:ext cx="1253907" cy="207913"/>
          </a:xfrm>
          <a:prstGeom prst="roundRect">
            <a:avLst>
              <a:gd name="adj" fmla="val 69024"/>
            </a:avLst>
          </a:prstGeom>
          <a:solidFill>
            <a:srgbClr val="6E40C9">
              <a:alpha val="10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172700" tIns="35560" rIns="86360" bIns="3556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</a:t>
            </a:r>
            <a:endParaRPr lang="en-US" sz="1050" dirty="0"/>
          </a:p>
        </p:txBody>
      </p:sp>
      <p:sp>
        <p:nvSpPr>
          <p:cNvPr id="23" name="Text 19"/>
          <p:cNvSpPr/>
          <p:nvPr/>
        </p:nvSpPr>
        <p:spPr>
          <a:xfrm>
            <a:off x="7807889" y="3880693"/>
            <a:ext cx="43160" cy="43160"/>
          </a:xfrm>
          <a:prstGeom prst="ellipse">
            <a:avLst/>
          </a:prstGeom>
          <a:solidFill>
            <a:srgbClr val="3FB950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0"/>
          <p:cNvSpPr/>
          <p:nvPr/>
        </p:nvSpPr>
        <p:spPr>
          <a:xfrm>
            <a:off x="7730936" y="4049464"/>
            <a:ext cx="1253907" cy="207913"/>
          </a:xfrm>
          <a:prstGeom prst="roundRect">
            <a:avLst>
              <a:gd name="adj" fmla="val 69024"/>
            </a:avLst>
          </a:prstGeom>
          <a:solidFill>
            <a:srgbClr val="6E40C9">
              <a:alpha val="10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172700" tIns="35560" rIns="86360" bIns="3556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7801722" y="4131766"/>
            <a:ext cx="43160" cy="43160"/>
          </a:xfrm>
          <a:prstGeom prst="ellipse">
            <a:avLst/>
          </a:prstGeom>
          <a:solidFill>
            <a:srgbClr val="3FB950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2"/>
          <p:cNvSpPr/>
          <p:nvPr/>
        </p:nvSpPr>
        <p:spPr>
          <a:xfrm>
            <a:off x="7730936" y="4300538"/>
            <a:ext cx="1253907" cy="207913"/>
          </a:xfrm>
          <a:prstGeom prst="roundRect">
            <a:avLst>
              <a:gd name="adj" fmla="val 69024"/>
            </a:avLst>
          </a:prstGeom>
          <a:solidFill>
            <a:srgbClr val="6E40C9">
              <a:alpha val="10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172700" tIns="35560" rIns="86360" bIns="3556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7805129" y="4382839"/>
            <a:ext cx="43160" cy="43160"/>
          </a:xfrm>
          <a:prstGeom prst="ellipse">
            <a:avLst/>
          </a:prstGeom>
          <a:solidFill>
            <a:srgbClr val="3FB950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4"/>
          <p:cNvSpPr/>
          <p:nvPr/>
        </p:nvSpPr>
        <p:spPr>
          <a:xfrm>
            <a:off x="387846" y="1291084"/>
            <a:ext cx="21580" cy="485775"/>
          </a:xfrm>
          <a:custGeom>
            <a:avLst/>
            <a:gdLst/>
            <a:ahLst/>
            <a:cxnLst/>
            <a:rect l="l" t="t" r="r" b="b"/>
            <a:pathLst>
              <a:path w="21580" h="485775">
                <a:moveTo>
                  <a:pt x="0" y="71120"/>
                </a:moveTo>
                <a:lnTo>
                  <a:pt x="2698" y="51719"/>
                </a:lnTo>
                <a:lnTo>
                  <a:pt x="5395" y="43949"/>
                </a:lnTo>
                <a:lnTo>
                  <a:pt x="8093" y="38172"/>
                </a:lnTo>
                <a:lnTo>
                  <a:pt x="10790" y="33459"/>
                </a:lnTo>
                <a:lnTo>
                  <a:pt x="13488" y="29448"/>
                </a:lnTo>
                <a:lnTo>
                  <a:pt x="16185" y="25951"/>
                </a:lnTo>
                <a:lnTo>
                  <a:pt x="18883" y="22857"/>
                </a:lnTo>
                <a:lnTo>
                  <a:pt x="21580" y="20092"/>
                </a:lnTo>
                <a:lnTo>
                  <a:pt x="21580" y="465683"/>
                </a:lnTo>
                <a:lnTo>
                  <a:pt x="18883" y="462918"/>
                </a:lnTo>
                <a:lnTo>
                  <a:pt x="16185" y="459824"/>
                </a:lnTo>
                <a:lnTo>
                  <a:pt x="13488" y="456327"/>
                </a:lnTo>
                <a:lnTo>
                  <a:pt x="10790" y="452316"/>
                </a:lnTo>
                <a:lnTo>
                  <a:pt x="8093" y="447603"/>
                </a:lnTo>
                <a:lnTo>
                  <a:pt x="5395" y="441826"/>
                </a:lnTo>
                <a:lnTo>
                  <a:pt x="2698" y="434056"/>
                </a:lnTo>
                <a:lnTo>
                  <a:pt x="0" y="414655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5"/>
          <p:cNvSpPr/>
          <p:nvPr/>
        </p:nvSpPr>
        <p:spPr>
          <a:xfrm>
            <a:off x="387846" y="1866900"/>
            <a:ext cx="21580" cy="485775"/>
          </a:xfrm>
          <a:custGeom>
            <a:avLst/>
            <a:gdLst/>
            <a:ahLst/>
            <a:cxnLst/>
            <a:rect l="l" t="t" r="r" b="b"/>
            <a:pathLst>
              <a:path w="21580" h="485775">
                <a:moveTo>
                  <a:pt x="0" y="71120"/>
                </a:moveTo>
                <a:lnTo>
                  <a:pt x="2698" y="51719"/>
                </a:lnTo>
                <a:lnTo>
                  <a:pt x="5395" y="43949"/>
                </a:lnTo>
                <a:lnTo>
                  <a:pt x="8093" y="38172"/>
                </a:lnTo>
                <a:lnTo>
                  <a:pt x="10790" y="33459"/>
                </a:lnTo>
                <a:lnTo>
                  <a:pt x="13488" y="29448"/>
                </a:lnTo>
                <a:lnTo>
                  <a:pt x="16185" y="25951"/>
                </a:lnTo>
                <a:lnTo>
                  <a:pt x="18883" y="22857"/>
                </a:lnTo>
                <a:lnTo>
                  <a:pt x="21580" y="20092"/>
                </a:lnTo>
                <a:lnTo>
                  <a:pt x="21580" y="465683"/>
                </a:lnTo>
                <a:lnTo>
                  <a:pt x="18883" y="462918"/>
                </a:lnTo>
                <a:lnTo>
                  <a:pt x="16185" y="459824"/>
                </a:lnTo>
                <a:lnTo>
                  <a:pt x="13488" y="456327"/>
                </a:lnTo>
                <a:lnTo>
                  <a:pt x="10790" y="452316"/>
                </a:lnTo>
                <a:lnTo>
                  <a:pt x="8093" y="447603"/>
                </a:lnTo>
                <a:lnTo>
                  <a:pt x="5395" y="441826"/>
                </a:lnTo>
                <a:lnTo>
                  <a:pt x="2698" y="434056"/>
                </a:lnTo>
                <a:lnTo>
                  <a:pt x="0" y="414655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6"/>
          <p:cNvSpPr/>
          <p:nvPr/>
        </p:nvSpPr>
        <p:spPr>
          <a:xfrm>
            <a:off x="387846" y="2442716"/>
            <a:ext cx="21580" cy="485775"/>
          </a:xfrm>
          <a:custGeom>
            <a:avLst/>
            <a:gdLst/>
            <a:ahLst/>
            <a:cxnLst/>
            <a:rect l="l" t="t" r="r" b="b"/>
            <a:pathLst>
              <a:path w="21580" h="485775">
                <a:moveTo>
                  <a:pt x="0" y="71120"/>
                </a:moveTo>
                <a:lnTo>
                  <a:pt x="2698" y="51719"/>
                </a:lnTo>
                <a:lnTo>
                  <a:pt x="5395" y="43949"/>
                </a:lnTo>
                <a:lnTo>
                  <a:pt x="8093" y="38172"/>
                </a:lnTo>
                <a:lnTo>
                  <a:pt x="10790" y="33459"/>
                </a:lnTo>
                <a:lnTo>
                  <a:pt x="13488" y="29448"/>
                </a:lnTo>
                <a:lnTo>
                  <a:pt x="16185" y="25951"/>
                </a:lnTo>
                <a:lnTo>
                  <a:pt x="18883" y="22857"/>
                </a:lnTo>
                <a:lnTo>
                  <a:pt x="21580" y="20092"/>
                </a:lnTo>
                <a:lnTo>
                  <a:pt x="21580" y="465683"/>
                </a:lnTo>
                <a:lnTo>
                  <a:pt x="18883" y="462918"/>
                </a:lnTo>
                <a:lnTo>
                  <a:pt x="16185" y="459824"/>
                </a:lnTo>
                <a:lnTo>
                  <a:pt x="13488" y="456327"/>
                </a:lnTo>
                <a:lnTo>
                  <a:pt x="10790" y="452316"/>
                </a:lnTo>
                <a:lnTo>
                  <a:pt x="8093" y="447603"/>
                </a:lnTo>
                <a:lnTo>
                  <a:pt x="5395" y="441826"/>
                </a:lnTo>
                <a:lnTo>
                  <a:pt x="2698" y="434056"/>
                </a:lnTo>
                <a:lnTo>
                  <a:pt x="0" y="414655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7"/>
          <p:cNvSpPr/>
          <p:nvPr/>
        </p:nvSpPr>
        <p:spPr>
          <a:xfrm>
            <a:off x="387846" y="3018532"/>
            <a:ext cx="21580" cy="485775"/>
          </a:xfrm>
          <a:custGeom>
            <a:avLst/>
            <a:gdLst/>
            <a:ahLst/>
            <a:cxnLst/>
            <a:rect l="l" t="t" r="r" b="b"/>
            <a:pathLst>
              <a:path w="21580" h="485775">
                <a:moveTo>
                  <a:pt x="0" y="71120"/>
                </a:moveTo>
                <a:lnTo>
                  <a:pt x="2698" y="51719"/>
                </a:lnTo>
                <a:lnTo>
                  <a:pt x="5395" y="43949"/>
                </a:lnTo>
                <a:lnTo>
                  <a:pt x="8093" y="38172"/>
                </a:lnTo>
                <a:lnTo>
                  <a:pt x="10790" y="33459"/>
                </a:lnTo>
                <a:lnTo>
                  <a:pt x="13488" y="29448"/>
                </a:lnTo>
                <a:lnTo>
                  <a:pt x="16185" y="25951"/>
                </a:lnTo>
                <a:lnTo>
                  <a:pt x="18883" y="22857"/>
                </a:lnTo>
                <a:lnTo>
                  <a:pt x="21580" y="20092"/>
                </a:lnTo>
                <a:lnTo>
                  <a:pt x="21580" y="465683"/>
                </a:lnTo>
                <a:lnTo>
                  <a:pt x="18883" y="462918"/>
                </a:lnTo>
                <a:lnTo>
                  <a:pt x="16185" y="459824"/>
                </a:lnTo>
                <a:lnTo>
                  <a:pt x="13488" y="456327"/>
                </a:lnTo>
                <a:lnTo>
                  <a:pt x="10790" y="452316"/>
                </a:lnTo>
                <a:lnTo>
                  <a:pt x="8093" y="447603"/>
                </a:lnTo>
                <a:lnTo>
                  <a:pt x="5395" y="441826"/>
                </a:lnTo>
                <a:lnTo>
                  <a:pt x="2698" y="434056"/>
                </a:lnTo>
                <a:lnTo>
                  <a:pt x="0" y="414655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28"/>
          <p:cNvSpPr/>
          <p:nvPr/>
        </p:nvSpPr>
        <p:spPr>
          <a:xfrm>
            <a:off x="387846" y="3594348"/>
            <a:ext cx="21580" cy="485775"/>
          </a:xfrm>
          <a:custGeom>
            <a:avLst/>
            <a:gdLst/>
            <a:ahLst/>
            <a:cxnLst/>
            <a:rect l="l" t="t" r="r" b="b"/>
            <a:pathLst>
              <a:path w="21580" h="485775">
                <a:moveTo>
                  <a:pt x="0" y="71120"/>
                </a:moveTo>
                <a:lnTo>
                  <a:pt x="2698" y="51719"/>
                </a:lnTo>
                <a:lnTo>
                  <a:pt x="5395" y="43949"/>
                </a:lnTo>
                <a:lnTo>
                  <a:pt x="8093" y="38172"/>
                </a:lnTo>
                <a:lnTo>
                  <a:pt x="10790" y="33459"/>
                </a:lnTo>
                <a:lnTo>
                  <a:pt x="13488" y="29448"/>
                </a:lnTo>
                <a:lnTo>
                  <a:pt x="16185" y="25951"/>
                </a:lnTo>
                <a:lnTo>
                  <a:pt x="18883" y="22857"/>
                </a:lnTo>
                <a:lnTo>
                  <a:pt x="21580" y="20092"/>
                </a:lnTo>
                <a:lnTo>
                  <a:pt x="21580" y="465683"/>
                </a:lnTo>
                <a:lnTo>
                  <a:pt x="18883" y="462918"/>
                </a:lnTo>
                <a:lnTo>
                  <a:pt x="16185" y="459824"/>
                </a:lnTo>
                <a:lnTo>
                  <a:pt x="13488" y="456327"/>
                </a:lnTo>
                <a:lnTo>
                  <a:pt x="10790" y="452316"/>
                </a:lnTo>
                <a:lnTo>
                  <a:pt x="8093" y="447603"/>
                </a:lnTo>
                <a:lnTo>
                  <a:pt x="5395" y="441826"/>
                </a:lnTo>
                <a:lnTo>
                  <a:pt x="2698" y="434056"/>
                </a:lnTo>
                <a:lnTo>
                  <a:pt x="0" y="414655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29"/>
          <p:cNvSpPr/>
          <p:nvPr/>
        </p:nvSpPr>
        <p:spPr>
          <a:xfrm>
            <a:off x="378321" y="314920"/>
            <a:ext cx="1373832" cy="195411"/>
          </a:xfrm>
          <a:prstGeom prst="roundRect">
            <a:avLst>
              <a:gd name="adj" fmla="val 73440"/>
            </a:avLst>
          </a:prstGeom>
          <a:solidFill>
            <a:srgbClr val="6E40C9">
              <a:alpha val="18000"/>
            </a:srgbClr>
          </a:solidFill>
          <a:ln w="9525">
            <a:solidFill>
              <a:srgbClr val="6E40C9">
                <a:alpha val="40000"/>
              </a:srgbClr>
            </a:solidFill>
          </a:ln>
        </p:spPr>
        <p:txBody>
          <a:bodyPr wrap="none" lIns="196790" tIns="29210" rIns="100330" bIns="29210" rtlCol="0" anchor="ctr"/>
          <a:lstStyle/>
          <a:p>
            <a:pPr marL="0" indent="0" algn="l">
              <a:buNone/>
            </a:pPr>
            <a:r>
              <a:rPr lang="en-US" sz="620" kern="0" spc="25" dirty="0">
                <a:solidFill>
                  <a:srgbClr val="9B7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SETUP</a:t>
            </a:r>
            <a:endParaRPr lang="en-US" sz="620" dirty="0"/>
          </a:p>
        </p:txBody>
      </p:sp>
      <p:pic>
        <p:nvPicPr>
          <p:cNvPr id="34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8502" y="346258"/>
            <a:ext cx="132588" cy="132588"/>
          </a:xfrm>
          <a:prstGeom prst="rect">
            <a:avLst/>
          </a:prstGeom>
        </p:spPr>
      </p:pic>
      <p:sp>
        <p:nvSpPr>
          <p:cNvPr id="35" name="Text 30"/>
          <p:cNvSpPr/>
          <p:nvPr/>
        </p:nvSpPr>
        <p:spPr>
          <a:xfrm>
            <a:off x="378321" y="610642"/>
            <a:ext cx="7298885" cy="2963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35"/>
              </a:lnSpc>
              <a:spcAft>
                <a:spcPts val="340"/>
              </a:spcAft>
              <a:buNone/>
            </a:pPr>
            <a:r>
              <a:rPr lang="en-US" sz="2030" kern="0" spc="-2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Authenticating with </a:t>
            </a:r>
            <a:r>
              <a:rPr lang="en-US" sz="1800" kern="0" spc="-20" dirty="0">
                <a:solidFill>
                  <a:srgbClr val="9B7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/login</a:t>
            </a:r>
            <a:endParaRPr lang="en-US" sz="2030" dirty="0"/>
          </a:p>
        </p:txBody>
      </p:sp>
      <p:sp>
        <p:nvSpPr>
          <p:cNvPr id="36" name="Text 31"/>
          <p:cNvSpPr/>
          <p:nvPr/>
        </p:nvSpPr>
        <p:spPr>
          <a:xfrm>
            <a:off x="378321" y="950119"/>
            <a:ext cx="7503527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1350"/>
              </a:spcAft>
              <a:buNone/>
            </a:pPr>
            <a:r>
              <a:rPr lang="en-US" sz="84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setup that links Copilot CLI to your GitHub account</a:t>
            </a:r>
            <a:endParaRPr lang="en-US" sz="840" dirty="0"/>
          </a:p>
        </p:txBody>
      </p:sp>
      <p:sp>
        <p:nvSpPr>
          <p:cNvPr id="37" name="Text 32"/>
          <p:cNvSpPr/>
          <p:nvPr/>
        </p:nvSpPr>
        <p:spPr>
          <a:xfrm>
            <a:off x="378321" y="1281559"/>
            <a:ext cx="6821388" cy="504825"/>
          </a:xfrm>
          <a:prstGeom prst="roundRect">
            <a:avLst>
              <a:gd name="adj" fmla="val 14088"/>
            </a:avLst>
          </a:prstGeom>
          <a:solidFill>
            <a:srgbClr val="161B22"/>
          </a:solidFill>
          <a:ln w="9525">
            <a:solidFill>
              <a:srgbClr val="6E40C9">
                <a:alpha val="1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3"/>
          <p:cNvSpPr/>
          <p:nvPr/>
        </p:nvSpPr>
        <p:spPr>
          <a:xfrm>
            <a:off x="531316" y="1455241"/>
            <a:ext cx="157460" cy="173206"/>
          </a:xfrm>
          <a:prstGeom prst="ellipse">
            <a:avLst/>
          </a:prstGeom>
          <a:solidFill>
            <a:srgbClr val="6E40C9"/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620" dirty="0"/>
          </a:p>
        </p:txBody>
      </p:sp>
      <p:sp>
        <p:nvSpPr>
          <p:cNvPr id="39" name="Text 34"/>
          <p:cNvSpPr/>
          <p:nvPr/>
        </p:nvSpPr>
        <p:spPr>
          <a:xfrm>
            <a:off x="803077" y="1391096"/>
            <a:ext cx="285750" cy="285750"/>
          </a:xfrm>
          <a:prstGeom prst="roundRect">
            <a:avLst>
              <a:gd name="adj" fmla="val 24889"/>
            </a:avLst>
          </a:prstGeom>
          <a:solidFill>
            <a:srgbClr val="6E40C9">
              <a:alpha val="15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9583" y="1467603"/>
            <a:ext cx="132588" cy="132588"/>
          </a:xfrm>
          <a:prstGeom prst="rect">
            <a:avLst/>
          </a:prstGeom>
        </p:spPr>
      </p:pic>
      <p:sp>
        <p:nvSpPr>
          <p:cNvPr id="41" name="Text 35"/>
          <p:cNvSpPr/>
          <p:nvPr/>
        </p:nvSpPr>
        <p:spPr>
          <a:xfrm>
            <a:off x="1203127" y="1286943"/>
            <a:ext cx="406229" cy="133201"/>
          </a:xfrm>
          <a:prstGeom prst="roundRect">
            <a:avLst>
              <a:gd name="adj" fmla="val 21929"/>
            </a:avLst>
          </a:prstGeom>
          <a:solidFill>
            <a:srgbClr val="6E40C9">
              <a:alpha val="25000"/>
            </a:srgbClr>
          </a:solidFill>
          <a:ln/>
        </p:spPr>
        <p:txBody>
          <a:bodyPr wrap="none" lIns="57150" tIns="7620" rIns="57150" bIns="762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9B7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/login</a:t>
            </a:r>
            <a:endParaRPr lang="en-US" sz="1600" dirty="0"/>
          </a:p>
        </p:txBody>
      </p:sp>
      <p:sp>
        <p:nvSpPr>
          <p:cNvPr id="42" name="Text 36"/>
          <p:cNvSpPr/>
          <p:nvPr/>
        </p:nvSpPr>
        <p:spPr>
          <a:xfrm>
            <a:off x="1203127" y="1573604"/>
            <a:ext cx="6427946" cy="1458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148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</a:t>
            </a:r>
            <a:r>
              <a:rPr lang="en-US" sz="1100" dirty="0">
                <a:solidFill>
                  <a:srgbClr val="9B7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/login</a:t>
            </a: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Copilot CLI prompt to begin the authentication flow</a:t>
            </a:r>
            <a:endParaRPr lang="en-US" sz="1200" dirty="0"/>
          </a:p>
        </p:txBody>
      </p:sp>
      <p:sp>
        <p:nvSpPr>
          <p:cNvPr id="43" name="Text 37"/>
          <p:cNvSpPr/>
          <p:nvPr/>
        </p:nvSpPr>
        <p:spPr>
          <a:xfrm>
            <a:off x="378321" y="1857375"/>
            <a:ext cx="6821388" cy="504825"/>
          </a:xfrm>
          <a:prstGeom prst="roundRect">
            <a:avLst>
              <a:gd name="adj" fmla="val 14088"/>
            </a:avLst>
          </a:prstGeom>
          <a:solidFill>
            <a:srgbClr val="161B22"/>
          </a:solidFill>
          <a:ln w="9525">
            <a:solidFill>
              <a:srgbClr val="6E40C9">
                <a:alpha val="1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4" name="Text 38"/>
          <p:cNvSpPr/>
          <p:nvPr/>
        </p:nvSpPr>
        <p:spPr>
          <a:xfrm>
            <a:off x="531316" y="2031057"/>
            <a:ext cx="157460" cy="173206"/>
          </a:xfrm>
          <a:prstGeom prst="ellipse">
            <a:avLst/>
          </a:prstGeom>
          <a:solidFill>
            <a:srgbClr val="6E40C9"/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620" dirty="0"/>
          </a:p>
        </p:txBody>
      </p:sp>
      <p:sp>
        <p:nvSpPr>
          <p:cNvPr id="45" name="Text 39"/>
          <p:cNvSpPr/>
          <p:nvPr/>
        </p:nvSpPr>
        <p:spPr>
          <a:xfrm>
            <a:off x="803077" y="1966912"/>
            <a:ext cx="285750" cy="285750"/>
          </a:xfrm>
          <a:prstGeom prst="roundRect">
            <a:avLst>
              <a:gd name="adj" fmla="val 24889"/>
            </a:avLst>
          </a:prstGeom>
          <a:solidFill>
            <a:srgbClr val="6E40C9">
              <a:alpha val="15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6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79583" y="2043419"/>
            <a:ext cx="132588" cy="132588"/>
          </a:xfrm>
          <a:prstGeom prst="rect">
            <a:avLst/>
          </a:prstGeom>
        </p:spPr>
      </p:pic>
      <p:sp>
        <p:nvSpPr>
          <p:cNvPr id="47" name="Text 40"/>
          <p:cNvSpPr/>
          <p:nvPr/>
        </p:nvSpPr>
        <p:spPr>
          <a:xfrm>
            <a:off x="1203127" y="1862759"/>
            <a:ext cx="599173" cy="133201"/>
          </a:xfrm>
          <a:prstGeom prst="roundRect">
            <a:avLst>
              <a:gd name="adj" fmla="val 21929"/>
            </a:avLst>
          </a:prstGeom>
          <a:solidFill>
            <a:srgbClr val="6E40C9">
              <a:alpha val="25000"/>
            </a:srgbClr>
          </a:solidFill>
          <a:ln/>
        </p:spPr>
        <p:txBody>
          <a:bodyPr wrap="none" lIns="57150" tIns="7620" rIns="57150" bIns="762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9B7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OAuth Flow</a:t>
            </a:r>
            <a:endParaRPr lang="en-US" sz="1600" dirty="0"/>
          </a:p>
        </p:txBody>
      </p:sp>
      <p:sp>
        <p:nvSpPr>
          <p:cNvPr id="48" name="Text 41"/>
          <p:cNvSpPr/>
          <p:nvPr/>
        </p:nvSpPr>
        <p:spPr>
          <a:xfrm>
            <a:off x="1203127" y="2149420"/>
            <a:ext cx="6427946" cy="1458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48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on-screen prompts — your browser may open to complete OAuth with GitHub</a:t>
            </a:r>
            <a:endParaRPr lang="en-US" sz="1200" dirty="0"/>
          </a:p>
        </p:txBody>
      </p:sp>
      <p:sp>
        <p:nvSpPr>
          <p:cNvPr id="49" name="Text 42"/>
          <p:cNvSpPr/>
          <p:nvPr/>
        </p:nvSpPr>
        <p:spPr>
          <a:xfrm>
            <a:off x="378321" y="2433191"/>
            <a:ext cx="6821388" cy="504825"/>
          </a:xfrm>
          <a:prstGeom prst="roundRect">
            <a:avLst>
              <a:gd name="adj" fmla="val 14088"/>
            </a:avLst>
          </a:prstGeom>
          <a:solidFill>
            <a:srgbClr val="161B22"/>
          </a:solidFill>
          <a:ln w="9525">
            <a:solidFill>
              <a:srgbClr val="6E40C9">
                <a:alpha val="1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43"/>
          <p:cNvSpPr/>
          <p:nvPr/>
        </p:nvSpPr>
        <p:spPr>
          <a:xfrm>
            <a:off x="531316" y="2606873"/>
            <a:ext cx="157460" cy="173206"/>
          </a:xfrm>
          <a:prstGeom prst="ellipse">
            <a:avLst/>
          </a:prstGeom>
          <a:solidFill>
            <a:srgbClr val="6E40C9"/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620" dirty="0"/>
          </a:p>
        </p:txBody>
      </p:sp>
      <p:sp>
        <p:nvSpPr>
          <p:cNvPr id="51" name="Text 44"/>
          <p:cNvSpPr/>
          <p:nvPr/>
        </p:nvSpPr>
        <p:spPr>
          <a:xfrm>
            <a:off x="803077" y="2542729"/>
            <a:ext cx="285750" cy="285750"/>
          </a:xfrm>
          <a:prstGeom prst="roundRect">
            <a:avLst>
              <a:gd name="adj" fmla="val 24889"/>
            </a:avLst>
          </a:prstGeom>
          <a:solidFill>
            <a:srgbClr val="6E40C9">
              <a:alpha val="15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52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9583" y="2619235"/>
            <a:ext cx="132588" cy="132588"/>
          </a:xfrm>
          <a:prstGeom prst="rect">
            <a:avLst/>
          </a:prstGeom>
        </p:spPr>
      </p:pic>
      <p:sp>
        <p:nvSpPr>
          <p:cNvPr id="53" name="Text 45"/>
          <p:cNvSpPr/>
          <p:nvPr/>
        </p:nvSpPr>
        <p:spPr>
          <a:xfrm>
            <a:off x="1203127" y="2438575"/>
            <a:ext cx="792269" cy="133201"/>
          </a:xfrm>
          <a:prstGeom prst="roundRect">
            <a:avLst>
              <a:gd name="adj" fmla="val 21929"/>
            </a:avLst>
          </a:prstGeom>
          <a:solidFill>
            <a:srgbClr val="6E40C9">
              <a:alpha val="25000"/>
            </a:srgbClr>
          </a:solidFill>
          <a:ln/>
        </p:spPr>
        <p:txBody>
          <a:bodyPr wrap="none" lIns="57150" tIns="7620" rIns="57150" bIns="762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9B7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Saved Securely</a:t>
            </a:r>
            <a:endParaRPr lang="en-US" sz="1600" dirty="0"/>
          </a:p>
        </p:txBody>
      </p:sp>
      <p:sp>
        <p:nvSpPr>
          <p:cNvPr id="54" name="Text 46"/>
          <p:cNvSpPr/>
          <p:nvPr/>
        </p:nvSpPr>
        <p:spPr>
          <a:xfrm>
            <a:off x="1203127" y="2725236"/>
            <a:ext cx="6427946" cy="1458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48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authenticated, credentials are stored securely — no need to log in again</a:t>
            </a:r>
            <a:endParaRPr lang="en-US" sz="1200" dirty="0"/>
          </a:p>
        </p:txBody>
      </p:sp>
      <p:sp>
        <p:nvSpPr>
          <p:cNvPr id="55" name="Text 47"/>
          <p:cNvSpPr/>
          <p:nvPr/>
        </p:nvSpPr>
        <p:spPr>
          <a:xfrm>
            <a:off x="378321" y="3009007"/>
            <a:ext cx="6821388" cy="504825"/>
          </a:xfrm>
          <a:prstGeom prst="roundRect">
            <a:avLst>
              <a:gd name="adj" fmla="val 14088"/>
            </a:avLst>
          </a:prstGeom>
          <a:solidFill>
            <a:srgbClr val="161B22"/>
          </a:solidFill>
          <a:ln w="9525">
            <a:solidFill>
              <a:srgbClr val="6E40C9">
                <a:alpha val="1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6" name="Text 48"/>
          <p:cNvSpPr/>
          <p:nvPr/>
        </p:nvSpPr>
        <p:spPr>
          <a:xfrm>
            <a:off x="531316" y="3182689"/>
            <a:ext cx="157460" cy="173206"/>
          </a:xfrm>
          <a:prstGeom prst="ellipse">
            <a:avLst/>
          </a:prstGeom>
          <a:solidFill>
            <a:srgbClr val="6E40C9"/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620" dirty="0"/>
          </a:p>
        </p:txBody>
      </p:sp>
      <p:sp>
        <p:nvSpPr>
          <p:cNvPr id="57" name="Text 49"/>
          <p:cNvSpPr/>
          <p:nvPr/>
        </p:nvSpPr>
        <p:spPr>
          <a:xfrm>
            <a:off x="803077" y="3118545"/>
            <a:ext cx="285750" cy="285750"/>
          </a:xfrm>
          <a:prstGeom prst="roundRect">
            <a:avLst>
              <a:gd name="adj" fmla="val 24889"/>
            </a:avLst>
          </a:prstGeom>
          <a:solidFill>
            <a:srgbClr val="6E40C9">
              <a:alpha val="15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58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79583" y="3195051"/>
            <a:ext cx="132588" cy="132588"/>
          </a:xfrm>
          <a:prstGeom prst="rect">
            <a:avLst/>
          </a:prstGeom>
        </p:spPr>
      </p:pic>
      <p:sp>
        <p:nvSpPr>
          <p:cNvPr id="59" name="Text 50"/>
          <p:cNvSpPr/>
          <p:nvPr/>
        </p:nvSpPr>
        <p:spPr>
          <a:xfrm>
            <a:off x="1203127" y="3014391"/>
            <a:ext cx="550899" cy="133201"/>
          </a:xfrm>
          <a:prstGeom prst="roundRect">
            <a:avLst>
              <a:gd name="adj" fmla="val 21929"/>
            </a:avLst>
          </a:prstGeom>
          <a:solidFill>
            <a:srgbClr val="6E40C9">
              <a:alpha val="25000"/>
            </a:srgbClr>
          </a:solidFill>
          <a:ln/>
        </p:spPr>
        <p:txBody>
          <a:bodyPr wrap="none" lIns="57150" tIns="7620" rIns="57150" bIns="762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9B7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Org Users</a:t>
            </a:r>
            <a:endParaRPr lang="en-US" sz="1600" dirty="0"/>
          </a:p>
        </p:txBody>
      </p:sp>
      <p:sp>
        <p:nvSpPr>
          <p:cNvPr id="60" name="Text 51"/>
          <p:cNvSpPr/>
          <p:nvPr/>
        </p:nvSpPr>
        <p:spPr>
          <a:xfrm>
            <a:off x="1203127" y="3301052"/>
            <a:ext cx="6427946" cy="1458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48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 users: ensure your org admin has enabled the Copilot CLI policy in settings</a:t>
            </a:r>
            <a:endParaRPr lang="en-US" sz="1200" dirty="0"/>
          </a:p>
        </p:txBody>
      </p:sp>
      <p:sp>
        <p:nvSpPr>
          <p:cNvPr id="61" name="Text 52"/>
          <p:cNvSpPr/>
          <p:nvPr/>
        </p:nvSpPr>
        <p:spPr>
          <a:xfrm>
            <a:off x="378321" y="3584823"/>
            <a:ext cx="6821388" cy="504825"/>
          </a:xfrm>
          <a:prstGeom prst="roundRect">
            <a:avLst>
              <a:gd name="adj" fmla="val 14088"/>
            </a:avLst>
          </a:prstGeom>
          <a:solidFill>
            <a:srgbClr val="161B22"/>
          </a:solidFill>
          <a:ln w="9525">
            <a:solidFill>
              <a:srgbClr val="6E40C9">
                <a:alpha val="1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2" name="Text 53"/>
          <p:cNvSpPr/>
          <p:nvPr/>
        </p:nvSpPr>
        <p:spPr>
          <a:xfrm>
            <a:off x="531316" y="3758505"/>
            <a:ext cx="157460" cy="173206"/>
          </a:xfrm>
          <a:prstGeom prst="ellipse">
            <a:avLst/>
          </a:prstGeom>
          <a:solidFill>
            <a:srgbClr val="6E40C9"/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620" dirty="0"/>
          </a:p>
        </p:txBody>
      </p:sp>
      <p:sp>
        <p:nvSpPr>
          <p:cNvPr id="63" name="Text 54"/>
          <p:cNvSpPr/>
          <p:nvPr/>
        </p:nvSpPr>
        <p:spPr>
          <a:xfrm>
            <a:off x="803077" y="3694361"/>
            <a:ext cx="285750" cy="285750"/>
          </a:xfrm>
          <a:prstGeom prst="roundRect">
            <a:avLst>
              <a:gd name="adj" fmla="val 24889"/>
            </a:avLst>
          </a:prstGeom>
          <a:solidFill>
            <a:srgbClr val="6E40C9">
              <a:alpha val="15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4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79583" y="3770867"/>
            <a:ext cx="132588" cy="132588"/>
          </a:xfrm>
          <a:prstGeom prst="rect">
            <a:avLst/>
          </a:prstGeom>
        </p:spPr>
      </p:pic>
      <p:sp>
        <p:nvSpPr>
          <p:cNvPr id="65" name="Text 55"/>
          <p:cNvSpPr/>
          <p:nvPr/>
        </p:nvSpPr>
        <p:spPr>
          <a:xfrm>
            <a:off x="1203127" y="3590207"/>
            <a:ext cx="985212" cy="133201"/>
          </a:xfrm>
          <a:prstGeom prst="roundRect">
            <a:avLst>
              <a:gd name="adj" fmla="val 21929"/>
            </a:avLst>
          </a:prstGeom>
          <a:solidFill>
            <a:srgbClr val="6E40C9">
              <a:alpha val="25000"/>
            </a:srgbClr>
          </a:solidFill>
          <a:ln/>
        </p:spPr>
        <p:txBody>
          <a:bodyPr wrap="none" lIns="57150" tIns="7620" rIns="57150" bIns="762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9B7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Subscription Check</a:t>
            </a:r>
            <a:endParaRPr lang="en-US" sz="1600" dirty="0"/>
          </a:p>
        </p:txBody>
      </p:sp>
      <p:sp>
        <p:nvSpPr>
          <p:cNvPr id="66" name="Text 56"/>
          <p:cNvSpPr/>
          <p:nvPr/>
        </p:nvSpPr>
        <p:spPr>
          <a:xfrm>
            <a:off x="1203127" y="3876868"/>
            <a:ext cx="6427946" cy="1458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48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GitHub Copilot subscription is verified at this point — all plans supported</a:t>
            </a:r>
            <a:endParaRPr lang="en-US" sz="1200" dirty="0"/>
          </a:p>
        </p:txBody>
      </p:sp>
      <p:sp>
        <p:nvSpPr>
          <p:cNvPr id="67" name="Text 57"/>
          <p:cNvSpPr/>
          <p:nvPr/>
        </p:nvSpPr>
        <p:spPr>
          <a:xfrm>
            <a:off x="378321" y="4565898"/>
            <a:ext cx="6821388" cy="349002"/>
          </a:xfrm>
          <a:prstGeom prst="roundRect">
            <a:avLst>
              <a:gd name="adj" fmla="val 16375"/>
            </a:avLst>
          </a:prstGeom>
          <a:solidFill>
            <a:srgbClr val="161B22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8" name="Text 58"/>
          <p:cNvSpPr/>
          <p:nvPr/>
        </p:nvSpPr>
        <p:spPr>
          <a:xfrm>
            <a:off x="378321" y="4565898"/>
            <a:ext cx="28575" cy="349002"/>
          </a:xfrm>
          <a:custGeom>
            <a:avLst/>
            <a:gdLst/>
            <a:ahLst/>
            <a:cxnLst/>
            <a:rect l="l" t="t" r="r" b="b"/>
            <a:pathLst>
              <a:path w="28575" h="349002">
                <a:moveTo>
                  <a:pt x="0" y="57150"/>
                </a:moveTo>
                <a:lnTo>
                  <a:pt x="3572" y="37263"/>
                </a:lnTo>
                <a:lnTo>
                  <a:pt x="7144" y="29482"/>
                </a:lnTo>
                <a:lnTo>
                  <a:pt x="10716" y="23834"/>
                </a:lnTo>
                <a:lnTo>
                  <a:pt x="14288" y="19349"/>
                </a:lnTo>
                <a:lnTo>
                  <a:pt x="17859" y="15649"/>
                </a:lnTo>
                <a:lnTo>
                  <a:pt x="21431" y="12537"/>
                </a:lnTo>
                <a:lnTo>
                  <a:pt x="25003" y="9899"/>
                </a:lnTo>
                <a:lnTo>
                  <a:pt x="28575" y="7657"/>
                </a:lnTo>
                <a:lnTo>
                  <a:pt x="28575" y="341345"/>
                </a:lnTo>
                <a:lnTo>
                  <a:pt x="25003" y="339103"/>
                </a:lnTo>
                <a:lnTo>
                  <a:pt x="21431" y="336465"/>
                </a:lnTo>
                <a:lnTo>
                  <a:pt x="17859" y="333353"/>
                </a:lnTo>
                <a:lnTo>
                  <a:pt x="14288" y="329653"/>
                </a:lnTo>
                <a:lnTo>
                  <a:pt x="10716" y="325168"/>
                </a:lnTo>
                <a:lnTo>
                  <a:pt x="7144" y="319520"/>
                </a:lnTo>
                <a:lnTo>
                  <a:pt x="3572" y="311739"/>
                </a:lnTo>
                <a:lnTo>
                  <a:pt x="0" y="291852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9" name="Image 8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26935" y="4674031"/>
            <a:ext cx="132588" cy="132588"/>
          </a:xfrm>
          <a:prstGeom prst="rect">
            <a:avLst/>
          </a:prstGeom>
        </p:spPr>
      </p:pic>
      <p:sp>
        <p:nvSpPr>
          <p:cNvPr id="70" name="Text 59"/>
          <p:cNvSpPr/>
          <p:nvPr/>
        </p:nvSpPr>
        <p:spPr>
          <a:xfrm>
            <a:off x="693241" y="4681389"/>
            <a:ext cx="155362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900" b="1" dirty="0">
                <a:solidFill>
                  <a:srgbClr val="9B7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900" dirty="0"/>
          </a:p>
        </p:txBody>
      </p:sp>
      <p:sp>
        <p:nvSpPr>
          <p:cNvPr id="71" name="Text 60"/>
          <p:cNvSpPr/>
          <p:nvPr/>
        </p:nvSpPr>
        <p:spPr>
          <a:xfrm>
            <a:off x="934789" y="4667994"/>
            <a:ext cx="3886498" cy="1448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140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</a:t>
            </a:r>
            <a:r>
              <a:rPr lang="en-US" sz="1000" dirty="0">
                <a:solidFill>
                  <a:srgbClr val="9B72F5"/>
                </a:solidFill>
                <a:highlight>
                  <a:srgbClr val="6E40C9">
                    <a:alpha val="15000"/>
                  </a:srgbClr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/login</a:t>
            </a: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again at any time to switch GitHub accounts or refresh your session.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6E40C9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198909"/>
            <a:ext cx="9144000" cy="5143500"/>
          </a:xfrm>
          <a:prstGeom prst="rect">
            <a:avLst/>
          </a:prstGeom>
          <a:gradFill rotWithShape="1">
            <a:gsLst>
              <a:gs pos="0">
                <a:srgbClr val="6E40C9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071390" y="785515"/>
            <a:ext cx="5001220" cy="3572470"/>
          </a:xfrm>
          <a:prstGeom prst="rect">
            <a:avLst/>
          </a:prstGeom>
          <a:gradFill rotWithShape="1">
            <a:gsLst>
              <a:gs pos="0">
                <a:srgbClr val="6E40C9">
                  <a:alpha val="1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29539" y="557932"/>
            <a:ext cx="489693" cy="4896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857243" y="1164729"/>
            <a:ext cx="3429365" cy="3638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65"/>
              </a:lnSpc>
              <a:spcAft>
                <a:spcPts val="1010"/>
              </a:spcAft>
              <a:buNone/>
            </a:pPr>
            <a:r>
              <a:rPr lang="en-US" sz="1910" kern="0" spc="-38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Ask Copilot Your </a:t>
            </a:r>
            <a:r>
              <a:rPr lang="en-US" sz="1910" kern="0" spc="-38" dirty="0">
                <a:solidFill>
                  <a:srgbClr val="A78BF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First Question</a:t>
            </a:r>
            <a:endParaRPr lang="en-US" sz="1910" dirty="0"/>
          </a:p>
        </p:txBody>
      </p:sp>
      <p:sp>
        <p:nvSpPr>
          <p:cNvPr id="8" name="Text 5"/>
          <p:cNvSpPr/>
          <p:nvPr/>
        </p:nvSpPr>
        <p:spPr>
          <a:xfrm>
            <a:off x="2000250" y="1656755"/>
            <a:ext cx="5143500" cy="2227808"/>
          </a:xfrm>
          <a:prstGeom prst="roundRect">
            <a:avLst>
              <a:gd name="adj" fmla="val 3876"/>
            </a:avLst>
          </a:prstGeom>
          <a:solidFill>
            <a:srgbClr val="161B22"/>
          </a:solidFill>
          <a:ln w="9525">
            <a:solidFill>
              <a:srgbClr val="6E40C9">
                <a:alpha val="30000"/>
              </a:srgbClr>
            </a:solidFill>
          </a:ln>
          <a:effectLst>
            <a:outerShdw blurRad="101600" dist="50800" dir="16200000" algn="bl" rotWithShape="0">
              <a:srgbClr val="FFFFFF">
                <a:alpha val="4000"/>
              </a:srgbClr>
            </a:outerShdw>
          </a:effectLst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2009775" y="1666280"/>
            <a:ext cx="5124450" cy="286941"/>
          </a:xfrm>
          <a:prstGeom prst="rect">
            <a:avLst/>
          </a:prstGeom>
          <a:gradFill rotWithShape="1">
            <a:gsLst>
              <a:gs pos="0">
                <a:srgbClr val="6E40C9"/>
              </a:gs>
              <a:gs pos="100000">
                <a:srgbClr val="5A32A3"/>
              </a:gs>
            </a:gsLst>
            <a:lin ang="27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2124075" y="1766590"/>
            <a:ext cx="86320" cy="86320"/>
          </a:xfrm>
          <a:prstGeom prst="ellipse">
            <a:avLst/>
          </a:prstGeom>
          <a:solidFill>
            <a:srgbClr val="FF5F57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2267545" y="1766590"/>
            <a:ext cx="86320" cy="86320"/>
          </a:xfrm>
          <a:prstGeom prst="ellipse">
            <a:avLst/>
          </a:prstGeom>
          <a:solidFill>
            <a:srgbClr val="FFBD2E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2411016" y="1766590"/>
            <a:ext cx="86320" cy="86320"/>
          </a:xfrm>
          <a:prstGeom prst="ellipse">
            <a:avLst/>
          </a:prstGeom>
          <a:solidFill>
            <a:srgbClr val="28CA41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2210395" y="2110680"/>
            <a:ext cx="51955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501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>
              <a:rPr sz="2800" dirty="0"/>
            </a:b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</a:t>
            </a:r>
            <a:r>
              <a:rPr lang="en-US" sz="100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copilot</a:t>
            </a:r>
            <a:br>
              <a:rPr sz="2800" dirty="0"/>
            </a:b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2167235" y="2315171"/>
            <a:ext cx="3739574" cy="1668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501"/>
              </a:lnSpc>
              <a:buNone/>
            </a:pPr>
            <a:r>
              <a:rPr lang="en-US" sz="1050" i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>
              <a:rPr sz="3200" dirty="0"/>
            </a:br>
            <a:r>
              <a:rPr lang="en-US" sz="1050" i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</a:t>
            </a:r>
            <a:r>
              <a:rPr lang="en-US" sz="1050" b="1" i="1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050" i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Welcome to GitHub Copilot CLI</a:t>
            </a:r>
            <a:br>
              <a:rPr sz="3200" dirty="0"/>
            </a:br>
            <a:r>
              <a:rPr lang="en-US" sz="1050" i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2210395" y="2615505"/>
            <a:ext cx="51955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1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prompt: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210395" y="2806005"/>
            <a:ext cx="4817674" cy="202704"/>
          </a:xfrm>
          <a:prstGeom prst="rect">
            <a:avLst/>
          </a:prstGeom>
          <a:noFill/>
          <a:ln/>
        </p:spPr>
        <p:txBody>
          <a:bodyPr wrap="none" lIns="86360" tIns="0" rIns="0" bIns="0" rtlCol="0" anchor="t"/>
          <a:lstStyle/>
          <a:p>
            <a:pPr marL="0" indent="0" algn="l">
              <a:lnSpc>
                <a:spcPts val="1596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Give me an overview of this project.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2210395" y="2806005"/>
            <a:ext cx="9525" cy="202704"/>
          </a:xfrm>
          <a:prstGeom prst="rect">
            <a:avLst/>
          </a:prstGeom>
          <a:solidFill>
            <a:srgbClr val="6E40C9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2210395" y="3132534"/>
            <a:ext cx="5195530" cy="1640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92"/>
              </a:lnSpc>
              <a:buNone/>
            </a:pPr>
            <a:r>
              <a:rPr lang="en-US" sz="1000" i="1" kern="0" spc="2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 Copilot analyzes your current directory and responds —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2210395" y="3364833"/>
            <a:ext cx="4817674" cy="412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1"/>
              </a:lnSpc>
              <a:buNone/>
            </a:pPr>
            <a:r>
              <a:rPr lang="en-US" sz="10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>
              <a:rPr sz="2800" dirty="0"/>
            </a:br>
            <a:r>
              <a:rPr lang="en-US" sz="100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</a:t>
            </a:r>
            <a:r>
              <a:rPr lang="en-US" sz="10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Copilot reads your repo structure, README, and recent changes to give you a tailored summary.</a:t>
            </a:r>
            <a:br>
              <a:rPr sz="2800" dirty="0"/>
            </a:br>
            <a:r>
              <a:rPr lang="en-US" sz="10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2171015" y="3998863"/>
            <a:ext cx="4801969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260"/>
              </a:lnSpc>
              <a:spcBef>
                <a:spcPts val="900"/>
              </a:spcBef>
              <a:spcAft>
                <a:spcPts val="340"/>
              </a:spcAft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uses the context of your </a:t>
            </a: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directory</a:t>
            </a: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give relevant, </a:t>
            </a: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project-aware answers.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3532607" y="4202013"/>
            <a:ext cx="2078638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020"/>
              </a:lnSpc>
              <a:buNone/>
            </a:pPr>
            <a:r>
              <a:rPr lang="en-US" sz="1000" kern="0" spc="20" dirty="0">
                <a:solidFill>
                  <a:srgbClr val="8B949E">
                    <a:alpha val="6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from official GitHub Copilot CLI docs.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0" y="0"/>
            <a:ext cx="1286470" cy="21580"/>
          </a:xfrm>
          <a:prstGeom prst="rect">
            <a:avLst/>
          </a:prstGeom>
          <a:gradFill rotWithShape="1">
            <a:gsLst>
              <a:gs pos="0">
                <a:srgbClr val="6E40C9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7857530" y="5121920"/>
            <a:ext cx="1286470" cy="21580"/>
          </a:xfrm>
          <a:prstGeom prst="rect">
            <a:avLst/>
          </a:prstGeom>
          <a:gradFill rotWithShape="1">
            <a:gsLst>
              <a:gs pos="0">
                <a:srgbClr val="6E40C9"/>
              </a:gs>
              <a:gs pos="100000">
                <a:srgbClr val="000000">
                  <a:alpha val="0"/>
                </a:srgbClr>
              </a:gs>
            </a:gsLst>
            <a:lin ang="1080000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5" name="Image 1" descr="preencoded.png"/>
          <p:cNvPicPr>
            <a:picLocks noChangeAspect="1"/>
          </p:cNvPicPr>
          <p:nvPr/>
        </p:nvPicPr>
        <p:blipFill>
          <a:blip>
            <a:alphaModFix amt="35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9055" y="4890055"/>
            <a:ext cx="132588" cy="132588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390079" y="4897338"/>
            <a:ext cx="1011734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949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GITHUB COPILOT CLI</a:t>
            </a:r>
            <a:endParaRPr lang="en-US" sz="6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21580"/>
          </a:xfrm>
          <a:prstGeom prst="rect">
            <a:avLst/>
          </a:prstGeom>
          <a:gradFill rotWithShape="1">
            <a:gsLst>
              <a:gs pos="0">
                <a:srgbClr val="6E40C9"/>
              </a:gs>
              <a:gs pos="60000">
                <a:srgbClr val="8B5CF6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7287220" y="0"/>
            <a:ext cx="1856780" cy="1856780"/>
          </a:xfrm>
          <a:prstGeom prst="ellipse">
            <a:avLst/>
          </a:prstGeom>
          <a:gradFill rotWithShape="1">
            <a:gsLst>
              <a:gs pos="0">
                <a:srgbClr val="6E40C9">
                  <a:alpha val="7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356741" y="3500140"/>
            <a:ext cx="1428750" cy="1428750"/>
          </a:xfrm>
          <a:prstGeom prst="ellipse">
            <a:avLst/>
          </a:prstGeom>
          <a:gradFill rotWithShape="1">
            <a:gsLst>
              <a:gs pos="0">
                <a:srgbClr val="6E40C9">
                  <a:alpha val="5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09575" y="1188839"/>
            <a:ext cx="21580" cy="1675952"/>
          </a:xfrm>
          <a:custGeom>
            <a:avLst/>
            <a:gdLst/>
            <a:ahLst/>
            <a:cxnLst/>
            <a:rect l="l" t="t" r="r" b="b"/>
            <a:pathLst>
              <a:path w="21580" h="1675952">
                <a:moveTo>
                  <a:pt x="0" y="71120"/>
                </a:moveTo>
                <a:lnTo>
                  <a:pt x="2698" y="51719"/>
                </a:lnTo>
                <a:lnTo>
                  <a:pt x="5395" y="43949"/>
                </a:lnTo>
                <a:lnTo>
                  <a:pt x="8093" y="38172"/>
                </a:lnTo>
                <a:lnTo>
                  <a:pt x="10790" y="33459"/>
                </a:lnTo>
                <a:lnTo>
                  <a:pt x="13488" y="29448"/>
                </a:lnTo>
                <a:lnTo>
                  <a:pt x="16185" y="25951"/>
                </a:lnTo>
                <a:lnTo>
                  <a:pt x="18883" y="22857"/>
                </a:lnTo>
                <a:lnTo>
                  <a:pt x="21580" y="20092"/>
                </a:lnTo>
                <a:lnTo>
                  <a:pt x="21580" y="1655860"/>
                </a:lnTo>
                <a:lnTo>
                  <a:pt x="18883" y="1653095"/>
                </a:lnTo>
                <a:lnTo>
                  <a:pt x="16185" y="1650001"/>
                </a:lnTo>
                <a:lnTo>
                  <a:pt x="13488" y="1646504"/>
                </a:lnTo>
                <a:lnTo>
                  <a:pt x="10790" y="1642493"/>
                </a:lnTo>
                <a:lnTo>
                  <a:pt x="8093" y="1637781"/>
                </a:lnTo>
                <a:lnTo>
                  <a:pt x="5395" y="1632004"/>
                </a:lnTo>
                <a:lnTo>
                  <a:pt x="2698" y="1624234"/>
                </a:lnTo>
                <a:lnTo>
                  <a:pt x="0" y="1604832"/>
                </a:lnTo>
                <a:close/>
              </a:path>
            </a:pathLst>
          </a:custGeom>
          <a:gradFill rotWithShape="1">
            <a:gsLst>
              <a:gs pos="0">
                <a:srgbClr val="6E40C9"/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676820" y="1045329"/>
            <a:ext cx="571500" cy="571500"/>
          </a:xfrm>
          <a:prstGeom prst="rect">
            <a:avLst/>
          </a:prstGeom>
          <a:gradFill rotWithShape="1">
            <a:gsLst>
              <a:gs pos="0">
                <a:srgbClr val="6E40C9">
                  <a:alpha val="1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224213" y="1188839"/>
            <a:ext cx="21580" cy="1675952"/>
          </a:xfrm>
          <a:custGeom>
            <a:avLst/>
            <a:gdLst/>
            <a:ahLst/>
            <a:cxnLst/>
            <a:rect l="l" t="t" r="r" b="b"/>
            <a:pathLst>
              <a:path w="21580" h="1675952">
                <a:moveTo>
                  <a:pt x="0" y="71120"/>
                </a:moveTo>
                <a:lnTo>
                  <a:pt x="2698" y="51719"/>
                </a:lnTo>
                <a:lnTo>
                  <a:pt x="5395" y="43949"/>
                </a:lnTo>
                <a:lnTo>
                  <a:pt x="8093" y="38172"/>
                </a:lnTo>
                <a:lnTo>
                  <a:pt x="10790" y="33459"/>
                </a:lnTo>
                <a:lnTo>
                  <a:pt x="13488" y="29448"/>
                </a:lnTo>
                <a:lnTo>
                  <a:pt x="16185" y="25951"/>
                </a:lnTo>
                <a:lnTo>
                  <a:pt x="18883" y="22857"/>
                </a:lnTo>
                <a:lnTo>
                  <a:pt x="21580" y="20092"/>
                </a:lnTo>
                <a:lnTo>
                  <a:pt x="21580" y="1655860"/>
                </a:lnTo>
                <a:lnTo>
                  <a:pt x="18883" y="1653095"/>
                </a:lnTo>
                <a:lnTo>
                  <a:pt x="16185" y="1650001"/>
                </a:lnTo>
                <a:lnTo>
                  <a:pt x="13488" y="1646504"/>
                </a:lnTo>
                <a:lnTo>
                  <a:pt x="10790" y="1642493"/>
                </a:lnTo>
                <a:lnTo>
                  <a:pt x="8093" y="1637781"/>
                </a:lnTo>
                <a:lnTo>
                  <a:pt x="5395" y="1632004"/>
                </a:lnTo>
                <a:lnTo>
                  <a:pt x="2698" y="1624234"/>
                </a:lnTo>
                <a:lnTo>
                  <a:pt x="0" y="1604832"/>
                </a:lnTo>
                <a:close/>
              </a:path>
            </a:pathLst>
          </a:custGeom>
          <a:gradFill rotWithShape="1">
            <a:gsLst>
              <a:gs pos="0">
                <a:srgbClr val="6E40C9"/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491610" y="1045329"/>
            <a:ext cx="571500" cy="571500"/>
          </a:xfrm>
          <a:prstGeom prst="rect">
            <a:avLst/>
          </a:prstGeom>
          <a:gradFill rotWithShape="1">
            <a:gsLst>
              <a:gs pos="0">
                <a:srgbClr val="6E40C9">
                  <a:alpha val="1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038999" y="1188839"/>
            <a:ext cx="21580" cy="1675952"/>
          </a:xfrm>
          <a:custGeom>
            <a:avLst/>
            <a:gdLst/>
            <a:ahLst/>
            <a:cxnLst/>
            <a:rect l="l" t="t" r="r" b="b"/>
            <a:pathLst>
              <a:path w="21580" h="1675952">
                <a:moveTo>
                  <a:pt x="0" y="71120"/>
                </a:moveTo>
                <a:lnTo>
                  <a:pt x="2698" y="51719"/>
                </a:lnTo>
                <a:lnTo>
                  <a:pt x="5395" y="43949"/>
                </a:lnTo>
                <a:lnTo>
                  <a:pt x="8093" y="38172"/>
                </a:lnTo>
                <a:lnTo>
                  <a:pt x="10790" y="33459"/>
                </a:lnTo>
                <a:lnTo>
                  <a:pt x="13488" y="29448"/>
                </a:lnTo>
                <a:lnTo>
                  <a:pt x="16185" y="25951"/>
                </a:lnTo>
                <a:lnTo>
                  <a:pt x="18883" y="22857"/>
                </a:lnTo>
                <a:lnTo>
                  <a:pt x="21580" y="20092"/>
                </a:lnTo>
                <a:lnTo>
                  <a:pt x="21580" y="1655860"/>
                </a:lnTo>
                <a:lnTo>
                  <a:pt x="18883" y="1653095"/>
                </a:lnTo>
                <a:lnTo>
                  <a:pt x="16185" y="1650001"/>
                </a:lnTo>
                <a:lnTo>
                  <a:pt x="13488" y="1646504"/>
                </a:lnTo>
                <a:lnTo>
                  <a:pt x="10790" y="1642493"/>
                </a:lnTo>
                <a:lnTo>
                  <a:pt x="8093" y="1637781"/>
                </a:lnTo>
                <a:lnTo>
                  <a:pt x="5395" y="1632004"/>
                </a:lnTo>
                <a:lnTo>
                  <a:pt x="2698" y="1624234"/>
                </a:lnTo>
                <a:lnTo>
                  <a:pt x="0" y="1604832"/>
                </a:lnTo>
                <a:close/>
              </a:path>
            </a:pathLst>
          </a:custGeom>
          <a:gradFill rotWithShape="1">
            <a:gsLst>
              <a:gs pos="0">
                <a:srgbClr val="6E40C9"/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306244" y="1045329"/>
            <a:ext cx="571500" cy="571500"/>
          </a:xfrm>
          <a:prstGeom prst="rect">
            <a:avLst/>
          </a:prstGeom>
          <a:gradFill rotWithShape="1">
            <a:gsLst>
              <a:gs pos="0">
                <a:srgbClr val="6E40C9">
                  <a:alpha val="1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09575" y="2984153"/>
            <a:ext cx="21580" cy="1675952"/>
          </a:xfrm>
          <a:custGeom>
            <a:avLst/>
            <a:gdLst/>
            <a:ahLst/>
            <a:cxnLst/>
            <a:rect l="l" t="t" r="r" b="b"/>
            <a:pathLst>
              <a:path w="21580" h="1675952">
                <a:moveTo>
                  <a:pt x="0" y="71120"/>
                </a:moveTo>
                <a:lnTo>
                  <a:pt x="2698" y="51719"/>
                </a:lnTo>
                <a:lnTo>
                  <a:pt x="5395" y="43949"/>
                </a:lnTo>
                <a:lnTo>
                  <a:pt x="8093" y="38172"/>
                </a:lnTo>
                <a:lnTo>
                  <a:pt x="10790" y="33459"/>
                </a:lnTo>
                <a:lnTo>
                  <a:pt x="13488" y="29448"/>
                </a:lnTo>
                <a:lnTo>
                  <a:pt x="16185" y="25951"/>
                </a:lnTo>
                <a:lnTo>
                  <a:pt x="18883" y="22857"/>
                </a:lnTo>
                <a:lnTo>
                  <a:pt x="21580" y="20092"/>
                </a:lnTo>
                <a:lnTo>
                  <a:pt x="21580" y="1655860"/>
                </a:lnTo>
                <a:lnTo>
                  <a:pt x="18883" y="1653095"/>
                </a:lnTo>
                <a:lnTo>
                  <a:pt x="16185" y="1650001"/>
                </a:lnTo>
                <a:lnTo>
                  <a:pt x="13488" y="1646504"/>
                </a:lnTo>
                <a:lnTo>
                  <a:pt x="10790" y="1642493"/>
                </a:lnTo>
                <a:lnTo>
                  <a:pt x="8093" y="1637781"/>
                </a:lnTo>
                <a:lnTo>
                  <a:pt x="5395" y="1632004"/>
                </a:lnTo>
                <a:lnTo>
                  <a:pt x="2698" y="1624234"/>
                </a:lnTo>
                <a:lnTo>
                  <a:pt x="0" y="1604832"/>
                </a:lnTo>
                <a:close/>
              </a:path>
            </a:pathLst>
          </a:custGeom>
          <a:gradFill rotWithShape="1">
            <a:gsLst>
              <a:gs pos="0">
                <a:srgbClr val="6E40C9"/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676820" y="2840642"/>
            <a:ext cx="571500" cy="571500"/>
          </a:xfrm>
          <a:prstGeom prst="rect">
            <a:avLst/>
          </a:prstGeom>
          <a:gradFill rotWithShape="1">
            <a:gsLst>
              <a:gs pos="0">
                <a:srgbClr val="6E40C9">
                  <a:alpha val="1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224213" y="2984153"/>
            <a:ext cx="21580" cy="1675952"/>
          </a:xfrm>
          <a:custGeom>
            <a:avLst/>
            <a:gdLst/>
            <a:ahLst/>
            <a:cxnLst/>
            <a:rect l="l" t="t" r="r" b="b"/>
            <a:pathLst>
              <a:path w="21580" h="1675952">
                <a:moveTo>
                  <a:pt x="0" y="71120"/>
                </a:moveTo>
                <a:lnTo>
                  <a:pt x="2698" y="51719"/>
                </a:lnTo>
                <a:lnTo>
                  <a:pt x="5395" y="43949"/>
                </a:lnTo>
                <a:lnTo>
                  <a:pt x="8093" y="38172"/>
                </a:lnTo>
                <a:lnTo>
                  <a:pt x="10790" y="33459"/>
                </a:lnTo>
                <a:lnTo>
                  <a:pt x="13488" y="29448"/>
                </a:lnTo>
                <a:lnTo>
                  <a:pt x="16185" y="25951"/>
                </a:lnTo>
                <a:lnTo>
                  <a:pt x="18883" y="22857"/>
                </a:lnTo>
                <a:lnTo>
                  <a:pt x="21580" y="20092"/>
                </a:lnTo>
                <a:lnTo>
                  <a:pt x="21580" y="1655860"/>
                </a:lnTo>
                <a:lnTo>
                  <a:pt x="18883" y="1653095"/>
                </a:lnTo>
                <a:lnTo>
                  <a:pt x="16185" y="1650001"/>
                </a:lnTo>
                <a:lnTo>
                  <a:pt x="13488" y="1646504"/>
                </a:lnTo>
                <a:lnTo>
                  <a:pt x="10790" y="1642493"/>
                </a:lnTo>
                <a:lnTo>
                  <a:pt x="8093" y="1637781"/>
                </a:lnTo>
                <a:lnTo>
                  <a:pt x="5395" y="1632004"/>
                </a:lnTo>
                <a:lnTo>
                  <a:pt x="2698" y="1624234"/>
                </a:lnTo>
                <a:lnTo>
                  <a:pt x="0" y="1604832"/>
                </a:lnTo>
                <a:close/>
              </a:path>
            </a:pathLst>
          </a:custGeom>
          <a:gradFill rotWithShape="1">
            <a:gsLst>
              <a:gs pos="0">
                <a:srgbClr val="6E40C9"/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491610" y="2840642"/>
            <a:ext cx="571500" cy="571500"/>
          </a:xfrm>
          <a:prstGeom prst="rect">
            <a:avLst/>
          </a:prstGeom>
          <a:gradFill rotWithShape="1">
            <a:gsLst>
              <a:gs pos="0">
                <a:srgbClr val="6E40C9">
                  <a:alpha val="1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038999" y="2984153"/>
            <a:ext cx="21580" cy="1675952"/>
          </a:xfrm>
          <a:custGeom>
            <a:avLst/>
            <a:gdLst/>
            <a:ahLst/>
            <a:cxnLst/>
            <a:rect l="l" t="t" r="r" b="b"/>
            <a:pathLst>
              <a:path w="21580" h="1675952">
                <a:moveTo>
                  <a:pt x="0" y="71120"/>
                </a:moveTo>
                <a:lnTo>
                  <a:pt x="2698" y="51719"/>
                </a:lnTo>
                <a:lnTo>
                  <a:pt x="5395" y="43949"/>
                </a:lnTo>
                <a:lnTo>
                  <a:pt x="8093" y="38172"/>
                </a:lnTo>
                <a:lnTo>
                  <a:pt x="10790" y="33459"/>
                </a:lnTo>
                <a:lnTo>
                  <a:pt x="13488" y="29448"/>
                </a:lnTo>
                <a:lnTo>
                  <a:pt x="16185" y="25951"/>
                </a:lnTo>
                <a:lnTo>
                  <a:pt x="18883" y="22857"/>
                </a:lnTo>
                <a:lnTo>
                  <a:pt x="21580" y="20092"/>
                </a:lnTo>
                <a:lnTo>
                  <a:pt x="21580" y="1655860"/>
                </a:lnTo>
                <a:lnTo>
                  <a:pt x="18883" y="1653095"/>
                </a:lnTo>
                <a:lnTo>
                  <a:pt x="16185" y="1650001"/>
                </a:lnTo>
                <a:lnTo>
                  <a:pt x="13488" y="1646504"/>
                </a:lnTo>
                <a:lnTo>
                  <a:pt x="10790" y="1642493"/>
                </a:lnTo>
                <a:lnTo>
                  <a:pt x="8093" y="1637781"/>
                </a:lnTo>
                <a:lnTo>
                  <a:pt x="5395" y="1632004"/>
                </a:lnTo>
                <a:lnTo>
                  <a:pt x="2698" y="1624234"/>
                </a:lnTo>
                <a:lnTo>
                  <a:pt x="0" y="1604832"/>
                </a:lnTo>
                <a:close/>
              </a:path>
            </a:pathLst>
          </a:custGeom>
          <a:gradFill rotWithShape="1">
            <a:gsLst>
              <a:gs pos="0">
                <a:srgbClr val="6E40C9"/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306244" y="2840642"/>
            <a:ext cx="571500" cy="571500"/>
          </a:xfrm>
          <a:prstGeom prst="rect">
            <a:avLst/>
          </a:prstGeom>
          <a:gradFill rotWithShape="1">
            <a:gsLst>
              <a:gs pos="0">
                <a:srgbClr val="6E40C9">
                  <a:alpha val="1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6E40C9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0" y="214610"/>
            <a:ext cx="9144000" cy="5143500"/>
          </a:xfrm>
          <a:prstGeom prst="rect">
            <a:avLst/>
          </a:prstGeom>
          <a:gradFill rotWithShape="1">
            <a:gsLst>
              <a:gs pos="0">
                <a:srgbClr val="6E40C9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264560" y="171982"/>
            <a:ext cx="1251198" cy="181228"/>
          </a:xfrm>
          <a:prstGeom prst="roundRect">
            <a:avLst>
              <a:gd name="adj" fmla="val 79188"/>
            </a:avLst>
          </a:prstGeom>
          <a:solidFill>
            <a:srgbClr val="6E40C9">
              <a:alpha val="18000"/>
            </a:srgbClr>
          </a:solidFill>
          <a:ln w="9525">
            <a:solidFill>
              <a:srgbClr val="6E40C9">
                <a:alpha val="4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KEYBOARD SHORTCUTS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00050" y="522684"/>
            <a:ext cx="8927973" cy="266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1"/>
              </a:lnSpc>
              <a:buNone/>
            </a:pPr>
            <a:r>
              <a:rPr lang="en-US" sz="3600" kern="0" spc="-2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Core Shortcuts to </a:t>
            </a:r>
            <a:r>
              <a:rPr lang="en-US" sz="3600" kern="0" spc="-20" dirty="0">
                <a:solidFill>
                  <a:srgbClr val="8B5C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Master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400050" y="889984"/>
            <a:ext cx="9178290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2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your Copilot CLI session like a pro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00050" y="1179314"/>
            <a:ext cx="2714327" cy="1695004"/>
          </a:xfrm>
          <a:prstGeom prst="roundRect">
            <a:avLst>
              <a:gd name="adj" fmla="val 4196"/>
            </a:avLst>
          </a:prstGeom>
          <a:solidFill>
            <a:srgbClr val="161B22"/>
          </a:solidFill>
          <a:ln w="9525">
            <a:solidFill>
              <a:srgbClr val="6E40C9">
                <a:alpha val="1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48724" y="1355080"/>
            <a:ext cx="442511" cy="234851"/>
          </a:xfrm>
          <a:prstGeom prst="roundRect">
            <a:avLst>
              <a:gd name="adj" fmla="val 18386"/>
            </a:avLst>
          </a:prstGeom>
          <a:solidFill>
            <a:srgbClr val="6E40C9">
              <a:alpha val="12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Esc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2760762" y="1334095"/>
            <a:ext cx="200620" cy="200620"/>
          </a:xfrm>
          <a:prstGeom prst="roundRect">
            <a:avLst>
              <a:gd name="adj" fmla="val 21523"/>
            </a:avLst>
          </a:prstGeom>
          <a:solidFill>
            <a:srgbClr val="6E40C9">
              <a:alpha val="1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1600" dirty="0"/>
          </a:p>
        </p:txBody>
      </p:sp>
      <p:pic>
        <p:nvPicPr>
          <p:cNvPr id="2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7925" y="1281258"/>
            <a:ext cx="219441" cy="219441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469900" y="1731764"/>
            <a:ext cx="2649170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4"/>
              </a:lnSpc>
              <a:spcBef>
                <a:spcPts val="110"/>
              </a:spcBef>
              <a:buNone/>
            </a:pPr>
            <a:r>
              <a:rPr lang="en-US" sz="2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Operation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476205" y="2060983"/>
            <a:ext cx="2649170" cy="128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the current running </a:t>
            </a:r>
          </a:p>
          <a:p>
            <a:pPr marL="0" indent="0" algn="l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 immediately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3214688" y="1179314"/>
            <a:ext cx="2714476" cy="1695004"/>
          </a:xfrm>
          <a:prstGeom prst="roundRect">
            <a:avLst>
              <a:gd name="adj" fmla="val 4196"/>
            </a:avLst>
          </a:prstGeom>
          <a:solidFill>
            <a:srgbClr val="161B22"/>
          </a:solidFill>
          <a:ln w="9525">
            <a:solidFill>
              <a:srgbClr val="6E40C9">
                <a:alpha val="1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6"/>
          <p:cNvSpPr/>
          <p:nvPr/>
        </p:nvSpPr>
        <p:spPr>
          <a:xfrm>
            <a:off x="3426188" y="1339156"/>
            <a:ext cx="760693" cy="234851"/>
          </a:xfrm>
          <a:prstGeom prst="roundRect">
            <a:avLst>
              <a:gd name="adj" fmla="val 18386"/>
            </a:avLst>
          </a:prstGeom>
          <a:solidFill>
            <a:srgbClr val="6E40C9">
              <a:alpha val="12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Ctrl +</a:t>
            </a:r>
            <a:r>
              <a:rPr lang="en-US" sz="2000" dirty="0"/>
              <a:t> </a:t>
            </a:r>
            <a:r>
              <a:rPr lang="en-US" sz="20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endParaRPr lang="en-US" sz="2000" dirty="0"/>
          </a:p>
        </p:txBody>
      </p:sp>
      <p:sp>
        <p:nvSpPr>
          <p:cNvPr id="30" name="Text 27"/>
          <p:cNvSpPr/>
          <p:nvPr/>
        </p:nvSpPr>
        <p:spPr>
          <a:xfrm>
            <a:off x="5575548" y="1334095"/>
            <a:ext cx="200620" cy="200620"/>
          </a:xfrm>
          <a:prstGeom prst="roundRect">
            <a:avLst>
              <a:gd name="adj" fmla="val 21523"/>
            </a:avLst>
          </a:prstGeom>
          <a:solidFill>
            <a:srgbClr val="6E40C9">
              <a:alpha val="1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1600" dirty="0"/>
          </a:p>
        </p:txBody>
      </p:sp>
      <p:pic>
        <p:nvPicPr>
          <p:cNvPr id="31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57594" y="1216141"/>
            <a:ext cx="284558" cy="284558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3280537" y="1733848"/>
            <a:ext cx="2649334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4"/>
              </a:lnSpc>
              <a:spcBef>
                <a:spcPts val="110"/>
              </a:spcBef>
              <a:buNone/>
            </a:pPr>
            <a:r>
              <a:rPr lang="en-US" sz="2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/ Clear / Exit</a:t>
            </a:r>
            <a:endParaRPr lang="en-US" sz="2000" dirty="0"/>
          </a:p>
        </p:txBody>
      </p:sp>
      <p:sp>
        <p:nvSpPr>
          <p:cNvPr id="33" name="Text 29"/>
          <p:cNvSpPr/>
          <p:nvPr/>
        </p:nvSpPr>
        <p:spPr>
          <a:xfrm>
            <a:off x="3362571" y="2079351"/>
            <a:ext cx="2649334" cy="128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if thinking, clear input </a:t>
            </a:r>
          </a:p>
          <a:p>
            <a:pPr marL="0" indent="0" algn="l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idle, or exit the session</a:t>
            </a:r>
            <a:endParaRPr lang="en-US" sz="1600" dirty="0"/>
          </a:p>
        </p:txBody>
      </p:sp>
      <p:sp>
        <p:nvSpPr>
          <p:cNvPr id="34" name="Text 30"/>
          <p:cNvSpPr/>
          <p:nvPr/>
        </p:nvSpPr>
        <p:spPr>
          <a:xfrm>
            <a:off x="6029474" y="1179314"/>
            <a:ext cx="2714327" cy="1695004"/>
          </a:xfrm>
          <a:prstGeom prst="roundRect">
            <a:avLst>
              <a:gd name="adj" fmla="val 4196"/>
            </a:avLst>
          </a:prstGeom>
          <a:solidFill>
            <a:srgbClr val="161B22"/>
          </a:solidFill>
          <a:ln w="9525">
            <a:solidFill>
              <a:srgbClr val="6E40C9">
                <a:alpha val="1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31"/>
          <p:cNvSpPr/>
          <p:nvPr/>
        </p:nvSpPr>
        <p:spPr>
          <a:xfrm>
            <a:off x="6175011" y="1316980"/>
            <a:ext cx="760693" cy="234851"/>
          </a:xfrm>
          <a:prstGeom prst="roundRect">
            <a:avLst>
              <a:gd name="adj" fmla="val 18386"/>
            </a:avLst>
          </a:prstGeom>
          <a:solidFill>
            <a:srgbClr val="6E40C9">
              <a:alpha val="12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Ctrl</a:t>
            </a:r>
            <a:r>
              <a:rPr lang="en-US" sz="2000" dirty="0"/>
              <a:t> </a:t>
            </a:r>
            <a:r>
              <a:rPr lang="en-US" sz="20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r>
              <a:rPr lang="en-US" sz="2000" dirty="0"/>
              <a:t> </a:t>
            </a:r>
            <a:r>
              <a:rPr lang="en-US" sz="20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</a:t>
            </a:r>
            <a:endParaRPr lang="en-US" sz="2000" dirty="0"/>
          </a:p>
        </p:txBody>
      </p:sp>
      <p:pic>
        <p:nvPicPr>
          <p:cNvPr id="3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24202" y="1368111"/>
            <a:ext cx="132588" cy="132588"/>
          </a:xfrm>
          <a:prstGeom prst="rect">
            <a:avLst/>
          </a:prstGeom>
        </p:spPr>
      </p:pic>
      <p:sp>
        <p:nvSpPr>
          <p:cNvPr id="38" name="Text 33"/>
          <p:cNvSpPr/>
          <p:nvPr/>
        </p:nvSpPr>
        <p:spPr>
          <a:xfrm>
            <a:off x="6080306" y="1738650"/>
            <a:ext cx="2649170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4"/>
              </a:lnSpc>
              <a:spcBef>
                <a:spcPts val="110"/>
              </a:spcBef>
              <a:buNone/>
            </a:pPr>
            <a:r>
              <a:rPr lang="en-US" sz="2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Screen</a:t>
            </a:r>
            <a:endParaRPr lang="en-US" sz="2000" dirty="0"/>
          </a:p>
        </p:txBody>
      </p:sp>
      <p:sp>
        <p:nvSpPr>
          <p:cNvPr id="39" name="Text 34"/>
          <p:cNvSpPr/>
          <p:nvPr/>
        </p:nvSpPr>
        <p:spPr>
          <a:xfrm>
            <a:off x="6105629" y="2168615"/>
            <a:ext cx="2649170" cy="128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Clears the terminal display </a:t>
            </a:r>
          </a:p>
          <a:p>
            <a:pPr marL="0" indent="0" algn="l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ending your session</a:t>
            </a:r>
            <a:endParaRPr lang="en-US" sz="1600" dirty="0"/>
          </a:p>
        </p:txBody>
      </p:sp>
      <p:sp>
        <p:nvSpPr>
          <p:cNvPr id="40" name="Text 35"/>
          <p:cNvSpPr/>
          <p:nvPr/>
        </p:nvSpPr>
        <p:spPr>
          <a:xfrm>
            <a:off x="400050" y="2974628"/>
            <a:ext cx="2714327" cy="1695004"/>
          </a:xfrm>
          <a:prstGeom prst="roundRect">
            <a:avLst>
              <a:gd name="adj" fmla="val 4196"/>
            </a:avLst>
          </a:prstGeom>
          <a:solidFill>
            <a:srgbClr val="161B22"/>
          </a:solidFill>
          <a:ln w="9525">
            <a:solidFill>
              <a:srgbClr val="6E40C9">
                <a:alpha val="1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6"/>
          <p:cNvSpPr/>
          <p:nvPr/>
        </p:nvSpPr>
        <p:spPr>
          <a:xfrm>
            <a:off x="412188" y="3096980"/>
            <a:ext cx="257005" cy="234851"/>
          </a:xfrm>
          <a:prstGeom prst="roundRect">
            <a:avLst>
              <a:gd name="adj" fmla="val 18386"/>
            </a:avLst>
          </a:prstGeom>
          <a:solidFill>
            <a:srgbClr val="6E40C9">
              <a:alpha val="12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</a:t>
            </a:r>
            <a:endParaRPr lang="en-US" sz="2000" dirty="0"/>
          </a:p>
        </p:txBody>
      </p:sp>
      <p:sp>
        <p:nvSpPr>
          <p:cNvPr id="42" name="Text 37"/>
          <p:cNvSpPr/>
          <p:nvPr/>
        </p:nvSpPr>
        <p:spPr>
          <a:xfrm>
            <a:off x="2588982" y="3054251"/>
            <a:ext cx="372400" cy="275778"/>
          </a:xfrm>
          <a:prstGeom prst="roundRect">
            <a:avLst>
              <a:gd name="adj" fmla="val 21523"/>
            </a:avLst>
          </a:prstGeom>
          <a:solidFill>
            <a:srgbClr val="6E40C9">
              <a:alpha val="1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2000" dirty="0"/>
          </a:p>
        </p:txBody>
      </p:sp>
      <p:pic>
        <p:nvPicPr>
          <p:cNvPr id="4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674289" y="3042936"/>
            <a:ext cx="253077" cy="253077"/>
          </a:xfrm>
          <a:prstGeom prst="rect">
            <a:avLst/>
          </a:prstGeom>
        </p:spPr>
      </p:pic>
      <p:sp>
        <p:nvSpPr>
          <p:cNvPr id="44" name="Text 38"/>
          <p:cNvSpPr/>
          <p:nvPr/>
        </p:nvSpPr>
        <p:spPr>
          <a:xfrm>
            <a:off x="443109" y="3534613"/>
            <a:ext cx="2649170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4"/>
              </a:lnSpc>
              <a:spcBef>
                <a:spcPts val="110"/>
              </a:spcBef>
              <a:buNone/>
            </a:pPr>
            <a:r>
              <a:rPr lang="en-US" sz="2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Mention Files</a:t>
            </a:r>
            <a:endParaRPr lang="en-US" sz="2000" dirty="0"/>
          </a:p>
        </p:txBody>
      </p:sp>
      <p:sp>
        <p:nvSpPr>
          <p:cNvPr id="45" name="Text 39"/>
          <p:cNvSpPr/>
          <p:nvPr/>
        </p:nvSpPr>
        <p:spPr>
          <a:xfrm>
            <a:off x="431155" y="3873286"/>
            <a:ext cx="2649170" cy="128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specific files to </a:t>
            </a:r>
          </a:p>
          <a:p>
            <a:pPr marL="0" indent="0" algn="l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them in Copilot's context</a:t>
            </a:r>
            <a:endParaRPr lang="en-US" sz="1600" dirty="0"/>
          </a:p>
        </p:txBody>
      </p:sp>
      <p:sp>
        <p:nvSpPr>
          <p:cNvPr id="46" name="Text 40"/>
          <p:cNvSpPr/>
          <p:nvPr/>
        </p:nvSpPr>
        <p:spPr>
          <a:xfrm>
            <a:off x="3214688" y="2974628"/>
            <a:ext cx="2714476" cy="1695004"/>
          </a:xfrm>
          <a:prstGeom prst="roundRect">
            <a:avLst>
              <a:gd name="adj" fmla="val 4196"/>
            </a:avLst>
          </a:prstGeom>
          <a:solidFill>
            <a:srgbClr val="161B22"/>
          </a:solidFill>
          <a:ln w="9525">
            <a:solidFill>
              <a:srgbClr val="6E40C9">
                <a:alpha val="1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Text 41"/>
          <p:cNvSpPr/>
          <p:nvPr/>
        </p:nvSpPr>
        <p:spPr>
          <a:xfrm>
            <a:off x="3317390" y="3081612"/>
            <a:ext cx="257005" cy="234851"/>
          </a:xfrm>
          <a:prstGeom prst="roundRect">
            <a:avLst>
              <a:gd name="adj" fmla="val 18386"/>
            </a:avLst>
          </a:prstGeom>
          <a:solidFill>
            <a:srgbClr val="6E40C9">
              <a:alpha val="12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endParaRPr lang="en-US" sz="2000" dirty="0"/>
          </a:p>
        </p:txBody>
      </p:sp>
      <p:sp>
        <p:nvSpPr>
          <p:cNvPr id="48" name="Text 42"/>
          <p:cNvSpPr/>
          <p:nvPr/>
        </p:nvSpPr>
        <p:spPr>
          <a:xfrm>
            <a:off x="5457594" y="3082677"/>
            <a:ext cx="318574" cy="247352"/>
          </a:xfrm>
          <a:prstGeom prst="roundRect">
            <a:avLst>
              <a:gd name="adj" fmla="val 21523"/>
            </a:avLst>
          </a:prstGeom>
          <a:solidFill>
            <a:srgbClr val="6E40C9">
              <a:alpha val="1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2000" dirty="0"/>
          </a:p>
        </p:txBody>
      </p:sp>
      <p:pic>
        <p:nvPicPr>
          <p:cNvPr id="49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525090" y="3078951"/>
            <a:ext cx="217062" cy="217062"/>
          </a:xfrm>
          <a:prstGeom prst="rect">
            <a:avLst/>
          </a:prstGeom>
        </p:spPr>
      </p:pic>
      <p:sp>
        <p:nvSpPr>
          <p:cNvPr id="50" name="Text 43"/>
          <p:cNvSpPr/>
          <p:nvPr/>
        </p:nvSpPr>
        <p:spPr>
          <a:xfrm>
            <a:off x="3296774" y="3529580"/>
            <a:ext cx="2649334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4"/>
              </a:lnSpc>
              <a:spcBef>
                <a:spcPts val="110"/>
              </a:spcBef>
              <a:buNone/>
            </a:pPr>
            <a:r>
              <a:rPr lang="en-US" sz="2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Slash Commands</a:t>
            </a:r>
            <a:endParaRPr lang="en-US" sz="2000" dirty="0"/>
          </a:p>
        </p:txBody>
      </p:sp>
      <p:sp>
        <p:nvSpPr>
          <p:cNvPr id="51" name="Text 44"/>
          <p:cNvSpPr/>
          <p:nvPr/>
        </p:nvSpPr>
        <p:spPr>
          <a:xfrm>
            <a:off x="3362571" y="3910649"/>
            <a:ext cx="2649334" cy="128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all available slash </a:t>
            </a:r>
          </a:p>
          <a:p>
            <a:pPr marL="0" indent="0" algn="l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 like /login, /help</a:t>
            </a:r>
            <a:endParaRPr lang="en-US" sz="1600" dirty="0"/>
          </a:p>
        </p:txBody>
      </p:sp>
      <p:sp>
        <p:nvSpPr>
          <p:cNvPr id="52" name="Text 45"/>
          <p:cNvSpPr/>
          <p:nvPr/>
        </p:nvSpPr>
        <p:spPr>
          <a:xfrm>
            <a:off x="6029474" y="2974628"/>
            <a:ext cx="2714327" cy="1695004"/>
          </a:xfrm>
          <a:prstGeom prst="roundRect">
            <a:avLst>
              <a:gd name="adj" fmla="val 4196"/>
            </a:avLst>
          </a:prstGeom>
          <a:solidFill>
            <a:srgbClr val="161B22"/>
          </a:solidFill>
          <a:ln w="9525">
            <a:solidFill>
              <a:srgbClr val="6E40C9">
                <a:alpha val="1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3" name="Text 46"/>
          <p:cNvSpPr/>
          <p:nvPr/>
        </p:nvSpPr>
        <p:spPr>
          <a:xfrm>
            <a:off x="6096590" y="3082975"/>
            <a:ext cx="257005" cy="234851"/>
          </a:xfrm>
          <a:prstGeom prst="roundRect">
            <a:avLst>
              <a:gd name="adj" fmla="val 18386"/>
            </a:avLst>
          </a:prstGeom>
          <a:solidFill>
            <a:srgbClr val="6E40C9">
              <a:alpha val="12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</a:t>
            </a:r>
            <a:endParaRPr lang="en-US" sz="2000" dirty="0"/>
          </a:p>
        </p:txBody>
      </p:sp>
      <p:pic>
        <p:nvPicPr>
          <p:cNvPr id="55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24202" y="3163425"/>
            <a:ext cx="132588" cy="132588"/>
          </a:xfrm>
          <a:prstGeom prst="rect">
            <a:avLst/>
          </a:prstGeom>
        </p:spPr>
      </p:pic>
      <p:sp>
        <p:nvSpPr>
          <p:cNvPr id="56" name="Text 48"/>
          <p:cNvSpPr/>
          <p:nvPr/>
        </p:nvSpPr>
        <p:spPr>
          <a:xfrm>
            <a:off x="6111657" y="3540774"/>
            <a:ext cx="2649170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4"/>
              </a:lnSpc>
              <a:spcBef>
                <a:spcPts val="110"/>
              </a:spcBef>
              <a:buNone/>
            </a:pPr>
            <a:r>
              <a:rPr lang="en-US" sz="2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Tabbed Help</a:t>
            </a:r>
            <a:endParaRPr lang="en-US" sz="2000" dirty="0"/>
          </a:p>
        </p:txBody>
      </p:sp>
      <p:sp>
        <p:nvSpPr>
          <p:cNvPr id="57" name="Text 49"/>
          <p:cNvSpPr/>
          <p:nvPr/>
        </p:nvSpPr>
        <p:spPr>
          <a:xfrm>
            <a:off x="6175011" y="3859517"/>
            <a:ext cx="2649170" cy="128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contextual help in a </a:t>
            </a:r>
          </a:p>
          <a:p>
            <a:pPr marL="0" indent="0" algn="l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tabbed interface</a:t>
            </a:r>
            <a:endParaRPr lang="en-US" sz="1600" dirty="0"/>
          </a:p>
        </p:txBody>
      </p:sp>
      <p:sp>
        <p:nvSpPr>
          <p:cNvPr id="58" name="Text 50"/>
          <p:cNvSpPr/>
          <p:nvPr/>
        </p:nvSpPr>
        <p:spPr>
          <a:xfrm>
            <a:off x="7141666" y="4779318"/>
            <a:ext cx="283875" cy="112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85"/>
              </a:lnSpc>
              <a:buNone/>
            </a:pPr>
            <a:r>
              <a:rPr lang="en-US" sz="59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</a:t>
            </a:r>
            <a:endParaRPr lang="en-US" sz="590" dirty="0"/>
          </a:p>
        </p:txBody>
      </p:sp>
      <p:sp>
        <p:nvSpPr>
          <p:cNvPr id="59" name="Text 51"/>
          <p:cNvSpPr/>
          <p:nvPr/>
        </p:nvSpPr>
        <p:spPr>
          <a:xfrm>
            <a:off x="7442895" y="4755952"/>
            <a:ext cx="1327077" cy="158948"/>
          </a:xfrm>
          <a:prstGeom prst="roundRect">
            <a:avLst>
              <a:gd name="adj" fmla="val 54332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>
                <a:alpha val="8000"/>
              </a:srgbClr>
            </a:solidFill>
          </a:ln>
        </p:spPr>
        <p:txBody>
          <a:bodyPr wrap="none" lIns="153610" tIns="13970" rIns="64770" bIns="13970" rtlCol="0" anchor="ctr"/>
          <a:lstStyle/>
          <a:p>
            <a:pPr marL="0" indent="0" algn="l">
              <a:buNone/>
            </a:pPr>
            <a:r>
              <a:rPr lang="en-US" sz="59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GitHub Copilot CLI Docs</a:t>
            </a:r>
            <a:endParaRPr lang="en-US" sz="590" dirty="0"/>
          </a:p>
        </p:txBody>
      </p:sp>
      <p:pic>
        <p:nvPicPr>
          <p:cNvPr id="60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477506" y="4769132"/>
            <a:ext cx="132588" cy="13258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72070" y="355550"/>
            <a:ext cx="848469" cy="177299"/>
          </a:xfrm>
          <a:prstGeom prst="roundRect">
            <a:avLst>
              <a:gd name="adj" fmla="val 24354"/>
            </a:avLst>
          </a:prstGeom>
          <a:solidFill>
            <a:srgbClr val="6E40C9">
              <a:alpha val="90000"/>
            </a:srgbClr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2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Copilot</a:t>
            </a:r>
            <a:endParaRPr lang="en-US" sz="620" dirty="0"/>
          </a:p>
        </p:txBody>
      </p:sp>
      <p:sp>
        <p:nvSpPr>
          <p:cNvPr id="3" name="Text 1"/>
          <p:cNvSpPr/>
          <p:nvPr/>
        </p:nvSpPr>
        <p:spPr>
          <a:xfrm>
            <a:off x="1320850" y="314920"/>
            <a:ext cx="2917229" cy="242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910"/>
              </a:lnSpc>
              <a:buNone/>
            </a:pPr>
            <a:r>
              <a:rPr lang="en-US" sz="1910" kern="0" spc="-2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Navigation &amp; </a:t>
            </a:r>
            <a:r>
              <a:rPr lang="en-US" sz="1910" kern="0" spc="-20" dirty="0">
                <a:solidFill>
                  <a:srgbClr val="6E40C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Getting Help</a:t>
            </a:r>
            <a:endParaRPr lang="en-US" sz="1910" dirty="0"/>
          </a:p>
        </p:txBody>
      </p:sp>
      <p:sp>
        <p:nvSpPr>
          <p:cNvPr id="4" name="Text 2"/>
          <p:cNvSpPr/>
          <p:nvPr/>
        </p:nvSpPr>
        <p:spPr>
          <a:xfrm>
            <a:off x="386059" y="775245"/>
            <a:ext cx="4114205" cy="4156770"/>
          </a:xfrm>
          <a:prstGeom prst="roundRect">
            <a:avLst>
              <a:gd name="adj" fmla="val 2099"/>
            </a:avLst>
          </a:prstGeom>
          <a:solidFill>
            <a:srgbClr val="161B22"/>
          </a:solidFill>
          <a:ln w="9525">
            <a:solidFill>
              <a:srgbClr val="6E40C9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81595" y="767655"/>
            <a:ext cx="4095155" cy="335161"/>
          </a:xfrm>
          <a:prstGeom prst="rect">
            <a:avLst/>
          </a:prstGeom>
          <a:gradFill rotWithShape="1">
            <a:gsLst>
              <a:gs pos="0">
                <a:srgbClr val="6E40C9">
                  <a:alpha val="22000"/>
                </a:srgbClr>
              </a:gs>
              <a:gs pos="100000">
                <a:srgbClr val="6E40C9">
                  <a:alpha val="8000"/>
                </a:srgbClr>
              </a:gs>
            </a:gsLst>
            <a:lin ang="27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>
              <a:solidFill>
                <a:srgbClr val="935EA0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381595" y="1093291"/>
            <a:ext cx="4095155" cy="9525"/>
          </a:xfrm>
          <a:prstGeom prst="rect">
            <a:avLst/>
          </a:prstGeom>
          <a:solidFill>
            <a:srgbClr val="6E40C9">
              <a:alpha val="2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>
              <a:solidFill>
                <a:srgbClr val="935EA0"/>
              </a:solidFill>
            </a:endParaRPr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0833" y="871174"/>
            <a:ext cx="132588" cy="13258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06189" y="867966"/>
            <a:ext cx="1707014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1600" dirty="0">
                <a:solidFill>
                  <a:srgbClr val="935EA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COMMAND HISTORY NAVIGATION</a:t>
            </a:r>
            <a:endParaRPr lang="en-US" sz="1600" dirty="0">
              <a:solidFill>
                <a:srgbClr val="935EA0"/>
              </a:solidFill>
            </a:endParaRPr>
          </a:p>
        </p:txBody>
      </p:sp>
      <p:sp>
        <p:nvSpPr>
          <p:cNvPr id="9" name="Text 6"/>
          <p:cNvSpPr/>
          <p:nvPr/>
        </p:nvSpPr>
        <p:spPr>
          <a:xfrm>
            <a:off x="649521" y="1467570"/>
            <a:ext cx="457200" cy="457200"/>
          </a:xfrm>
          <a:prstGeom prst="roundRect">
            <a:avLst>
              <a:gd name="adj" fmla="val 15556"/>
            </a:avLst>
          </a:prstGeom>
          <a:gradFill rotWithShape="1">
            <a:gsLst>
              <a:gs pos="0">
                <a:srgbClr val="1E2530"/>
              </a:gs>
              <a:gs pos="100000">
                <a:srgbClr val="161B22"/>
              </a:gs>
            </a:gsLst>
            <a:lin ang="33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dirty="0"/>
              <a:t>z</a:t>
            </a:r>
          </a:p>
        </p:txBody>
      </p:sp>
      <p:sp>
        <p:nvSpPr>
          <p:cNvPr id="10" name="Text 7"/>
          <p:cNvSpPr/>
          <p:nvPr/>
        </p:nvSpPr>
        <p:spPr>
          <a:xfrm>
            <a:off x="549771" y="1881783"/>
            <a:ext cx="457200" cy="19050"/>
          </a:xfrm>
          <a:custGeom>
            <a:avLst/>
            <a:gdLst/>
            <a:ahLst/>
            <a:cxnLst/>
            <a:rect l="l" t="t" r="r" b="b"/>
            <a:pathLst>
              <a:path w="457200" h="19050">
                <a:moveTo>
                  <a:pt x="22677" y="0"/>
                </a:moveTo>
                <a:lnTo>
                  <a:pt x="25369" y="2381"/>
                </a:lnTo>
                <a:lnTo>
                  <a:pt x="28363" y="4763"/>
                </a:lnTo>
                <a:lnTo>
                  <a:pt x="31727" y="7144"/>
                </a:lnTo>
                <a:lnTo>
                  <a:pt x="35566" y="9525"/>
                </a:lnTo>
                <a:lnTo>
                  <a:pt x="40054" y="11906"/>
                </a:lnTo>
                <a:lnTo>
                  <a:pt x="45532" y="14288"/>
                </a:lnTo>
                <a:lnTo>
                  <a:pt x="52871" y="16669"/>
                </a:lnTo>
                <a:lnTo>
                  <a:pt x="71120" y="19050"/>
                </a:lnTo>
                <a:lnTo>
                  <a:pt x="386080" y="19050"/>
                </a:lnTo>
                <a:lnTo>
                  <a:pt x="404329" y="16669"/>
                </a:lnTo>
                <a:lnTo>
                  <a:pt x="411668" y="14288"/>
                </a:lnTo>
                <a:lnTo>
                  <a:pt x="417146" y="11906"/>
                </a:lnTo>
                <a:lnTo>
                  <a:pt x="421634" y="9525"/>
                </a:lnTo>
                <a:lnTo>
                  <a:pt x="425473" y="7144"/>
                </a:lnTo>
                <a:lnTo>
                  <a:pt x="428837" y="4763"/>
                </a:lnTo>
                <a:lnTo>
                  <a:pt x="431831" y="2381"/>
                </a:lnTo>
                <a:lnTo>
                  <a:pt x="434523" y="0"/>
                </a:lnTo>
                <a:close/>
              </a:path>
            </a:pathLst>
          </a:custGeom>
          <a:solidFill>
            <a:srgbClr val="6E40C9">
              <a:alpha val="7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1166" y="1501657"/>
            <a:ext cx="298102" cy="29810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5910" y="2021029"/>
            <a:ext cx="364421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93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↑ Older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1135112" y="1634728"/>
            <a:ext cx="104284" cy="2361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4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1358057" y="1443633"/>
            <a:ext cx="457200" cy="457200"/>
          </a:xfrm>
          <a:prstGeom prst="roundRect">
            <a:avLst>
              <a:gd name="adj" fmla="val 15556"/>
            </a:avLst>
          </a:prstGeom>
          <a:gradFill rotWithShape="1">
            <a:gsLst>
              <a:gs pos="0">
                <a:srgbClr val="1E2530"/>
              </a:gs>
              <a:gs pos="100000">
                <a:srgbClr val="161B22"/>
              </a:gs>
            </a:gsLst>
            <a:lin ang="33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1"/>
          <p:cNvSpPr/>
          <p:nvPr/>
        </p:nvSpPr>
        <p:spPr>
          <a:xfrm>
            <a:off x="1358057" y="1881783"/>
            <a:ext cx="457200" cy="19050"/>
          </a:xfrm>
          <a:custGeom>
            <a:avLst/>
            <a:gdLst/>
            <a:ahLst/>
            <a:cxnLst/>
            <a:rect l="l" t="t" r="r" b="b"/>
            <a:pathLst>
              <a:path w="457200" h="19050">
                <a:moveTo>
                  <a:pt x="22677" y="0"/>
                </a:moveTo>
                <a:lnTo>
                  <a:pt x="25369" y="2381"/>
                </a:lnTo>
                <a:lnTo>
                  <a:pt x="28363" y="4763"/>
                </a:lnTo>
                <a:lnTo>
                  <a:pt x="31727" y="7144"/>
                </a:lnTo>
                <a:lnTo>
                  <a:pt x="35566" y="9525"/>
                </a:lnTo>
                <a:lnTo>
                  <a:pt x="40054" y="11906"/>
                </a:lnTo>
                <a:lnTo>
                  <a:pt x="45532" y="14288"/>
                </a:lnTo>
                <a:lnTo>
                  <a:pt x="52871" y="16669"/>
                </a:lnTo>
                <a:lnTo>
                  <a:pt x="71120" y="19050"/>
                </a:lnTo>
                <a:lnTo>
                  <a:pt x="386080" y="19050"/>
                </a:lnTo>
                <a:lnTo>
                  <a:pt x="404329" y="16669"/>
                </a:lnTo>
                <a:lnTo>
                  <a:pt x="411668" y="14288"/>
                </a:lnTo>
                <a:lnTo>
                  <a:pt x="417146" y="11906"/>
                </a:lnTo>
                <a:lnTo>
                  <a:pt x="421634" y="9525"/>
                </a:lnTo>
                <a:lnTo>
                  <a:pt x="425473" y="7144"/>
                </a:lnTo>
                <a:lnTo>
                  <a:pt x="428837" y="4763"/>
                </a:lnTo>
                <a:lnTo>
                  <a:pt x="431831" y="2381"/>
                </a:lnTo>
                <a:lnTo>
                  <a:pt x="434523" y="0"/>
                </a:lnTo>
                <a:close/>
              </a:path>
            </a:pathLst>
          </a:custGeom>
          <a:solidFill>
            <a:srgbClr val="6E40C9">
              <a:alpha val="7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84918" y="1525707"/>
            <a:ext cx="271987" cy="27198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84918" y="1998314"/>
            <a:ext cx="364421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93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Newer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2014389" y="1552873"/>
            <a:ext cx="7590" cy="40005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4"/>
          <p:cNvSpPr/>
          <p:nvPr/>
        </p:nvSpPr>
        <p:spPr>
          <a:xfrm>
            <a:off x="2221111" y="1388418"/>
            <a:ext cx="2129213" cy="219373"/>
          </a:xfrm>
          <a:prstGeom prst="roundRect">
            <a:avLst>
              <a:gd name="adj" fmla="val 16210"/>
            </a:avLst>
          </a:prstGeom>
          <a:solidFill>
            <a:srgbClr val="6E40C9">
              <a:alpha val="25000"/>
            </a:srgbClr>
          </a:solidFill>
          <a:ln w="9525">
            <a:solidFill>
              <a:srgbClr val="6E40C9">
                <a:alpha val="45000"/>
              </a:srgbClr>
            </a:solidFill>
          </a:ln>
        </p:spPr>
        <p:txBody>
          <a:bodyPr wrap="none" lIns="100330" tIns="35560" rIns="100330" bIns="3556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Give me an overview of this project.</a:t>
            </a:r>
            <a:endParaRPr lang="en-US" sz="800" dirty="0"/>
          </a:p>
        </p:txBody>
      </p:sp>
      <p:sp>
        <p:nvSpPr>
          <p:cNvPr id="20" name="Text 15"/>
          <p:cNvSpPr/>
          <p:nvPr/>
        </p:nvSpPr>
        <p:spPr>
          <a:xfrm>
            <a:off x="2221111" y="1643211"/>
            <a:ext cx="2129213" cy="219373"/>
          </a:xfrm>
          <a:prstGeom prst="roundRect">
            <a:avLst>
              <a:gd name="adj" fmla="val 16210"/>
            </a:avLst>
          </a:prstGeom>
          <a:solidFill>
            <a:srgbClr val="6E40C9">
              <a:alpha val="12000"/>
            </a:srgbClr>
          </a:solidFill>
          <a:ln w="9525">
            <a:solidFill>
              <a:srgbClr val="6E40C9">
                <a:alpha val="20000"/>
              </a:srgbClr>
            </a:solidFill>
          </a:ln>
        </p:spPr>
        <p:txBody>
          <a:bodyPr wrap="none" lIns="100330" tIns="35560" rIns="100330" bIns="3556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tests are missing?</a:t>
            </a:r>
            <a:endParaRPr lang="en-US" sz="800" dirty="0"/>
          </a:p>
        </p:txBody>
      </p:sp>
      <p:sp>
        <p:nvSpPr>
          <p:cNvPr id="21" name="Text 16"/>
          <p:cNvSpPr/>
          <p:nvPr/>
        </p:nvSpPr>
        <p:spPr>
          <a:xfrm>
            <a:off x="2221111" y="1898005"/>
            <a:ext cx="2129213" cy="219373"/>
          </a:xfrm>
          <a:prstGeom prst="roundRect">
            <a:avLst>
              <a:gd name="adj" fmla="val 16210"/>
            </a:avLst>
          </a:prstGeom>
          <a:solidFill>
            <a:srgbClr val="6E40C9">
              <a:alpha val="4000"/>
            </a:srgbClr>
          </a:solidFill>
          <a:ln w="9525">
            <a:solidFill>
              <a:srgbClr val="6E40C9">
                <a:alpha val="12000"/>
              </a:srgbClr>
            </a:solidFill>
          </a:ln>
        </p:spPr>
        <p:txBody>
          <a:bodyPr wrap="none" lIns="100330" tIns="35560" rIns="100330" bIns="3556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Explain this function to me</a:t>
            </a:r>
            <a:endParaRPr lang="en-US" sz="800" dirty="0"/>
          </a:p>
        </p:txBody>
      </p:sp>
      <p:sp>
        <p:nvSpPr>
          <p:cNvPr id="22" name="Text 17"/>
          <p:cNvSpPr/>
          <p:nvPr/>
        </p:nvSpPr>
        <p:spPr>
          <a:xfrm>
            <a:off x="539055" y="2302669"/>
            <a:ext cx="3855839" cy="336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4"/>
              </a:lnSpc>
              <a:buNone/>
            </a:pPr>
            <a:r>
              <a:rPr lang="en-US" sz="1000" dirty="0">
                <a:solidFill>
                  <a:srgbClr val="E6EDF3">
                    <a:alpha val="92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</a:t>
            </a:r>
            <a:r>
              <a:rPr lang="en-US" sz="1000" b="1" dirty="0">
                <a:solidFill>
                  <a:srgbClr val="6E40C9">
                    <a:alpha val="92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↑</a:t>
            </a:r>
            <a:r>
              <a:rPr lang="en-US" sz="1000" dirty="0">
                <a:solidFill>
                  <a:srgbClr val="E6EDF3">
                    <a:alpha val="92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000" b="1" dirty="0">
                <a:solidFill>
                  <a:srgbClr val="6E40C9">
                    <a:alpha val="92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</a:t>
            </a:r>
            <a:r>
              <a:rPr lang="en-US" sz="1000" dirty="0">
                <a:solidFill>
                  <a:srgbClr val="E6EDF3">
                    <a:alpha val="92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arrow keys to scroll through your previous Copilot prompts — just like in a standard terminal.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614438" y="2798288"/>
            <a:ext cx="3780234" cy="409277"/>
          </a:xfrm>
          <a:prstGeom prst="rect">
            <a:avLst/>
          </a:prstGeom>
          <a:solidFill>
            <a:srgbClr val="6E40C9">
              <a:alpha val="10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19"/>
          <p:cNvSpPr/>
          <p:nvPr/>
        </p:nvSpPr>
        <p:spPr>
          <a:xfrm>
            <a:off x="539055" y="2737842"/>
            <a:ext cx="19050" cy="409277"/>
          </a:xfrm>
          <a:prstGeom prst="rect">
            <a:avLst/>
          </a:pr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2297" y="2848347"/>
            <a:ext cx="246739" cy="221313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86705" y="2793444"/>
            <a:ext cx="2507397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1000" b="1" kern="0" spc="45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980122" y="2936111"/>
            <a:ext cx="2507397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and refine earlier prompts without retyping them.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381595" y="4638229"/>
            <a:ext cx="4095155" cy="9525"/>
          </a:xfrm>
          <a:prstGeom prst="rect">
            <a:avLst/>
          </a:prstGeom>
          <a:solidFill>
            <a:srgbClr val="FFFFFF">
              <a:alpha val="6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56804" y="4647695"/>
            <a:ext cx="304038" cy="304038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1060331" y="4738293"/>
            <a:ext cx="2559293" cy="1156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10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in all supported shells — bash, zsh, PowerShell, and fish</a:t>
            </a:r>
            <a:endParaRPr lang="en-US" sz="1000" dirty="0"/>
          </a:p>
        </p:txBody>
      </p:sp>
      <p:sp>
        <p:nvSpPr>
          <p:cNvPr id="31" name="Text 24"/>
          <p:cNvSpPr/>
          <p:nvPr/>
        </p:nvSpPr>
        <p:spPr>
          <a:xfrm>
            <a:off x="4657725" y="758130"/>
            <a:ext cx="4114205" cy="4156770"/>
          </a:xfrm>
          <a:prstGeom prst="roundRect">
            <a:avLst>
              <a:gd name="adj" fmla="val 2099"/>
            </a:avLst>
          </a:prstGeom>
          <a:solidFill>
            <a:srgbClr val="161B22"/>
          </a:solidFill>
          <a:ln w="9525">
            <a:solidFill>
              <a:srgbClr val="6E40C9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25"/>
          <p:cNvSpPr/>
          <p:nvPr/>
        </p:nvSpPr>
        <p:spPr>
          <a:xfrm>
            <a:off x="4667250" y="767655"/>
            <a:ext cx="4095155" cy="335161"/>
          </a:xfrm>
          <a:prstGeom prst="rect">
            <a:avLst/>
          </a:prstGeom>
          <a:gradFill rotWithShape="1">
            <a:gsLst>
              <a:gs pos="0">
                <a:srgbClr val="6E40C9">
                  <a:alpha val="22000"/>
                </a:srgbClr>
              </a:gs>
              <a:gs pos="100000">
                <a:srgbClr val="6E40C9">
                  <a:alpha val="8000"/>
                </a:srgbClr>
              </a:gs>
            </a:gsLst>
            <a:lin ang="27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26"/>
          <p:cNvSpPr/>
          <p:nvPr/>
        </p:nvSpPr>
        <p:spPr>
          <a:xfrm>
            <a:off x="4667250" y="1093291"/>
            <a:ext cx="4095155" cy="9525"/>
          </a:xfrm>
          <a:prstGeom prst="rect">
            <a:avLst/>
          </a:prstGeom>
          <a:solidFill>
            <a:srgbClr val="6E40C9">
              <a:alpha val="2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806488" y="871174"/>
            <a:ext cx="132588" cy="132588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4991844" y="867966"/>
            <a:ext cx="1124858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1600" dirty="0">
                <a:solidFill>
                  <a:srgbClr val="935EA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/HELP COMMAND</a:t>
            </a:r>
            <a:endParaRPr lang="en-US" sz="1600" dirty="0">
              <a:solidFill>
                <a:srgbClr val="935EA0"/>
              </a:solidFill>
            </a:endParaRPr>
          </a:p>
        </p:txBody>
      </p:sp>
      <p:sp>
        <p:nvSpPr>
          <p:cNvPr id="36" name="Text 28"/>
          <p:cNvSpPr/>
          <p:nvPr/>
        </p:nvSpPr>
        <p:spPr>
          <a:xfrm>
            <a:off x="4824710" y="1260277"/>
            <a:ext cx="3855839" cy="336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4"/>
              </a:lnSpc>
              <a:buNone/>
            </a:pPr>
            <a:r>
              <a:rPr lang="en-US" sz="1200" dirty="0">
                <a:solidFill>
                  <a:srgbClr val="E6EDF3">
                    <a:alpha val="92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Displays a full list of available shortcuts, slash commands, and interactive guidance for the Copilot CLI.</a:t>
            </a:r>
            <a:endParaRPr lang="en-US" sz="1200" dirty="0"/>
          </a:p>
        </p:txBody>
      </p:sp>
      <p:sp>
        <p:nvSpPr>
          <p:cNvPr id="37" name="Text 29"/>
          <p:cNvSpPr/>
          <p:nvPr/>
        </p:nvSpPr>
        <p:spPr>
          <a:xfrm>
            <a:off x="4824710" y="1709291"/>
            <a:ext cx="3780234" cy="7590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0"/>
          <p:cNvSpPr/>
          <p:nvPr/>
        </p:nvSpPr>
        <p:spPr>
          <a:xfrm>
            <a:off x="4824710" y="1845022"/>
            <a:ext cx="4158258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kern="0" spc="43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IN-SESSION SLASH COMMAND</a:t>
            </a:r>
            <a:endParaRPr lang="en-US" dirty="0"/>
          </a:p>
        </p:txBody>
      </p:sp>
      <p:sp>
        <p:nvSpPr>
          <p:cNvPr id="39" name="Text 31"/>
          <p:cNvSpPr/>
          <p:nvPr/>
        </p:nvSpPr>
        <p:spPr>
          <a:xfrm>
            <a:off x="4824710" y="2026295"/>
            <a:ext cx="3780234" cy="298996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2"/>
          <p:cNvSpPr/>
          <p:nvPr/>
        </p:nvSpPr>
        <p:spPr>
          <a:xfrm>
            <a:off x="4824710" y="2026295"/>
            <a:ext cx="19050" cy="298996"/>
          </a:xfrm>
          <a:prstGeom prst="rect">
            <a:avLst/>
          </a:pr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3"/>
          <p:cNvSpPr/>
          <p:nvPr/>
        </p:nvSpPr>
        <p:spPr>
          <a:xfrm>
            <a:off x="4944070" y="2041624"/>
            <a:ext cx="156716" cy="20359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160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</a:t>
            </a:r>
            <a:endParaRPr lang="en-US" sz="1600" dirty="0"/>
          </a:p>
        </p:txBody>
      </p:sp>
      <p:sp>
        <p:nvSpPr>
          <p:cNvPr id="42" name="Text 34"/>
          <p:cNvSpPr/>
          <p:nvPr/>
        </p:nvSpPr>
        <p:spPr>
          <a:xfrm>
            <a:off x="5070872" y="2100560"/>
            <a:ext cx="337245" cy="15046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185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/help</a:t>
            </a:r>
            <a:endParaRPr lang="en-US" sz="1600" dirty="0"/>
          </a:p>
        </p:txBody>
      </p:sp>
      <p:sp>
        <p:nvSpPr>
          <p:cNvPr id="43" name="Text 35"/>
          <p:cNvSpPr/>
          <p:nvPr/>
        </p:nvSpPr>
        <p:spPr>
          <a:xfrm>
            <a:off x="7699921" y="2116782"/>
            <a:ext cx="874708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tabbed help</a:t>
            </a:r>
            <a:endParaRPr lang="en-US" sz="620" dirty="0"/>
          </a:p>
        </p:txBody>
      </p:sp>
      <p:sp>
        <p:nvSpPr>
          <p:cNvPr id="44" name="Text 36"/>
          <p:cNvSpPr/>
          <p:nvPr/>
        </p:nvSpPr>
        <p:spPr>
          <a:xfrm>
            <a:off x="4824710" y="2488715"/>
            <a:ext cx="4158258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kern="0" spc="43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YOUR SHELL</a:t>
            </a:r>
            <a:endParaRPr lang="en-US" dirty="0"/>
          </a:p>
        </p:txBody>
      </p:sp>
      <p:sp>
        <p:nvSpPr>
          <p:cNvPr id="45" name="Text 37"/>
          <p:cNvSpPr/>
          <p:nvPr/>
        </p:nvSpPr>
        <p:spPr>
          <a:xfrm>
            <a:off x="4824710" y="2735975"/>
            <a:ext cx="3780234" cy="298996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6" name="Text 38"/>
          <p:cNvSpPr/>
          <p:nvPr/>
        </p:nvSpPr>
        <p:spPr>
          <a:xfrm>
            <a:off x="4824710" y="2735975"/>
            <a:ext cx="19050" cy="298996"/>
          </a:xfrm>
          <a:prstGeom prst="rect">
            <a:avLst/>
          </a:pr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Text 39"/>
          <p:cNvSpPr/>
          <p:nvPr/>
        </p:nvSpPr>
        <p:spPr>
          <a:xfrm>
            <a:off x="4944070" y="2810239"/>
            <a:ext cx="156716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160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endParaRPr lang="en-US" sz="1600" dirty="0"/>
          </a:p>
        </p:txBody>
      </p:sp>
      <p:sp>
        <p:nvSpPr>
          <p:cNvPr id="48" name="Text 40"/>
          <p:cNvSpPr/>
          <p:nvPr/>
        </p:nvSpPr>
        <p:spPr>
          <a:xfrm>
            <a:off x="5070872" y="2810240"/>
            <a:ext cx="809387" cy="15046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185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help</a:t>
            </a:r>
            <a:endParaRPr lang="en-US" sz="1600" dirty="0"/>
          </a:p>
        </p:txBody>
      </p:sp>
      <p:sp>
        <p:nvSpPr>
          <p:cNvPr id="49" name="Text 41"/>
          <p:cNvSpPr/>
          <p:nvPr/>
        </p:nvSpPr>
        <p:spPr>
          <a:xfrm>
            <a:off x="7975253" y="2826462"/>
            <a:ext cx="571842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topics listed</a:t>
            </a:r>
            <a:endParaRPr lang="en-US" sz="620" dirty="0"/>
          </a:p>
        </p:txBody>
      </p:sp>
      <p:sp>
        <p:nvSpPr>
          <p:cNvPr id="50" name="Text 42"/>
          <p:cNvSpPr/>
          <p:nvPr/>
        </p:nvSpPr>
        <p:spPr>
          <a:xfrm>
            <a:off x="4806488" y="3254275"/>
            <a:ext cx="4158258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kern="0" spc="43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TOPIC-SPECIFIC HELP</a:t>
            </a:r>
            <a:endParaRPr lang="en-US" dirty="0"/>
          </a:p>
        </p:txBody>
      </p:sp>
      <p:sp>
        <p:nvSpPr>
          <p:cNvPr id="51" name="Text 43"/>
          <p:cNvSpPr/>
          <p:nvPr/>
        </p:nvSpPr>
        <p:spPr>
          <a:xfrm>
            <a:off x="4824710" y="3483359"/>
            <a:ext cx="3780234" cy="298996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2" name="Text 44"/>
          <p:cNvSpPr/>
          <p:nvPr/>
        </p:nvSpPr>
        <p:spPr>
          <a:xfrm>
            <a:off x="4824710" y="3483359"/>
            <a:ext cx="19050" cy="298996"/>
          </a:xfrm>
          <a:prstGeom prst="rect">
            <a:avLst/>
          </a:pr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3" name="Text 45"/>
          <p:cNvSpPr/>
          <p:nvPr/>
        </p:nvSpPr>
        <p:spPr>
          <a:xfrm>
            <a:off x="4944070" y="3563280"/>
            <a:ext cx="61392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160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endParaRPr lang="en-US" sz="1600" dirty="0"/>
          </a:p>
        </p:txBody>
      </p:sp>
      <p:sp>
        <p:nvSpPr>
          <p:cNvPr id="54" name="Text 46"/>
          <p:cNvSpPr/>
          <p:nvPr/>
        </p:nvSpPr>
        <p:spPr>
          <a:xfrm>
            <a:off x="5070872" y="3557624"/>
            <a:ext cx="1213917" cy="15046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185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help TOPIC</a:t>
            </a:r>
            <a:endParaRPr lang="en-US" sz="1600" dirty="0"/>
          </a:p>
        </p:txBody>
      </p:sp>
      <p:sp>
        <p:nvSpPr>
          <p:cNvPr id="55" name="Text 47"/>
          <p:cNvSpPr/>
          <p:nvPr/>
        </p:nvSpPr>
        <p:spPr>
          <a:xfrm>
            <a:off x="7813625" y="3573847"/>
            <a:ext cx="749632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Deep-dive per topic</a:t>
            </a:r>
            <a:endParaRPr lang="en-US" sz="620" dirty="0"/>
          </a:p>
        </p:txBody>
      </p:sp>
      <p:sp>
        <p:nvSpPr>
          <p:cNvPr id="56" name="Text 48"/>
          <p:cNvSpPr/>
          <p:nvPr/>
        </p:nvSpPr>
        <p:spPr>
          <a:xfrm>
            <a:off x="4824710" y="4096792"/>
            <a:ext cx="3780234" cy="409277"/>
          </a:xfrm>
          <a:prstGeom prst="rect">
            <a:avLst/>
          </a:prstGeom>
          <a:solidFill>
            <a:srgbClr val="6E40C9">
              <a:alpha val="10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7" name="Text 49"/>
          <p:cNvSpPr/>
          <p:nvPr/>
        </p:nvSpPr>
        <p:spPr>
          <a:xfrm>
            <a:off x="4824710" y="4096792"/>
            <a:ext cx="19050" cy="409277"/>
          </a:xfrm>
          <a:prstGeom prst="rect">
            <a:avLst/>
          </a:pr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58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20639" y="4151942"/>
            <a:ext cx="132588" cy="132588"/>
          </a:xfrm>
          <a:prstGeom prst="rect">
            <a:avLst/>
          </a:prstGeom>
        </p:spPr>
      </p:pic>
      <p:sp>
        <p:nvSpPr>
          <p:cNvPr id="59" name="Text 50"/>
          <p:cNvSpPr/>
          <p:nvPr/>
        </p:nvSpPr>
        <p:spPr>
          <a:xfrm>
            <a:off x="5100786" y="4167783"/>
            <a:ext cx="3504233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1600" b="1" kern="0" spc="45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600" dirty="0"/>
          </a:p>
        </p:txBody>
      </p:sp>
      <p:sp>
        <p:nvSpPr>
          <p:cNvPr id="60" name="Text 51"/>
          <p:cNvSpPr/>
          <p:nvPr/>
        </p:nvSpPr>
        <p:spPr>
          <a:xfrm>
            <a:off x="5100786" y="4296073"/>
            <a:ext cx="3504233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90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help suggest</a:t>
            </a: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where </a:t>
            </a:r>
            <a:r>
              <a:rPr lang="en-US" sz="900" dirty="0">
                <a:solidFill>
                  <a:srgbClr val="6E40C9">
                    <a:alpha val="8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TOPIC</a:t>
            </a: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any topic listed in the help output</a:t>
            </a:r>
            <a:endParaRPr lang="en-US" sz="900" dirty="0"/>
          </a:p>
        </p:txBody>
      </p:sp>
      <p:sp>
        <p:nvSpPr>
          <p:cNvPr id="61" name="Text 52"/>
          <p:cNvSpPr/>
          <p:nvPr/>
        </p:nvSpPr>
        <p:spPr>
          <a:xfrm>
            <a:off x="4667250" y="4634210"/>
            <a:ext cx="4095155" cy="9525"/>
          </a:xfrm>
          <a:prstGeom prst="rect">
            <a:avLst/>
          </a:prstGeom>
          <a:solidFill>
            <a:srgbClr val="FFFFFF">
              <a:alpha val="6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2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793168" y="4708187"/>
            <a:ext cx="132588" cy="132588"/>
          </a:xfrm>
          <a:prstGeom prst="rect">
            <a:avLst/>
          </a:prstGeom>
        </p:spPr>
      </p:pic>
      <p:sp>
        <p:nvSpPr>
          <p:cNvPr id="63" name="Text 53"/>
          <p:cNvSpPr/>
          <p:nvPr/>
        </p:nvSpPr>
        <p:spPr>
          <a:xfrm>
            <a:off x="4951363" y="4714726"/>
            <a:ext cx="3489008" cy="119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10"/>
              </a:lnSpc>
              <a:buNone/>
            </a:pPr>
            <a:r>
              <a:rPr lang="en-US" sz="6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docs.github.com/en/copilot — GitHub Copilot CLI official documentation</a:t>
            </a:r>
            <a:endParaRPr lang="en-US" sz="650" dirty="0"/>
          </a:p>
        </p:txBody>
      </p:sp>
      <p:sp>
        <p:nvSpPr>
          <p:cNvPr id="64" name="Text 54"/>
          <p:cNvSpPr/>
          <p:nvPr/>
        </p:nvSpPr>
        <p:spPr>
          <a:xfrm>
            <a:off x="791022" y="767655"/>
            <a:ext cx="3276009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6E40C9">
                  <a:alpha val="5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>
              <a:solidFill>
                <a:srgbClr val="935EA0"/>
              </a:solidFill>
            </a:endParaRPr>
          </a:p>
        </p:txBody>
      </p:sp>
      <p:sp>
        <p:nvSpPr>
          <p:cNvPr id="65" name="Text 55"/>
          <p:cNvSpPr/>
          <p:nvPr/>
        </p:nvSpPr>
        <p:spPr>
          <a:xfrm>
            <a:off x="5076676" y="767655"/>
            <a:ext cx="3276009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6E40C9">
                  <a:alpha val="5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01000" y="0"/>
            <a:ext cx="1143000" cy="1143000"/>
          </a:xfrm>
          <a:prstGeom prst="ellipse">
            <a:avLst/>
          </a:prstGeom>
          <a:gradFill rotWithShape="1">
            <a:gsLst>
              <a:gs pos="0">
                <a:srgbClr val="6E40C9">
                  <a:alpha val="1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0050" y="314920"/>
            <a:ext cx="1453009" cy="191691"/>
          </a:xfrm>
          <a:prstGeom prst="roundRect">
            <a:avLst>
              <a:gd name="adj" fmla="val 15238"/>
            </a:avLst>
          </a:prstGeom>
          <a:solidFill>
            <a:srgbClr val="6E40C9">
              <a:alpha val="15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3740" y="113885"/>
            <a:ext cx="418570" cy="418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40957" y="339524"/>
            <a:ext cx="4520468" cy="20390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Autofit/>
          </a:bodyPr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320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NON-INTERACTIVE MODE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400050" y="563761"/>
            <a:ext cx="8927973" cy="2789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97"/>
              </a:lnSpc>
              <a:spcAft>
                <a:spcPts val="230"/>
              </a:spcAft>
              <a:buNone/>
            </a:pPr>
            <a:r>
              <a:rPr lang="en-US" sz="1910" kern="0" spc="-19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Using Copilot CLI </a:t>
            </a:r>
            <a:r>
              <a:rPr lang="en-US" sz="1910" b="1" kern="0" spc="-19" dirty="0">
                <a:solidFill>
                  <a:srgbClr val="C9A8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Non-Interactively</a:t>
            </a:r>
            <a:endParaRPr lang="en-US" sz="1910" dirty="0"/>
          </a:p>
        </p:txBody>
      </p:sp>
      <p:sp>
        <p:nvSpPr>
          <p:cNvPr id="7" name="Text 4"/>
          <p:cNvSpPr/>
          <p:nvPr/>
        </p:nvSpPr>
        <p:spPr>
          <a:xfrm>
            <a:off x="400050" y="899815"/>
            <a:ext cx="342900" cy="13841"/>
          </a:xfrm>
          <a:prstGeom prst="rect">
            <a:avLst/>
          </a:prstGeom>
          <a:gradFill rotWithShape="1">
            <a:gsLst>
              <a:gs pos="0">
                <a:srgbClr val="6E40C9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400050" y="942826"/>
            <a:ext cx="9178290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instant answers without opening a full session — with the </a:t>
            </a:r>
            <a:r>
              <a:rPr lang="en-US" sz="1600" dirty="0">
                <a:solidFill>
                  <a:srgbClr val="A78BDB"/>
                </a:solidFill>
                <a:highlight>
                  <a:srgbClr val="6E40C9">
                    <a:alpha val="12000"/>
                  </a:srgbClr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-p</a:t>
            </a: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flag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00050" y="1260277"/>
            <a:ext cx="5957590" cy="475059"/>
          </a:xfrm>
          <a:prstGeom prst="roundRect">
            <a:avLst>
              <a:gd name="adj" fmla="val 12030"/>
            </a:avLst>
          </a:prstGeom>
          <a:solidFill>
            <a:srgbClr val="161B22"/>
          </a:solidFill>
          <a:ln w="9525">
            <a:solidFill>
              <a:srgbClr val="FFFFFF">
                <a:alpha val="6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7037" y="1368838"/>
            <a:ext cx="290429" cy="29042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52785" y="1348532"/>
            <a:ext cx="5488650" cy="3134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a prompt directly with </a:t>
            </a:r>
            <a:r>
              <a:rPr lang="en-US" sz="1400" dirty="0">
                <a:solidFill>
                  <a:srgbClr val="C9A8FF"/>
                </a:solidFill>
                <a:highlight>
                  <a:srgbClr val="6E40C9">
                    <a:alpha val="15000"/>
                  </a:srgbClr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-p</a:t>
            </a: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skip the interactive session entirely — get your answer and return to the shell instantly.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00050" y="1800076"/>
            <a:ext cx="5957590" cy="425797"/>
          </a:xfrm>
          <a:prstGeom prst="roundRect">
            <a:avLst>
              <a:gd name="adj" fmla="val 13422"/>
            </a:avLst>
          </a:prstGeom>
          <a:solidFill>
            <a:srgbClr val="0D1117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0"/>
          <p:cNvSpPr/>
          <p:nvPr/>
        </p:nvSpPr>
        <p:spPr>
          <a:xfrm>
            <a:off x="400050" y="1800076"/>
            <a:ext cx="19050" cy="425797"/>
          </a:xfrm>
          <a:custGeom>
            <a:avLst/>
            <a:gdLst/>
            <a:ahLst/>
            <a:cxnLst/>
            <a:rect l="l" t="t" r="r" b="b"/>
            <a:pathLst>
              <a:path w="19050" h="425797">
                <a:moveTo>
                  <a:pt x="0" y="57150"/>
                </a:moveTo>
                <a:lnTo>
                  <a:pt x="2381" y="40825"/>
                </a:lnTo>
                <a:lnTo>
                  <a:pt x="4763" y="34310"/>
                </a:lnTo>
                <a:lnTo>
                  <a:pt x="7144" y="29482"/>
                </a:lnTo>
                <a:lnTo>
                  <a:pt x="9525" y="25559"/>
                </a:lnTo>
                <a:lnTo>
                  <a:pt x="11906" y="22234"/>
                </a:lnTo>
                <a:lnTo>
                  <a:pt x="14288" y="19349"/>
                </a:lnTo>
                <a:lnTo>
                  <a:pt x="16669" y="16809"/>
                </a:lnTo>
                <a:lnTo>
                  <a:pt x="19050" y="14553"/>
                </a:lnTo>
                <a:lnTo>
                  <a:pt x="19050" y="411244"/>
                </a:lnTo>
                <a:lnTo>
                  <a:pt x="16669" y="408988"/>
                </a:lnTo>
                <a:lnTo>
                  <a:pt x="14288" y="406448"/>
                </a:lnTo>
                <a:lnTo>
                  <a:pt x="11906" y="403563"/>
                </a:lnTo>
                <a:lnTo>
                  <a:pt x="9525" y="400238"/>
                </a:lnTo>
                <a:lnTo>
                  <a:pt x="7144" y="396315"/>
                </a:lnTo>
                <a:lnTo>
                  <a:pt x="4763" y="391487"/>
                </a:lnTo>
                <a:lnTo>
                  <a:pt x="2381" y="384972"/>
                </a:lnTo>
                <a:lnTo>
                  <a:pt x="0" y="368647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7381" y="1896433"/>
            <a:ext cx="294894" cy="29489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3260" y="1945333"/>
            <a:ext cx="5478935" cy="264765"/>
          </a:xfrm>
          <a:prstGeom prst="roundRect">
            <a:avLst>
              <a:gd name="adj" fmla="val 13431"/>
            </a:avLst>
          </a:prstGeom>
          <a:solidFill>
            <a:srgbClr val="010409"/>
          </a:solidFill>
          <a:ln/>
        </p:spPr>
        <p:txBody>
          <a:bodyPr wrap="none" lIns="100330" tIns="57150" rIns="100330" bIns="5715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r>
              <a:rPr lang="en-US" sz="1100" dirty="0"/>
              <a:t> </a:t>
            </a:r>
            <a:r>
              <a:rPr lang="en-US" sz="11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</a:t>
            </a:r>
            <a:r>
              <a:rPr lang="en-US" sz="1100" dirty="0"/>
              <a:t> </a:t>
            </a:r>
            <a:r>
              <a:rPr lang="en-US" sz="110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-p</a:t>
            </a:r>
            <a:r>
              <a:rPr lang="en-US" sz="1100" dirty="0"/>
              <a:t> </a:t>
            </a:r>
            <a:r>
              <a:rPr lang="en-US" sz="110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"In Git, how can I apply a commit from another branch"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400050" y="2290614"/>
            <a:ext cx="5957590" cy="412700"/>
          </a:xfrm>
          <a:prstGeom prst="roundRect">
            <a:avLst>
              <a:gd name="adj" fmla="val 13848"/>
            </a:avLst>
          </a:prstGeom>
          <a:solidFill>
            <a:srgbClr val="161B22"/>
          </a:solidFill>
          <a:ln w="9525">
            <a:solidFill>
              <a:srgbClr val="FFFFFF">
                <a:alpha val="6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41145" y="2407425"/>
            <a:ext cx="282178" cy="28217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52785" y="2378869"/>
            <a:ext cx="5919133" cy="149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dirty="0">
                <a:solidFill>
                  <a:srgbClr val="E6EDF3"/>
                </a:solidFill>
                <a:latin typeface="Calibri" pitchFamily="34" charset="0"/>
                <a:cs typeface="Calibri" pitchFamily="34" charset="-120"/>
              </a:rPr>
              <a:t>Use </a:t>
            </a:r>
            <a:r>
              <a:rPr lang="en-US" sz="1400" dirty="0">
                <a:solidFill>
                  <a:srgbClr val="C9A8FF"/>
                </a:solidFill>
                <a:highlight>
                  <a:srgbClr val="6E40C9">
                    <a:alpha val="15000"/>
                  </a:srgbClr>
                </a:highlight>
                <a:latin typeface="Consolas" pitchFamily="34" charset="0"/>
                <a:cs typeface="Consolas" pitchFamily="34" charset="-120"/>
              </a:rPr>
              <a:t>-p</a:t>
            </a:r>
            <a:r>
              <a:rPr lang="en-US" sz="1400" dirty="0">
                <a:solidFill>
                  <a:srgbClr val="E6EDF3"/>
                </a:solidFill>
                <a:latin typeface="Calibri" pitchFamily="34" charset="0"/>
                <a:cs typeface="Calibri" pitchFamily="34" charset="-120"/>
              </a:rPr>
              <a:t> in shell scripts to automate AI-powered tasks programmatically </a:t>
            </a:r>
          </a:p>
          <a:p>
            <a:r>
              <a:rPr lang="en-US" sz="1400" dirty="0">
                <a:solidFill>
                  <a:srgbClr val="E6EDF3"/>
                </a:solidFill>
                <a:latin typeface="Calibri" pitchFamily="34" charset="0"/>
                <a:cs typeface="Calibri" pitchFamily="34" charset="-120"/>
              </a:rPr>
              <a:t>— no user interaction required.</a:t>
            </a:r>
          </a:p>
        </p:txBody>
      </p:sp>
      <p:sp>
        <p:nvSpPr>
          <p:cNvPr id="22" name="Text 16"/>
          <p:cNvSpPr/>
          <p:nvPr/>
        </p:nvSpPr>
        <p:spPr>
          <a:xfrm>
            <a:off x="400050" y="2768054"/>
            <a:ext cx="5957590" cy="412700"/>
          </a:xfrm>
          <a:prstGeom prst="roundRect">
            <a:avLst>
              <a:gd name="adj" fmla="val 13848"/>
            </a:avLst>
          </a:prstGeom>
          <a:solidFill>
            <a:srgbClr val="161B22"/>
          </a:solidFill>
          <a:ln w="9525">
            <a:solidFill>
              <a:srgbClr val="FFFFFF">
                <a:alpha val="6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17"/>
          <p:cNvSpPr/>
          <p:nvPr/>
        </p:nvSpPr>
        <p:spPr>
          <a:xfrm>
            <a:off x="523875" y="2863900"/>
            <a:ext cx="228600" cy="228600"/>
          </a:xfrm>
          <a:prstGeom prst="roundRect">
            <a:avLst>
              <a:gd name="adj" fmla="val 21667"/>
            </a:avLst>
          </a:prstGeom>
          <a:solidFill>
            <a:srgbClr val="6E40C9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5243" y="2872403"/>
            <a:ext cx="238080" cy="23808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852785" y="2856309"/>
            <a:ext cx="5919133" cy="149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</a:t>
            </a:r>
            <a:r>
              <a:rPr lang="en-US" sz="1400" dirty="0">
                <a:solidFill>
                  <a:srgbClr val="C9A8FF"/>
                </a:solidFill>
                <a:highlight>
                  <a:srgbClr val="6E40C9">
                    <a:alpha val="15000"/>
                  </a:srgbClr>
                </a:highlight>
                <a:latin typeface="Consolas" pitchFamily="34" charset="0"/>
                <a:cs typeface="Consolas" pitchFamily="34" charset="-120"/>
              </a:rPr>
              <a:t>-s</a:t>
            </a: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flag to output only Copilot's response — strips surrounding </a:t>
            </a:r>
          </a:p>
          <a:p>
            <a:pPr marL="0" indent="0" algn="l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and usage information.</a:t>
            </a:r>
            <a:endParaRPr lang="en-US" sz="1400" dirty="0"/>
          </a:p>
        </p:txBody>
      </p:sp>
      <p:sp>
        <p:nvSpPr>
          <p:cNvPr id="26" name="Text 19"/>
          <p:cNvSpPr/>
          <p:nvPr/>
        </p:nvSpPr>
        <p:spPr>
          <a:xfrm>
            <a:off x="400050" y="3245495"/>
            <a:ext cx="5957590" cy="425797"/>
          </a:xfrm>
          <a:prstGeom prst="roundRect">
            <a:avLst>
              <a:gd name="adj" fmla="val 13422"/>
            </a:avLst>
          </a:prstGeom>
          <a:solidFill>
            <a:srgbClr val="0D1117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0"/>
          <p:cNvSpPr/>
          <p:nvPr/>
        </p:nvSpPr>
        <p:spPr>
          <a:xfrm>
            <a:off x="400050" y="3245495"/>
            <a:ext cx="19050" cy="425797"/>
          </a:xfrm>
          <a:custGeom>
            <a:avLst/>
            <a:gdLst/>
            <a:ahLst/>
            <a:cxnLst/>
            <a:rect l="l" t="t" r="r" b="b"/>
            <a:pathLst>
              <a:path w="19050" h="425797">
                <a:moveTo>
                  <a:pt x="0" y="57150"/>
                </a:moveTo>
                <a:lnTo>
                  <a:pt x="2381" y="40825"/>
                </a:lnTo>
                <a:lnTo>
                  <a:pt x="4763" y="34310"/>
                </a:lnTo>
                <a:lnTo>
                  <a:pt x="7144" y="29482"/>
                </a:lnTo>
                <a:lnTo>
                  <a:pt x="9525" y="25559"/>
                </a:lnTo>
                <a:lnTo>
                  <a:pt x="11906" y="22234"/>
                </a:lnTo>
                <a:lnTo>
                  <a:pt x="14288" y="19349"/>
                </a:lnTo>
                <a:lnTo>
                  <a:pt x="16669" y="16809"/>
                </a:lnTo>
                <a:lnTo>
                  <a:pt x="19050" y="14553"/>
                </a:lnTo>
                <a:lnTo>
                  <a:pt x="19050" y="411244"/>
                </a:lnTo>
                <a:lnTo>
                  <a:pt x="16669" y="408988"/>
                </a:lnTo>
                <a:lnTo>
                  <a:pt x="14288" y="406448"/>
                </a:lnTo>
                <a:lnTo>
                  <a:pt x="11906" y="403563"/>
                </a:lnTo>
                <a:lnTo>
                  <a:pt x="9525" y="400238"/>
                </a:lnTo>
                <a:lnTo>
                  <a:pt x="7144" y="396315"/>
                </a:lnTo>
                <a:lnTo>
                  <a:pt x="4763" y="391487"/>
                </a:lnTo>
                <a:lnTo>
                  <a:pt x="2381" y="384972"/>
                </a:lnTo>
                <a:lnTo>
                  <a:pt x="0" y="368647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1"/>
          <p:cNvSpPr/>
          <p:nvPr/>
        </p:nvSpPr>
        <p:spPr>
          <a:xfrm>
            <a:off x="533400" y="3333601"/>
            <a:ext cx="228600" cy="228600"/>
          </a:xfrm>
          <a:prstGeom prst="roundRect">
            <a:avLst>
              <a:gd name="adj" fmla="val 21667"/>
            </a:avLst>
          </a:prstGeom>
          <a:solidFill>
            <a:srgbClr val="6E40C9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84902" y="3332238"/>
            <a:ext cx="229092" cy="229092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862310" y="3326011"/>
            <a:ext cx="5478935" cy="264765"/>
          </a:xfrm>
          <a:prstGeom prst="roundRect">
            <a:avLst>
              <a:gd name="adj" fmla="val 13431"/>
            </a:avLst>
          </a:prstGeom>
          <a:solidFill>
            <a:srgbClr val="010409"/>
          </a:solidFill>
          <a:ln/>
        </p:spPr>
        <p:txBody>
          <a:bodyPr wrap="none" lIns="100330" tIns="57150" rIns="100330" bIns="5715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r>
              <a:rPr lang="en-US" sz="1100" dirty="0"/>
              <a:t> </a:t>
            </a:r>
            <a:r>
              <a:rPr lang="en-US" sz="11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</a:t>
            </a:r>
            <a:r>
              <a:rPr lang="en-US" sz="1100" dirty="0"/>
              <a:t> </a:t>
            </a:r>
            <a:r>
              <a:rPr lang="en-US" sz="110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–</a:t>
            </a:r>
            <a:r>
              <a:rPr lang="en-US" sz="1100" dirty="0" err="1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</a:t>
            </a:r>
            <a:r>
              <a:rPr lang="en-US" sz="1100" dirty="0"/>
              <a:t> </a:t>
            </a:r>
            <a:r>
              <a:rPr lang="en-US" sz="110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"YOUR PROMPT HERE"</a:t>
            </a:r>
            <a:endParaRPr lang="en-US" sz="1100" dirty="0"/>
          </a:p>
        </p:txBody>
      </p:sp>
      <p:sp>
        <p:nvSpPr>
          <p:cNvPr id="31" name="Text 23"/>
          <p:cNvSpPr/>
          <p:nvPr/>
        </p:nvSpPr>
        <p:spPr>
          <a:xfrm>
            <a:off x="6529090" y="590973"/>
            <a:ext cx="2214860" cy="1592610"/>
          </a:xfrm>
          <a:prstGeom prst="roundRect">
            <a:avLst>
              <a:gd name="adj" fmla="val 4466"/>
            </a:avLst>
          </a:prstGeom>
          <a:solidFill>
            <a:srgbClr val="161B22"/>
          </a:solidFill>
          <a:ln w="9525">
            <a:solidFill>
              <a:srgbClr val="FFFFFF">
                <a:alpha val="7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24"/>
          <p:cNvSpPr/>
          <p:nvPr/>
        </p:nvSpPr>
        <p:spPr>
          <a:xfrm>
            <a:off x="6666756" y="714798"/>
            <a:ext cx="347960" cy="288131"/>
          </a:xfrm>
          <a:prstGeom prst="roundRect">
            <a:avLst>
              <a:gd name="adj" fmla="val 14986"/>
            </a:avLst>
          </a:prstGeom>
          <a:solidFill>
            <a:srgbClr val="6E40C9">
              <a:alpha val="15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-p</a:t>
            </a:r>
            <a:endParaRPr lang="en-US" sz="1600" dirty="0"/>
          </a:p>
        </p:txBody>
      </p:sp>
      <p:sp>
        <p:nvSpPr>
          <p:cNvPr id="33" name="Text 25"/>
          <p:cNvSpPr/>
          <p:nvPr/>
        </p:nvSpPr>
        <p:spPr>
          <a:xfrm>
            <a:off x="7085707" y="765697"/>
            <a:ext cx="683821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1600" b="1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Prompt Flag</a:t>
            </a:r>
            <a:endParaRPr lang="en-US" sz="1600" dirty="0"/>
          </a:p>
        </p:txBody>
      </p:sp>
      <p:sp>
        <p:nvSpPr>
          <p:cNvPr id="34" name="Text 26"/>
          <p:cNvSpPr/>
          <p:nvPr/>
        </p:nvSpPr>
        <p:spPr>
          <a:xfrm>
            <a:off x="6666756" y="1033885"/>
            <a:ext cx="1978319" cy="564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8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Passes your </a:t>
            </a: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directly</a:t>
            </a: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Copilot CLI at launch. Bypasses the interactive REPL entirely. Works anywhere you can run a shell command.</a:t>
            </a:r>
            <a:endParaRPr lang="en-US" sz="1200" dirty="0"/>
          </a:p>
        </p:txBody>
      </p:sp>
      <p:sp>
        <p:nvSpPr>
          <p:cNvPr id="35" name="Text 27"/>
          <p:cNvSpPr/>
          <p:nvPr/>
        </p:nvSpPr>
        <p:spPr>
          <a:xfrm>
            <a:off x="6666756" y="1875062"/>
            <a:ext cx="1978319" cy="184696"/>
          </a:xfrm>
          <a:prstGeom prst="rect">
            <a:avLst/>
          </a:prstGeom>
          <a:noFill/>
          <a:ln/>
        </p:spPr>
        <p:txBody>
          <a:bodyPr wrap="none" lIns="0" tIns="57150" rIns="0" bIns="0" rtlCol="0" anchor="t"/>
          <a:lstStyle/>
          <a:p>
            <a:pPr marL="0" indent="0" algn="l">
              <a:buNone/>
            </a:pPr>
            <a:r>
              <a:rPr lang="en-US" sz="1000" kern="0" spc="25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</a:t>
            </a:r>
            <a:r>
              <a:rPr lang="en-US" sz="1000" kern="0" spc="25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-p</a:t>
            </a:r>
            <a:r>
              <a:rPr lang="en-US" sz="1000" kern="0" spc="25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kern="0" spc="25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"..."</a:t>
            </a:r>
            <a:endParaRPr lang="en-US" sz="1000" dirty="0"/>
          </a:p>
        </p:txBody>
      </p:sp>
      <p:sp>
        <p:nvSpPr>
          <p:cNvPr id="36" name="Text 28"/>
          <p:cNvSpPr/>
          <p:nvPr/>
        </p:nvSpPr>
        <p:spPr>
          <a:xfrm>
            <a:off x="6666756" y="1875062"/>
            <a:ext cx="1939528" cy="9525"/>
          </a:xfrm>
          <a:prstGeom prst="rect">
            <a:avLst/>
          </a:prstGeom>
          <a:solidFill>
            <a:srgbClr val="FFFFFF">
              <a:alpha val="6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29"/>
          <p:cNvSpPr/>
          <p:nvPr/>
        </p:nvSpPr>
        <p:spPr>
          <a:xfrm>
            <a:off x="6529090" y="2269903"/>
            <a:ext cx="2214860" cy="1592610"/>
          </a:xfrm>
          <a:prstGeom prst="roundRect">
            <a:avLst>
              <a:gd name="adj" fmla="val 4466"/>
            </a:avLst>
          </a:prstGeom>
          <a:solidFill>
            <a:srgbClr val="161B22"/>
          </a:solidFill>
          <a:ln w="9525">
            <a:solidFill>
              <a:srgbClr val="FFFFFF">
                <a:alpha val="7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0"/>
          <p:cNvSpPr/>
          <p:nvPr/>
        </p:nvSpPr>
        <p:spPr>
          <a:xfrm>
            <a:off x="6666756" y="2393728"/>
            <a:ext cx="347960" cy="288131"/>
          </a:xfrm>
          <a:prstGeom prst="roundRect">
            <a:avLst>
              <a:gd name="adj" fmla="val 14986"/>
            </a:avLst>
          </a:prstGeom>
          <a:solidFill>
            <a:srgbClr val="6E40C9">
              <a:alpha val="15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-s</a:t>
            </a:r>
            <a:endParaRPr lang="en-US" sz="1600" dirty="0"/>
          </a:p>
        </p:txBody>
      </p:sp>
      <p:sp>
        <p:nvSpPr>
          <p:cNvPr id="39" name="Text 31"/>
          <p:cNvSpPr/>
          <p:nvPr/>
        </p:nvSpPr>
        <p:spPr>
          <a:xfrm>
            <a:off x="7085707" y="2444627"/>
            <a:ext cx="592797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1600" b="1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Silent Flag</a:t>
            </a:r>
            <a:endParaRPr lang="en-US" sz="1600" dirty="0"/>
          </a:p>
        </p:txBody>
      </p:sp>
      <p:sp>
        <p:nvSpPr>
          <p:cNvPr id="40" name="Text 32"/>
          <p:cNvSpPr/>
          <p:nvPr/>
        </p:nvSpPr>
        <p:spPr>
          <a:xfrm>
            <a:off x="6666756" y="2712815"/>
            <a:ext cx="1978319" cy="564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8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</a:t>
            </a: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Copilot's response</a:t>
            </a: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no headers, usage info, or decorators. Designed for </a:t>
            </a: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</a:t>
            </a: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output into other commands or capturing in variables.</a:t>
            </a:r>
            <a:endParaRPr lang="en-US" sz="1200" dirty="0"/>
          </a:p>
        </p:txBody>
      </p:sp>
      <p:sp>
        <p:nvSpPr>
          <p:cNvPr id="41" name="Text 33"/>
          <p:cNvSpPr/>
          <p:nvPr/>
        </p:nvSpPr>
        <p:spPr>
          <a:xfrm>
            <a:off x="6666756" y="3553992"/>
            <a:ext cx="1978319" cy="184696"/>
          </a:xfrm>
          <a:prstGeom prst="rect">
            <a:avLst/>
          </a:prstGeom>
          <a:noFill/>
          <a:ln/>
        </p:spPr>
        <p:txBody>
          <a:bodyPr wrap="none" lIns="0" tIns="57150" rIns="0" bIns="0" rtlCol="0" anchor="t"/>
          <a:lstStyle/>
          <a:p>
            <a:pPr marL="0" indent="0" algn="l">
              <a:buNone/>
            </a:pPr>
            <a:r>
              <a:rPr lang="en-US" sz="1000" kern="0" spc="25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</a:t>
            </a:r>
            <a:r>
              <a:rPr lang="en-US" sz="1000" kern="0" spc="25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-sp</a:t>
            </a:r>
            <a:r>
              <a:rPr lang="en-US" sz="1000" kern="0" spc="25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kern="0" spc="25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"..."</a:t>
            </a:r>
            <a:r>
              <a:rPr lang="en-US" sz="1000" kern="0" spc="25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| grep ...</a:t>
            </a:r>
            <a:endParaRPr lang="en-US" sz="1000" dirty="0"/>
          </a:p>
        </p:txBody>
      </p:sp>
      <p:sp>
        <p:nvSpPr>
          <p:cNvPr id="42" name="Text 34"/>
          <p:cNvSpPr/>
          <p:nvPr/>
        </p:nvSpPr>
        <p:spPr>
          <a:xfrm>
            <a:off x="6666756" y="3553992"/>
            <a:ext cx="1939528" cy="9525"/>
          </a:xfrm>
          <a:prstGeom prst="rect">
            <a:avLst/>
          </a:prstGeom>
          <a:solidFill>
            <a:srgbClr val="FFFFFF">
              <a:alpha val="6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35"/>
          <p:cNvSpPr/>
          <p:nvPr/>
        </p:nvSpPr>
        <p:spPr>
          <a:xfrm>
            <a:off x="400050" y="4602807"/>
            <a:ext cx="8343900" cy="312093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4" name="Text 36"/>
          <p:cNvSpPr/>
          <p:nvPr/>
        </p:nvSpPr>
        <p:spPr>
          <a:xfrm>
            <a:off x="400050" y="4602807"/>
            <a:ext cx="19050" cy="312093"/>
          </a:xfrm>
          <a:prstGeom prst="rect">
            <a:avLst/>
          </a:pr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5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8841" y="4696355"/>
            <a:ext cx="132588" cy="132588"/>
          </a:xfrm>
          <a:prstGeom prst="rect">
            <a:avLst/>
          </a:prstGeom>
        </p:spPr>
      </p:pic>
      <p:sp>
        <p:nvSpPr>
          <p:cNvPr id="46" name="Text 37"/>
          <p:cNvSpPr/>
          <p:nvPr/>
        </p:nvSpPr>
        <p:spPr>
          <a:xfrm>
            <a:off x="747861" y="4683322"/>
            <a:ext cx="8115830" cy="1947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8"/>
              </a:lnSpc>
              <a:buNone/>
            </a:pPr>
            <a:r>
              <a:rPr lang="en-US" sz="1050" b="1" dirty="0">
                <a:solidFill>
                  <a:srgbClr val="A78B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</a:t>
            </a: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</a:t>
            </a:r>
            <a:r>
              <a:rPr lang="en-US" sz="1050" b="1" dirty="0">
                <a:solidFill>
                  <a:srgbClr val="A78BDB"/>
                </a:solidFill>
                <a:highlight>
                  <a:srgbClr val="6E40C9">
                    <a:alpha val="12000"/>
                  </a:srgbClr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-s</a:t>
            </a: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(silent) flag is ideal for piping Copilot's output into other commands or storing it in variables — e.g. </a:t>
            </a:r>
            <a:r>
              <a:rPr lang="en-US" sz="1050" b="1" dirty="0">
                <a:solidFill>
                  <a:srgbClr val="A78BDB"/>
                </a:solidFill>
                <a:highlight>
                  <a:srgbClr val="6E40C9">
                    <a:alpha val="12000"/>
                  </a:srgbClr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RESULT=$(copilot -sp "...")</a:t>
            </a:r>
            <a:endParaRPr lang="en-US" sz="1050" dirty="0"/>
          </a:p>
        </p:txBody>
      </p:sp>
      <p:sp>
        <p:nvSpPr>
          <p:cNvPr id="47" name="Text 38"/>
          <p:cNvSpPr/>
          <p:nvPr/>
        </p:nvSpPr>
        <p:spPr>
          <a:xfrm>
            <a:off x="6538615" y="600498"/>
            <a:ext cx="2195808" cy="13841"/>
          </a:xfrm>
          <a:custGeom>
            <a:avLst/>
            <a:gdLst/>
            <a:ahLst/>
            <a:cxnLst/>
            <a:rect l="l" t="t" r="r" b="b"/>
            <a:pathLst>
              <a:path w="2195808" h="13841">
                <a:moveTo>
                  <a:pt x="71120" y="0"/>
                </a:moveTo>
                <a:lnTo>
                  <a:pt x="2124688" y="0"/>
                </a:lnTo>
                <a:lnTo>
                  <a:pt x="2140279" y="1730"/>
                </a:lnTo>
                <a:lnTo>
                  <a:pt x="2146601" y="3460"/>
                </a:lnTo>
                <a:lnTo>
                  <a:pt x="2151359" y="5190"/>
                </a:lnTo>
                <a:lnTo>
                  <a:pt x="2155290" y="6920"/>
                </a:lnTo>
                <a:lnTo>
                  <a:pt x="2158682" y="8651"/>
                </a:lnTo>
                <a:lnTo>
                  <a:pt x="2161685" y="10381"/>
                </a:lnTo>
                <a:lnTo>
                  <a:pt x="2164386" y="12111"/>
                </a:lnTo>
                <a:lnTo>
                  <a:pt x="2166844" y="13841"/>
                </a:lnTo>
                <a:lnTo>
                  <a:pt x="28964" y="13841"/>
                </a:lnTo>
                <a:lnTo>
                  <a:pt x="31421" y="12111"/>
                </a:lnTo>
                <a:lnTo>
                  <a:pt x="34123" y="10381"/>
                </a:lnTo>
                <a:lnTo>
                  <a:pt x="37125" y="8651"/>
                </a:lnTo>
                <a:lnTo>
                  <a:pt x="40518" y="6920"/>
                </a:lnTo>
                <a:lnTo>
                  <a:pt x="44449" y="5190"/>
                </a:lnTo>
                <a:lnTo>
                  <a:pt x="49206" y="3460"/>
                </a:lnTo>
                <a:lnTo>
                  <a:pt x="55528" y="1730"/>
                </a:lnTo>
                <a:close/>
              </a:path>
            </a:pathLst>
          </a:custGeom>
          <a:gradFill rotWithShape="1">
            <a:gsLst>
              <a:gs pos="0">
                <a:srgbClr val="6E40C9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Text 39"/>
          <p:cNvSpPr/>
          <p:nvPr/>
        </p:nvSpPr>
        <p:spPr>
          <a:xfrm>
            <a:off x="6538615" y="2279428"/>
            <a:ext cx="2195808" cy="13841"/>
          </a:xfrm>
          <a:custGeom>
            <a:avLst/>
            <a:gdLst/>
            <a:ahLst/>
            <a:cxnLst/>
            <a:rect l="l" t="t" r="r" b="b"/>
            <a:pathLst>
              <a:path w="2195808" h="13841">
                <a:moveTo>
                  <a:pt x="71120" y="0"/>
                </a:moveTo>
                <a:lnTo>
                  <a:pt x="2124688" y="0"/>
                </a:lnTo>
                <a:lnTo>
                  <a:pt x="2140279" y="1730"/>
                </a:lnTo>
                <a:lnTo>
                  <a:pt x="2146601" y="3460"/>
                </a:lnTo>
                <a:lnTo>
                  <a:pt x="2151359" y="5190"/>
                </a:lnTo>
                <a:lnTo>
                  <a:pt x="2155290" y="6920"/>
                </a:lnTo>
                <a:lnTo>
                  <a:pt x="2158682" y="8651"/>
                </a:lnTo>
                <a:lnTo>
                  <a:pt x="2161685" y="10381"/>
                </a:lnTo>
                <a:lnTo>
                  <a:pt x="2164386" y="12111"/>
                </a:lnTo>
                <a:lnTo>
                  <a:pt x="2166844" y="13841"/>
                </a:lnTo>
                <a:lnTo>
                  <a:pt x="28964" y="13841"/>
                </a:lnTo>
                <a:lnTo>
                  <a:pt x="31421" y="12111"/>
                </a:lnTo>
                <a:lnTo>
                  <a:pt x="34123" y="10381"/>
                </a:lnTo>
                <a:lnTo>
                  <a:pt x="37125" y="8651"/>
                </a:lnTo>
                <a:lnTo>
                  <a:pt x="40518" y="6920"/>
                </a:lnTo>
                <a:lnTo>
                  <a:pt x="44449" y="5190"/>
                </a:lnTo>
                <a:lnTo>
                  <a:pt x="49206" y="3460"/>
                </a:lnTo>
                <a:lnTo>
                  <a:pt x="55528" y="1730"/>
                </a:lnTo>
                <a:close/>
              </a:path>
            </a:pathLst>
          </a:custGeom>
          <a:gradFill rotWithShape="1">
            <a:gsLst>
              <a:gs pos="0">
                <a:srgbClr val="6E40C9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40"/>
          <p:cNvSpPr/>
          <p:nvPr/>
        </p:nvSpPr>
        <p:spPr>
          <a:xfrm>
            <a:off x="0" y="0"/>
            <a:ext cx="35421" cy="5143500"/>
          </a:xfrm>
          <a:prstGeom prst="rect">
            <a:avLst/>
          </a:prstGeom>
          <a:gradFill rotWithShape="1">
            <a:gsLst>
              <a:gs pos="0">
                <a:srgbClr val="6E40C9"/>
              </a:gs>
              <a:gs pos="100000">
                <a:srgbClr val="3B1D8A"/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14530" y="0"/>
            <a:ext cx="2429470" cy="2429470"/>
          </a:xfrm>
          <a:prstGeom prst="ellipse">
            <a:avLst/>
          </a:prstGeom>
          <a:gradFill rotWithShape="1">
            <a:gsLst>
              <a:gs pos="0">
                <a:srgbClr val="6E40C9">
                  <a:alpha val="1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72249" y="3429000"/>
            <a:ext cx="2143720" cy="1714500"/>
          </a:xfrm>
          <a:prstGeom prst="ellipse">
            <a:avLst/>
          </a:prstGeom>
          <a:gradFill rotWithShape="1">
            <a:gsLst>
              <a:gs pos="0">
                <a:srgbClr val="6E40C9">
                  <a:alpha val="7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745" y="1055936"/>
            <a:ext cx="1977028" cy="21580"/>
          </a:xfrm>
          <a:custGeom>
            <a:avLst/>
            <a:gdLst/>
            <a:ahLst/>
            <a:cxnLst/>
            <a:rect l="l" t="t" r="r" b="b"/>
            <a:pathLst>
              <a:path w="1977028" h="21580">
                <a:moveTo>
                  <a:pt x="71120" y="0"/>
                </a:moveTo>
                <a:lnTo>
                  <a:pt x="1905908" y="0"/>
                </a:lnTo>
                <a:lnTo>
                  <a:pt x="1925309" y="2698"/>
                </a:lnTo>
                <a:lnTo>
                  <a:pt x="1933079" y="5395"/>
                </a:lnTo>
                <a:lnTo>
                  <a:pt x="1938856" y="8093"/>
                </a:lnTo>
                <a:lnTo>
                  <a:pt x="1943569" y="10790"/>
                </a:lnTo>
                <a:lnTo>
                  <a:pt x="1947580" y="13488"/>
                </a:lnTo>
                <a:lnTo>
                  <a:pt x="1951077" y="16185"/>
                </a:lnTo>
                <a:lnTo>
                  <a:pt x="1954171" y="18883"/>
                </a:lnTo>
                <a:lnTo>
                  <a:pt x="1956936" y="21580"/>
                </a:lnTo>
                <a:lnTo>
                  <a:pt x="20092" y="21580"/>
                </a:lnTo>
                <a:lnTo>
                  <a:pt x="22857" y="18883"/>
                </a:lnTo>
                <a:lnTo>
                  <a:pt x="25951" y="16185"/>
                </a:lnTo>
                <a:lnTo>
                  <a:pt x="29448" y="13488"/>
                </a:lnTo>
                <a:lnTo>
                  <a:pt x="33459" y="10790"/>
                </a:lnTo>
                <a:lnTo>
                  <a:pt x="38172" y="8093"/>
                </a:lnTo>
                <a:lnTo>
                  <a:pt x="43949" y="5395"/>
                </a:lnTo>
                <a:lnTo>
                  <a:pt x="51719" y="2698"/>
                </a:lnTo>
                <a:close/>
              </a:path>
            </a:pathLst>
          </a:custGeom>
          <a:gradFill rotWithShape="1">
            <a:gsLst>
              <a:gs pos="0">
                <a:srgbClr val="6E40C9"/>
              </a:gs>
              <a:gs pos="100000">
                <a:srgbClr val="6E40C9">
                  <a:alpha val="3000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535138" y="1055936"/>
            <a:ext cx="1977180" cy="21580"/>
          </a:xfrm>
          <a:custGeom>
            <a:avLst/>
            <a:gdLst/>
            <a:ahLst/>
            <a:cxnLst/>
            <a:rect l="l" t="t" r="r" b="b"/>
            <a:pathLst>
              <a:path w="1977180" h="21580">
                <a:moveTo>
                  <a:pt x="71120" y="0"/>
                </a:moveTo>
                <a:lnTo>
                  <a:pt x="1906060" y="0"/>
                </a:lnTo>
                <a:lnTo>
                  <a:pt x="1925462" y="2698"/>
                </a:lnTo>
                <a:lnTo>
                  <a:pt x="1933232" y="5395"/>
                </a:lnTo>
                <a:lnTo>
                  <a:pt x="1939009" y="8093"/>
                </a:lnTo>
                <a:lnTo>
                  <a:pt x="1943721" y="10790"/>
                </a:lnTo>
                <a:lnTo>
                  <a:pt x="1947732" y="13488"/>
                </a:lnTo>
                <a:lnTo>
                  <a:pt x="1951229" y="16185"/>
                </a:lnTo>
                <a:lnTo>
                  <a:pt x="1954323" y="18883"/>
                </a:lnTo>
                <a:lnTo>
                  <a:pt x="1957088" y="21580"/>
                </a:lnTo>
                <a:lnTo>
                  <a:pt x="20092" y="21580"/>
                </a:lnTo>
                <a:lnTo>
                  <a:pt x="22857" y="18883"/>
                </a:lnTo>
                <a:lnTo>
                  <a:pt x="25951" y="16185"/>
                </a:lnTo>
                <a:lnTo>
                  <a:pt x="29448" y="13488"/>
                </a:lnTo>
                <a:lnTo>
                  <a:pt x="33459" y="10790"/>
                </a:lnTo>
                <a:lnTo>
                  <a:pt x="38172" y="8093"/>
                </a:lnTo>
                <a:lnTo>
                  <a:pt x="43949" y="5395"/>
                </a:lnTo>
                <a:lnTo>
                  <a:pt x="51719" y="2698"/>
                </a:lnTo>
                <a:close/>
              </a:path>
            </a:pathLst>
          </a:custGeom>
          <a:gradFill rotWithShape="1">
            <a:gsLst>
              <a:gs pos="0">
                <a:srgbClr val="6E40C9"/>
              </a:gs>
              <a:gs pos="100000">
                <a:srgbClr val="6E40C9">
                  <a:alpha val="3000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631680" y="1055936"/>
            <a:ext cx="1977028" cy="21580"/>
          </a:xfrm>
          <a:custGeom>
            <a:avLst/>
            <a:gdLst/>
            <a:ahLst/>
            <a:cxnLst/>
            <a:rect l="l" t="t" r="r" b="b"/>
            <a:pathLst>
              <a:path w="1977028" h="21580">
                <a:moveTo>
                  <a:pt x="71120" y="0"/>
                </a:moveTo>
                <a:lnTo>
                  <a:pt x="1905908" y="0"/>
                </a:lnTo>
                <a:lnTo>
                  <a:pt x="1925309" y="2698"/>
                </a:lnTo>
                <a:lnTo>
                  <a:pt x="1933079" y="5395"/>
                </a:lnTo>
                <a:lnTo>
                  <a:pt x="1938856" y="8093"/>
                </a:lnTo>
                <a:lnTo>
                  <a:pt x="1943569" y="10790"/>
                </a:lnTo>
                <a:lnTo>
                  <a:pt x="1947580" y="13488"/>
                </a:lnTo>
                <a:lnTo>
                  <a:pt x="1951077" y="16185"/>
                </a:lnTo>
                <a:lnTo>
                  <a:pt x="1954171" y="18883"/>
                </a:lnTo>
                <a:lnTo>
                  <a:pt x="1956936" y="21580"/>
                </a:lnTo>
                <a:lnTo>
                  <a:pt x="20092" y="21580"/>
                </a:lnTo>
                <a:lnTo>
                  <a:pt x="22857" y="18883"/>
                </a:lnTo>
                <a:lnTo>
                  <a:pt x="25951" y="16185"/>
                </a:lnTo>
                <a:lnTo>
                  <a:pt x="29448" y="13488"/>
                </a:lnTo>
                <a:lnTo>
                  <a:pt x="33459" y="10790"/>
                </a:lnTo>
                <a:lnTo>
                  <a:pt x="38172" y="8093"/>
                </a:lnTo>
                <a:lnTo>
                  <a:pt x="43949" y="5395"/>
                </a:lnTo>
                <a:lnTo>
                  <a:pt x="51719" y="2698"/>
                </a:lnTo>
                <a:close/>
              </a:path>
            </a:pathLst>
          </a:custGeom>
          <a:gradFill rotWithShape="1">
            <a:gsLst>
              <a:gs pos="0">
                <a:srgbClr val="6E40C9"/>
              </a:gs>
              <a:gs pos="100000">
                <a:srgbClr val="6E40C9">
                  <a:alpha val="3000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728073" y="1055936"/>
            <a:ext cx="1977180" cy="21580"/>
          </a:xfrm>
          <a:custGeom>
            <a:avLst/>
            <a:gdLst/>
            <a:ahLst/>
            <a:cxnLst/>
            <a:rect l="l" t="t" r="r" b="b"/>
            <a:pathLst>
              <a:path w="1977180" h="21580">
                <a:moveTo>
                  <a:pt x="71120" y="0"/>
                </a:moveTo>
                <a:lnTo>
                  <a:pt x="1906060" y="0"/>
                </a:lnTo>
                <a:lnTo>
                  <a:pt x="1925462" y="2698"/>
                </a:lnTo>
                <a:lnTo>
                  <a:pt x="1933232" y="5395"/>
                </a:lnTo>
                <a:lnTo>
                  <a:pt x="1939009" y="8093"/>
                </a:lnTo>
                <a:lnTo>
                  <a:pt x="1943721" y="10790"/>
                </a:lnTo>
                <a:lnTo>
                  <a:pt x="1947732" y="13488"/>
                </a:lnTo>
                <a:lnTo>
                  <a:pt x="1951229" y="16185"/>
                </a:lnTo>
                <a:lnTo>
                  <a:pt x="1954323" y="18883"/>
                </a:lnTo>
                <a:lnTo>
                  <a:pt x="1957088" y="21580"/>
                </a:lnTo>
                <a:lnTo>
                  <a:pt x="20092" y="21580"/>
                </a:lnTo>
                <a:lnTo>
                  <a:pt x="22857" y="18883"/>
                </a:lnTo>
                <a:lnTo>
                  <a:pt x="25951" y="16185"/>
                </a:lnTo>
                <a:lnTo>
                  <a:pt x="29448" y="13488"/>
                </a:lnTo>
                <a:lnTo>
                  <a:pt x="33459" y="10790"/>
                </a:lnTo>
                <a:lnTo>
                  <a:pt x="38172" y="8093"/>
                </a:lnTo>
                <a:lnTo>
                  <a:pt x="43949" y="5395"/>
                </a:lnTo>
                <a:lnTo>
                  <a:pt x="51719" y="2698"/>
                </a:lnTo>
                <a:close/>
              </a:path>
            </a:pathLst>
          </a:custGeom>
          <a:gradFill rotWithShape="1">
            <a:gsLst>
              <a:gs pos="0">
                <a:srgbClr val="6E40C9"/>
              </a:gs>
              <a:gs pos="100000">
                <a:srgbClr val="6E40C9">
                  <a:alpha val="3000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29220" y="314920"/>
            <a:ext cx="8865549" cy="2835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33"/>
              </a:lnSpc>
              <a:spcAft>
                <a:spcPts val="230"/>
              </a:spcAft>
              <a:buNone/>
            </a:pPr>
            <a:r>
              <a:rPr lang="en-US" sz="3200" kern="0" spc="-2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Automating with </a:t>
            </a:r>
            <a:r>
              <a:rPr lang="en-US" sz="3200" kern="0" spc="-20" dirty="0">
                <a:solidFill>
                  <a:srgbClr val="6E40C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Copilot CLI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29220" y="627608"/>
            <a:ext cx="9114115" cy="182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2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AI into your shell scripts and pipelines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29220" y="881360"/>
            <a:ext cx="342900" cy="21580"/>
          </a:xfrm>
          <a:prstGeom prst="roundRect">
            <a:avLst>
              <a:gd name="adj" fmla="val 64736"/>
            </a:avLst>
          </a:prstGeom>
          <a:solidFill>
            <a:srgbClr val="6E40C9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29220" y="1046410"/>
            <a:ext cx="2000096" cy="2002429"/>
          </a:xfrm>
          <a:prstGeom prst="roundRect">
            <a:avLst>
              <a:gd name="adj" fmla="val 4597"/>
            </a:avLst>
          </a:prstGeom>
          <a:solidFill>
            <a:srgbClr val="161B22"/>
          </a:solidFill>
          <a:ln w="9525">
            <a:solidFill>
              <a:srgbClr val="FFFFFF">
                <a:alpha val="6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0843" y="1112408"/>
            <a:ext cx="446922" cy="446922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566886" y="1577727"/>
            <a:ext cx="449223" cy="182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40"/>
              </a:lnSpc>
              <a:spcAft>
                <a:spcPts val="390"/>
              </a:spcAft>
              <a:buNone/>
            </a:pPr>
            <a:r>
              <a:rPr lang="en-US" b="1" kern="0" spc="10" dirty="0">
                <a:solidFill>
                  <a:srgbClr val="6E40C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-p Flag</a:t>
            </a: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566886" y="1904169"/>
            <a:ext cx="1755166" cy="6782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71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any Copilot prompt non-interactively from a script or CI pipeline without opening a session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25613" y="1046411"/>
            <a:ext cx="1965365" cy="1980848"/>
          </a:xfrm>
          <a:prstGeom prst="roundRect">
            <a:avLst>
              <a:gd name="adj" fmla="val 4597"/>
            </a:avLst>
          </a:prstGeom>
          <a:solidFill>
            <a:srgbClr val="161B22"/>
          </a:solidFill>
          <a:ln w="9525">
            <a:solidFill>
              <a:srgbClr val="FFFFFF">
                <a:alpha val="6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45515" y="1118403"/>
            <a:ext cx="365513" cy="365513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2663279" y="1577727"/>
            <a:ext cx="442020" cy="182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40"/>
              </a:lnSpc>
              <a:spcAft>
                <a:spcPts val="390"/>
              </a:spcAft>
              <a:buNone/>
            </a:pPr>
            <a:r>
              <a:rPr lang="en-US" b="1" kern="0" spc="10" dirty="0">
                <a:solidFill>
                  <a:srgbClr val="6E40C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-s Flag</a:t>
            </a:r>
            <a:endParaRPr lang="en-US" dirty="0"/>
          </a:p>
        </p:txBody>
      </p:sp>
      <p:sp>
        <p:nvSpPr>
          <p:cNvPr id="20" name="Text 16"/>
          <p:cNvSpPr/>
          <p:nvPr/>
        </p:nvSpPr>
        <p:spPr>
          <a:xfrm>
            <a:off x="2663279" y="1904169"/>
            <a:ext cx="1755318" cy="6782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71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only Copilot's response text — no headers or usage info — perfect for piping into other commands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4641747" y="1066725"/>
            <a:ext cx="1965365" cy="1980847"/>
          </a:xfrm>
          <a:prstGeom prst="roundRect">
            <a:avLst>
              <a:gd name="adj" fmla="val 4597"/>
            </a:avLst>
          </a:prstGeom>
          <a:solidFill>
            <a:srgbClr val="161B22"/>
          </a:solidFill>
          <a:ln w="9525">
            <a:solidFill>
              <a:srgbClr val="FFFFFF">
                <a:alpha val="6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732542" y="1153272"/>
            <a:ext cx="330644" cy="330644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4759821" y="1577727"/>
            <a:ext cx="959674" cy="182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40"/>
              </a:lnSpc>
              <a:spcAft>
                <a:spcPts val="390"/>
              </a:spcAft>
              <a:buNone/>
            </a:pPr>
            <a:r>
              <a:rPr lang="en-US" b="1" kern="0" spc="10" dirty="0">
                <a:solidFill>
                  <a:srgbClr val="6E40C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Shell Scripting</a:t>
            </a:r>
            <a:endParaRPr lang="en-US" dirty="0"/>
          </a:p>
        </p:txBody>
      </p:sp>
      <p:sp>
        <p:nvSpPr>
          <p:cNvPr id="25" name="Text 20"/>
          <p:cNvSpPr/>
          <p:nvPr/>
        </p:nvSpPr>
        <p:spPr>
          <a:xfrm>
            <a:off x="4759821" y="1904169"/>
            <a:ext cx="1755166" cy="6782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71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-sp</a:t>
            </a: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grep, awk, sed, or any Unix tool for powerful AI-augmented scripts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6718548" y="1046410"/>
            <a:ext cx="1977180" cy="1940273"/>
          </a:xfrm>
          <a:prstGeom prst="roundRect">
            <a:avLst>
              <a:gd name="adj" fmla="val 4597"/>
            </a:avLst>
          </a:prstGeom>
          <a:solidFill>
            <a:srgbClr val="161B22"/>
          </a:solidFill>
          <a:ln w="9525">
            <a:solidFill>
              <a:srgbClr val="FFFFFF">
                <a:alpha val="6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857305" y="1144708"/>
            <a:ext cx="320354" cy="320354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856214" y="1577727"/>
            <a:ext cx="721802" cy="182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40"/>
              </a:lnSpc>
              <a:spcAft>
                <a:spcPts val="390"/>
              </a:spcAft>
              <a:buNone/>
            </a:pPr>
            <a:r>
              <a:rPr lang="en-US" b="1" kern="0" spc="10" dirty="0">
                <a:solidFill>
                  <a:srgbClr val="6E40C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More Flags</a:t>
            </a:r>
            <a:endParaRPr lang="en-US" dirty="0"/>
          </a:p>
        </p:txBody>
      </p:sp>
      <p:sp>
        <p:nvSpPr>
          <p:cNvPr id="30" name="Text 24"/>
          <p:cNvSpPr/>
          <p:nvPr/>
        </p:nvSpPr>
        <p:spPr>
          <a:xfrm>
            <a:off x="6856214" y="1904169"/>
            <a:ext cx="1755318" cy="6782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71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help</a:t>
            </a: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 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help TOPIC</a:t>
            </a: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 full reference of all available flags and options</a:t>
            </a:r>
            <a:endParaRPr lang="en-US" sz="1200" dirty="0"/>
          </a:p>
        </p:txBody>
      </p:sp>
      <p:sp>
        <p:nvSpPr>
          <p:cNvPr id="31" name="Text 25"/>
          <p:cNvSpPr/>
          <p:nvPr/>
        </p:nvSpPr>
        <p:spPr>
          <a:xfrm>
            <a:off x="815719" y="3584473"/>
            <a:ext cx="7201524" cy="1349477"/>
          </a:xfrm>
          <a:prstGeom prst="roundRect">
            <a:avLst>
              <a:gd name="adj" fmla="val 6459"/>
            </a:avLst>
          </a:prstGeom>
          <a:solidFill>
            <a:srgbClr val="161B22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26"/>
          <p:cNvSpPr/>
          <p:nvPr/>
        </p:nvSpPr>
        <p:spPr>
          <a:xfrm>
            <a:off x="815718" y="3584473"/>
            <a:ext cx="68787" cy="1349477"/>
          </a:xfrm>
          <a:custGeom>
            <a:avLst/>
            <a:gdLst/>
            <a:ahLst/>
            <a:cxnLst/>
            <a:rect l="l" t="t" r="r" b="b"/>
            <a:pathLst>
              <a:path w="19050" h="884783">
                <a:moveTo>
                  <a:pt x="0" y="57150"/>
                </a:moveTo>
                <a:lnTo>
                  <a:pt x="2381" y="40825"/>
                </a:lnTo>
                <a:lnTo>
                  <a:pt x="4763" y="34310"/>
                </a:lnTo>
                <a:lnTo>
                  <a:pt x="7144" y="29482"/>
                </a:lnTo>
                <a:lnTo>
                  <a:pt x="9525" y="25559"/>
                </a:lnTo>
                <a:lnTo>
                  <a:pt x="11906" y="22234"/>
                </a:lnTo>
                <a:lnTo>
                  <a:pt x="14288" y="19349"/>
                </a:lnTo>
                <a:lnTo>
                  <a:pt x="16669" y="16809"/>
                </a:lnTo>
                <a:lnTo>
                  <a:pt x="19050" y="14553"/>
                </a:lnTo>
                <a:lnTo>
                  <a:pt x="19050" y="870230"/>
                </a:lnTo>
                <a:lnTo>
                  <a:pt x="16669" y="867974"/>
                </a:lnTo>
                <a:lnTo>
                  <a:pt x="14288" y="865434"/>
                </a:lnTo>
                <a:lnTo>
                  <a:pt x="11906" y="862549"/>
                </a:lnTo>
                <a:lnTo>
                  <a:pt x="9525" y="859224"/>
                </a:lnTo>
                <a:lnTo>
                  <a:pt x="7144" y="855301"/>
                </a:lnTo>
                <a:lnTo>
                  <a:pt x="4763" y="850473"/>
                </a:lnTo>
                <a:lnTo>
                  <a:pt x="2381" y="843958"/>
                </a:lnTo>
                <a:lnTo>
                  <a:pt x="0" y="827633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1087" y="4066577"/>
            <a:ext cx="493300" cy="493300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1835054" y="3694308"/>
            <a:ext cx="5159638" cy="1881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b="1" kern="0" spc="50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— SILENT AI OUTPUT IN A SCRIPT</a:t>
            </a:r>
            <a:endParaRPr lang="en-US" dirty="0"/>
          </a:p>
        </p:txBody>
      </p:sp>
      <p:sp>
        <p:nvSpPr>
          <p:cNvPr id="36" name="Text 29"/>
          <p:cNvSpPr/>
          <p:nvPr/>
        </p:nvSpPr>
        <p:spPr>
          <a:xfrm>
            <a:off x="1830968" y="4076775"/>
            <a:ext cx="6299888" cy="66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>
              <a:rPr sz="1600" dirty="0"/>
            </a:br>
            <a:r>
              <a:rPr lang="en-US" sz="1600" dirty="0">
                <a:solidFill>
                  <a:srgbClr val="6E76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Get AI output silently and store it</a:t>
            </a:r>
            <a:br>
              <a:rPr sz="1600" dirty="0"/>
            </a:br>
            <a:r>
              <a:rPr lang="en-US" sz="1600" dirty="0">
                <a:solidFill>
                  <a:srgbClr val="FFA6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=$(</a:t>
            </a:r>
            <a:r>
              <a:rPr lang="en-US" sz="16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-sp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"Summarize recent git changes"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br>
              <a:rPr sz="1600" dirty="0"/>
            </a:br>
            <a:r>
              <a:rPr lang="en-US" sz="16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FFA6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$RESULT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>
              <a:rPr sz="1600" dirty="0"/>
            </a:b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6E40C9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9427"/>
            <a:ext cx="9144000" cy="5143500"/>
          </a:xfrm>
          <a:prstGeom prst="rect">
            <a:avLst/>
          </a:prstGeom>
          <a:gradFill rotWithShape="1">
            <a:gsLst>
              <a:gs pos="0">
                <a:srgbClr val="6E40C9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3369" y="268468"/>
            <a:ext cx="417816" cy="41781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1185" y="357006"/>
            <a:ext cx="5254854" cy="253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97"/>
              </a:lnSpc>
              <a:spcAft>
                <a:spcPts val="230"/>
              </a:spcAft>
              <a:buNone/>
            </a:pPr>
            <a:r>
              <a:rPr lang="en-US" sz="3200" kern="0" spc="-2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Where to Go </a:t>
            </a:r>
            <a:r>
              <a:rPr lang="en-US" sz="3200" kern="0" spc="-20" dirty="0">
                <a:solidFill>
                  <a:srgbClr val="9A6DE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From Here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514350" y="899666"/>
            <a:ext cx="8926830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2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resources from the GitHub Copilot docs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4565079" y="1186011"/>
            <a:ext cx="13841" cy="3443288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8000">
                <a:srgbClr val="6E40C9">
                  <a:alpha val="50000"/>
                </a:srgbClr>
              </a:gs>
              <a:gs pos="50000">
                <a:srgbClr val="6E40C9">
                  <a:alpha val="70000"/>
                </a:srgbClr>
              </a:gs>
              <a:gs pos="92000">
                <a:srgbClr val="6E40C9">
                  <a:alpha val="50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514350" y="1214140"/>
            <a:ext cx="3671441" cy="427137"/>
          </a:xfrm>
          <a:prstGeom prst="roundRect">
            <a:avLst>
              <a:gd name="adj" fmla="val 16650"/>
            </a:avLst>
          </a:prstGeom>
          <a:solidFill>
            <a:srgbClr val="161B22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4166741" y="1214140"/>
            <a:ext cx="19050" cy="427137"/>
          </a:xfrm>
          <a:custGeom>
            <a:avLst/>
            <a:gdLst/>
            <a:ahLst/>
            <a:cxnLst/>
            <a:rect l="l" t="t" r="r" b="b"/>
            <a:pathLst>
              <a:path w="19050" h="427137">
                <a:moveTo>
                  <a:pt x="0" y="22677"/>
                </a:moveTo>
                <a:lnTo>
                  <a:pt x="2381" y="25369"/>
                </a:lnTo>
                <a:lnTo>
                  <a:pt x="4763" y="28363"/>
                </a:lnTo>
                <a:lnTo>
                  <a:pt x="7144" y="31727"/>
                </a:lnTo>
                <a:lnTo>
                  <a:pt x="9525" y="35566"/>
                </a:lnTo>
                <a:lnTo>
                  <a:pt x="11906" y="40054"/>
                </a:lnTo>
                <a:lnTo>
                  <a:pt x="14288" y="45532"/>
                </a:lnTo>
                <a:lnTo>
                  <a:pt x="16669" y="52871"/>
                </a:lnTo>
                <a:lnTo>
                  <a:pt x="19050" y="71120"/>
                </a:lnTo>
                <a:lnTo>
                  <a:pt x="19050" y="356017"/>
                </a:lnTo>
                <a:lnTo>
                  <a:pt x="16669" y="374266"/>
                </a:lnTo>
                <a:lnTo>
                  <a:pt x="14288" y="381605"/>
                </a:lnTo>
                <a:lnTo>
                  <a:pt x="11906" y="387083"/>
                </a:lnTo>
                <a:lnTo>
                  <a:pt x="9525" y="391571"/>
                </a:lnTo>
                <a:lnTo>
                  <a:pt x="7144" y="395409"/>
                </a:lnTo>
                <a:lnTo>
                  <a:pt x="4763" y="398773"/>
                </a:lnTo>
                <a:lnTo>
                  <a:pt x="2381" y="401767"/>
                </a:lnTo>
                <a:lnTo>
                  <a:pt x="0" y="404460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3202" y="1253555"/>
            <a:ext cx="245558" cy="24555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945356" y="1294656"/>
            <a:ext cx="3433182" cy="1202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48"/>
              </a:lnSpc>
              <a:spcAft>
                <a:spcPts val="170"/>
              </a:spcAft>
              <a:buNone/>
            </a:pPr>
            <a:r>
              <a:rPr lang="en-US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GitHub Copilot CLI</a:t>
            </a:r>
            <a:endParaRPr lang="en-US" dirty="0"/>
          </a:p>
        </p:txBody>
      </p:sp>
      <p:sp>
        <p:nvSpPr>
          <p:cNvPr id="15" name="Text 11"/>
          <p:cNvSpPr/>
          <p:nvPr/>
        </p:nvSpPr>
        <p:spPr>
          <a:xfrm>
            <a:off x="945356" y="1436489"/>
            <a:ext cx="3433182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Deep-dive into what Copilot CLI is and how it works under the hood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4958209" y="1891903"/>
            <a:ext cx="3671441" cy="551408"/>
          </a:xfrm>
          <a:prstGeom prst="roundRect">
            <a:avLst>
              <a:gd name="adj" fmla="val 12898"/>
            </a:avLst>
          </a:prstGeom>
          <a:solidFill>
            <a:srgbClr val="161B22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2400" dirty="0"/>
          </a:p>
        </p:txBody>
      </p:sp>
      <p:sp>
        <p:nvSpPr>
          <p:cNvPr id="17" name="Text 13"/>
          <p:cNvSpPr/>
          <p:nvPr/>
        </p:nvSpPr>
        <p:spPr>
          <a:xfrm>
            <a:off x="4958209" y="1891903"/>
            <a:ext cx="19050" cy="551408"/>
          </a:xfrm>
          <a:custGeom>
            <a:avLst/>
            <a:gdLst/>
            <a:ahLst/>
            <a:cxnLst/>
            <a:rect l="l" t="t" r="r" b="b"/>
            <a:pathLst>
              <a:path w="19050" h="551408">
                <a:moveTo>
                  <a:pt x="0" y="71120"/>
                </a:moveTo>
                <a:lnTo>
                  <a:pt x="2381" y="52871"/>
                </a:lnTo>
                <a:lnTo>
                  <a:pt x="4763" y="45532"/>
                </a:lnTo>
                <a:lnTo>
                  <a:pt x="7144" y="40054"/>
                </a:lnTo>
                <a:lnTo>
                  <a:pt x="9525" y="35566"/>
                </a:lnTo>
                <a:lnTo>
                  <a:pt x="11906" y="31727"/>
                </a:lnTo>
                <a:lnTo>
                  <a:pt x="14288" y="28363"/>
                </a:lnTo>
                <a:lnTo>
                  <a:pt x="16669" y="25369"/>
                </a:lnTo>
                <a:lnTo>
                  <a:pt x="19050" y="22677"/>
                </a:lnTo>
                <a:lnTo>
                  <a:pt x="19050" y="528732"/>
                </a:lnTo>
                <a:lnTo>
                  <a:pt x="16669" y="526039"/>
                </a:lnTo>
                <a:lnTo>
                  <a:pt x="14288" y="523045"/>
                </a:lnTo>
                <a:lnTo>
                  <a:pt x="11906" y="519681"/>
                </a:lnTo>
                <a:lnTo>
                  <a:pt x="9525" y="515843"/>
                </a:lnTo>
                <a:lnTo>
                  <a:pt x="7144" y="511354"/>
                </a:lnTo>
                <a:lnTo>
                  <a:pt x="4763" y="505876"/>
                </a:lnTo>
                <a:lnTo>
                  <a:pt x="2381" y="498538"/>
                </a:lnTo>
                <a:lnTo>
                  <a:pt x="0" y="480288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02734" y="1895748"/>
            <a:ext cx="318837" cy="318837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398740" y="1972419"/>
            <a:ext cx="3433182" cy="1202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48"/>
              </a:lnSpc>
              <a:spcAft>
                <a:spcPts val="170"/>
              </a:spcAft>
              <a:buNone/>
            </a:pPr>
            <a:r>
              <a:rPr lang="en-US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GitHub Copilot CLI</a:t>
            </a:r>
            <a:endParaRPr lang="en-US" dirty="0"/>
          </a:p>
        </p:txBody>
      </p:sp>
      <p:sp>
        <p:nvSpPr>
          <p:cNvPr id="21" name="Text 16"/>
          <p:cNvSpPr/>
          <p:nvPr/>
        </p:nvSpPr>
        <p:spPr>
          <a:xfrm>
            <a:off x="5398740" y="2114252"/>
            <a:ext cx="3183496" cy="260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all CLI features, advanced prompt techniques, and workflow integrations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514350" y="2693938"/>
            <a:ext cx="3671441" cy="427137"/>
          </a:xfrm>
          <a:prstGeom prst="roundRect">
            <a:avLst>
              <a:gd name="adj" fmla="val 16650"/>
            </a:avLst>
          </a:prstGeom>
          <a:solidFill>
            <a:srgbClr val="161B22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2400" dirty="0"/>
          </a:p>
        </p:txBody>
      </p:sp>
      <p:sp>
        <p:nvSpPr>
          <p:cNvPr id="23" name="Text 18"/>
          <p:cNvSpPr/>
          <p:nvPr/>
        </p:nvSpPr>
        <p:spPr>
          <a:xfrm>
            <a:off x="4166741" y="2693938"/>
            <a:ext cx="19050" cy="427137"/>
          </a:xfrm>
          <a:custGeom>
            <a:avLst/>
            <a:gdLst/>
            <a:ahLst/>
            <a:cxnLst/>
            <a:rect l="l" t="t" r="r" b="b"/>
            <a:pathLst>
              <a:path w="19050" h="427137">
                <a:moveTo>
                  <a:pt x="0" y="22677"/>
                </a:moveTo>
                <a:lnTo>
                  <a:pt x="2381" y="25369"/>
                </a:lnTo>
                <a:lnTo>
                  <a:pt x="4763" y="28363"/>
                </a:lnTo>
                <a:lnTo>
                  <a:pt x="7144" y="31727"/>
                </a:lnTo>
                <a:lnTo>
                  <a:pt x="9525" y="35566"/>
                </a:lnTo>
                <a:lnTo>
                  <a:pt x="11906" y="40054"/>
                </a:lnTo>
                <a:lnTo>
                  <a:pt x="14288" y="45532"/>
                </a:lnTo>
                <a:lnTo>
                  <a:pt x="16669" y="52871"/>
                </a:lnTo>
                <a:lnTo>
                  <a:pt x="19050" y="71120"/>
                </a:lnTo>
                <a:lnTo>
                  <a:pt x="19050" y="356017"/>
                </a:lnTo>
                <a:lnTo>
                  <a:pt x="16669" y="374266"/>
                </a:lnTo>
                <a:lnTo>
                  <a:pt x="14288" y="381605"/>
                </a:lnTo>
                <a:lnTo>
                  <a:pt x="11906" y="387083"/>
                </a:lnTo>
                <a:lnTo>
                  <a:pt x="9525" y="391571"/>
                </a:lnTo>
                <a:lnTo>
                  <a:pt x="7144" y="395409"/>
                </a:lnTo>
                <a:lnTo>
                  <a:pt x="4763" y="398773"/>
                </a:lnTo>
                <a:lnTo>
                  <a:pt x="2381" y="401767"/>
                </a:lnTo>
                <a:lnTo>
                  <a:pt x="0" y="404460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6481" y="2720329"/>
            <a:ext cx="381133" cy="381133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45356" y="2774454"/>
            <a:ext cx="3433182" cy="1202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48"/>
              </a:lnSpc>
              <a:spcAft>
                <a:spcPts val="170"/>
              </a:spcAft>
              <a:buNone/>
            </a:pPr>
            <a:r>
              <a:rPr lang="en-US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Practices for Copilot CLI</a:t>
            </a:r>
            <a:endParaRPr lang="en-US" dirty="0"/>
          </a:p>
        </p:txBody>
      </p:sp>
      <p:sp>
        <p:nvSpPr>
          <p:cNvPr id="27" name="Text 21"/>
          <p:cNvSpPr/>
          <p:nvPr/>
        </p:nvSpPr>
        <p:spPr>
          <a:xfrm>
            <a:off x="945356" y="2916287"/>
            <a:ext cx="3196114" cy="452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guidance on getting the most accurate and safe results from Copilot CLI</a:t>
            </a:r>
            <a:endParaRPr lang="en-US" sz="1600" dirty="0"/>
          </a:p>
        </p:txBody>
      </p:sp>
      <p:sp>
        <p:nvSpPr>
          <p:cNvPr id="28" name="Text 22"/>
          <p:cNvSpPr/>
          <p:nvPr/>
        </p:nvSpPr>
        <p:spPr>
          <a:xfrm>
            <a:off x="4958209" y="3371701"/>
            <a:ext cx="3671441" cy="551408"/>
          </a:xfrm>
          <a:prstGeom prst="roundRect">
            <a:avLst>
              <a:gd name="adj" fmla="val 12898"/>
            </a:avLst>
          </a:prstGeom>
          <a:solidFill>
            <a:srgbClr val="161B22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2400" dirty="0"/>
          </a:p>
        </p:txBody>
      </p:sp>
      <p:sp>
        <p:nvSpPr>
          <p:cNvPr id="29" name="Text 23"/>
          <p:cNvSpPr/>
          <p:nvPr/>
        </p:nvSpPr>
        <p:spPr>
          <a:xfrm>
            <a:off x="4958209" y="3371701"/>
            <a:ext cx="19050" cy="551408"/>
          </a:xfrm>
          <a:custGeom>
            <a:avLst/>
            <a:gdLst/>
            <a:ahLst/>
            <a:cxnLst/>
            <a:rect l="l" t="t" r="r" b="b"/>
            <a:pathLst>
              <a:path w="19050" h="551408">
                <a:moveTo>
                  <a:pt x="0" y="71120"/>
                </a:moveTo>
                <a:lnTo>
                  <a:pt x="2381" y="52871"/>
                </a:lnTo>
                <a:lnTo>
                  <a:pt x="4763" y="45532"/>
                </a:lnTo>
                <a:lnTo>
                  <a:pt x="7144" y="40054"/>
                </a:lnTo>
                <a:lnTo>
                  <a:pt x="9525" y="35566"/>
                </a:lnTo>
                <a:lnTo>
                  <a:pt x="11906" y="31727"/>
                </a:lnTo>
                <a:lnTo>
                  <a:pt x="14288" y="28363"/>
                </a:lnTo>
                <a:lnTo>
                  <a:pt x="16669" y="25369"/>
                </a:lnTo>
                <a:lnTo>
                  <a:pt x="19050" y="22677"/>
                </a:lnTo>
                <a:lnTo>
                  <a:pt x="19050" y="528732"/>
                </a:lnTo>
                <a:lnTo>
                  <a:pt x="16669" y="526039"/>
                </a:lnTo>
                <a:lnTo>
                  <a:pt x="14288" y="523045"/>
                </a:lnTo>
                <a:lnTo>
                  <a:pt x="11906" y="519681"/>
                </a:lnTo>
                <a:lnTo>
                  <a:pt x="9525" y="515843"/>
                </a:lnTo>
                <a:lnTo>
                  <a:pt x="7144" y="511354"/>
                </a:lnTo>
                <a:lnTo>
                  <a:pt x="4763" y="505876"/>
                </a:lnTo>
                <a:lnTo>
                  <a:pt x="2381" y="498538"/>
                </a:lnTo>
                <a:lnTo>
                  <a:pt x="0" y="480288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4"/>
          <p:cNvSpPr/>
          <p:nvPr/>
        </p:nvSpPr>
        <p:spPr>
          <a:xfrm>
            <a:off x="5077569" y="3422099"/>
            <a:ext cx="242441" cy="242441"/>
          </a:xfrm>
          <a:prstGeom prst="roundRect">
            <a:avLst>
              <a:gd name="adj" fmla="val 23573"/>
            </a:avLst>
          </a:prstGeom>
          <a:solidFill>
            <a:srgbClr val="6E40C9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12160" y="3441534"/>
            <a:ext cx="318838" cy="318838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5398740" y="3452217"/>
            <a:ext cx="3433182" cy="1202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48"/>
              </a:lnSpc>
              <a:spcAft>
                <a:spcPts val="170"/>
              </a:spcAft>
              <a:buNone/>
            </a:pPr>
            <a:r>
              <a:rPr lang="en-US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Hands-On Course</a:t>
            </a:r>
            <a:endParaRPr lang="en-US" dirty="0"/>
          </a:p>
        </p:txBody>
      </p:sp>
      <p:sp>
        <p:nvSpPr>
          <p:cNvPr id="33" name="Text 26"/>
          <p:cNvSpPr/>
          <p:nvPr/>
        </p:nvSpPr>
        <p:spPr>
          <a:xfrm>
            <a:off x="5398740" y="3594050"/>
            <a:ext cx="3183496" cy="260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started with GitHub Copilot CLI — a free interactive course to practice in real scenarios</a:t>
            </a:r>
            <a:endParaRPr lang="en-US" sz="1600" dirty="0"/>
          </a:p>
        </p:txBody>
      </p:sp>
      <p:sp>
        <p:nvSpPr>
          <p:cNvPr id="34" name="Text 27"/>
          <p:cNvSpPr/>
          <p:nvPr/>
        </p:nvSpPr>
        <p:spPr>
          <a:xfrm>
            <a:off x="514350" y="4178350"/>
            <a:ext cx="3671441" cy="418058"/>
          </a:xfrm>
          <a:prstGeom prst="roundRect">
            <a:avLst>
              <a:gd name="adj" fmla="val 17012"/>
            </a:avLst>
          </a:prstGeom>
          <a:solidFill>
            <a:srgbClr val="161B22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3200" dirty="0"/>
          </a:p>
        </p:txBody>
      </p:sp>
      <p:sp>
        <p:nvSpPr>
          <p:cNvPr id="35" name="Text 28"/>
          <p:cNvSpPr/>
          <p:nvPr/>
        </p:nvSpPr>
        <p:spPr>
          <a:xfrm>
            <a:off x="4166741" y="4178350"/>
            <a:ext cx="19050" cy="418058"/>
          </a:xfrm>
          <a:custGeom>
            <a:avLst/>
            <a:gdLst/>
            <a:ahLst/>
            <a:cxnLst/>
            <a:rect l="l" t="t" r="r" b="b"/>
            <a:pathLst>
              <a:path w="19050" h="418058">
                <a:moveTo>
                  <a:pt x="0" y="22677"/>
                </a:moveTo>
                <a:lnTo>
                  <a:pt x="2381" y="25369"/>
                </a:lnTo>
                <a:lnTo>
                  <a:pt x="4763" y="28363"/>
                </a:lnTo>
                <a:lnTo>
                  <a:pt x="7144" y="31727"/>
                </a:lnTo>
                <a:lnTo>
                  <a:pt x="9525" y="35566"/>
                </a:lnTo>
                <a:lnTo>
                  <a:pt x="11906" y="40054"/>
                </a:lnTo>
                <a:lnTo>
                  <a:pt x="14288" y="45532"/>
                </a:lnTo>
                <a:lnTo>
                  <a:pt x="16669" y="52871"/>
                </a:lnTo>
                <a:lnTo>
                  <a:pt x="19050" y="71120"/>
                </a:lnTo>
                <a:lnTo>
                  <a:pt x="19050" y="346938"/>
                </a:lnTo>
                <a:lnTo>
                  <a:pt x="16669" y="365188"/>
                </a:lnTo>
                <a:lnTo>
                  <a:pt x="14288" y="372526"/>
                </a:lnTo>
                <a:lnTo>
                  <a:pt x="11906" y="378004"/>
                </a:lnTo>
                <a:lnTo>
                  <a:pt x="9525" y="382493"/>
                </a:lnTo>
                <a:lnTo>
                  <a:pt x="7144" y="386331"/>
                </a:lnTo>
                <a:lnTo>
                  <a:pt x="4763" y="389695"/>
                </a:lnTo>
                <a:lnTo>
                  <a:pt x="2381" y="392689"/>
                </a:lnTo>
                <a:lnTo>
                  <a:pt x="0" y="395382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7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04350" y="4212610"/>
            <a:ext cx="307276" cy="307276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945356" y="4258866"/>
            <a:ext cx="3433182" cy="111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76"/>
              </a:lnSpc>
              <a:spcAft>
                <a:spcPts val="170"/>
              </a:spcAft>
              <a:buNone/>
            </a:pPr>
            <a:r>
              <a:rPr lang="en-US" b="1" dirty="0">
                <a:solidFill>
                  <a:srgbClr val="9A6D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help  /  /help</a:t>
            </a:r>
            <a:endParaRPr lang="en-US" dirty="0"/>
          </a:p>
        </p:txBody>
      </p:sp>
      <p:sp>
        <p:nvSpPr>
          <p:cNvPr id="39" name="Text 31"/>
          <p:cNvSpPr/>
          <p:nvPr/>
        </p:nvSpPr>
        <p:spPr>
          <a:xfrm>
            <a:off x="945356" y="4391620"/>
            <a:ext cx="3215164" cy="237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rgbClr val="8B949E"/>
                </a:solidFill>
                <a:latin typeface="Calibri" pitchFamily="34" charset="0"/>
                <a:cs typeface="Calibri" pitchFamily="34" charset="-120"/>
              </a:rPr>
              <a:t>Built-in reference always available at your fingertips in any session</a:t>
            </a:r>
          </a:p>
        </p:txBody>
      </p:sp>
      <p:sp>
        <p:nvSpPr>
          <p:cNvPr id="40" name="Text 32"/>
          <p:cNvSpPr/>
          <p:nvPr/>
        </p:nvSpPr>
        <p:spPr>
          <a:xfrm>
            <a:off x="0" y="4843909"/>
            <a:ext cx="9144000" cy="299591"/>
          </a:xfrm>
          <a:prstGeom prst="rect">
            <a:avLst/>
          </a:prstGeom>
          <a:solidFill>
            <a:srgbClr val="161B22">
              <a:alpha val="85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3"/>
          <p:cNvSpPr/>
          <p:nvPr/>
        </p:nvSpPr>
        <p:spPr>
          <a:xfrm>
            <a:off x="0" y="4843909"/>
            <a:ext cx="9144000" cy="9525"/>
          </a:xfrm>
          <a:prstGeom prst="rect">
            <a:avLst/>
          </a:prstGeom>
          <a:solidFill>
            <a:srgbClr val="6E40C9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2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444785" y="4932173"/>
            <a:ext cx="132588" cy="132588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3602980" y="4931866"/>
            <a:ext cx="2270998" cy="1332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resources available at </a:t>
            </a:r>
            <a:r>
              <a:rPr lang="en-US" sz="700" dirty="0">
                <a:solidFill>
                  <a:srgbClr val="9A6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docs.github.com/en/copilot</a:t>
            </a:r>
            <a:endParaRPr lang="en-US" sz="700" dirty="0"/>
          </a:p>
        </p:txBody>
      </p:sp>
      <p:sp>
        <p:nvSpPr>
          <p:cNvPr id="44" name="Text 35"/>
          <p:cNvSpPr/>
          <p:nvPr/>
        </p:nvSpPr>
        <p:spPr>
          <a:xfrm>
            <a:off x="4186390" y="1370558"/>
            <a:ext cx="66675" cy="1143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36"/>
          <p:cNvSpPr/>
          <p:nvPr/>
        </p:nvSpPr>
        <p:spPr>
          <a:xfrm>
            <a:off x="4890899" y="2110383"/>
            <a:ext cx="66675" cy="1143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6" name="Text 37"/>
          <p:cNvSpPr/>
          <p:nvPr/>
        </p:nvSpPr>
        <p:spPr>
          <a:xfrm>
            <a:off x="4186390" y="2850356"/>
            <a:ext cx="66675" cy="1143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Text 38"/>
          <p:cNvSpPr/>
          <p:nvPr/>
        </p:nvSpPr>
        <p:spPr>
          <a:xfrm>
            <a:off x="4890899" y="3590181"/>
            <a:ext cx="66675" cy="1143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Text 39"/>
          <p:cNvSpPr/>
          <p:nvPr/>
        </p:nvSpPr>
        <p:spPr>
          <a:xfrm>
            <a:off x="4186390" y="4330154"/>
            <a:ext cx="66675" cy="1143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40"/>
          <p:cNvSpPr/>
          <p:nvPr/>
        </p:nvSpPr>
        <p:spPr>
          <a:xfrm>
            <a:off x="4392260" y="1294166"/>
            <a:ext cx="351844" cy="343306"/>
          </a:xfrm>
          <a:prstGeom prst="ellipse">
            <a:avLst/>
          </a:prstGeom>
          <a:solidFill>
            <a:srgbClr val="6E40C9"/>
          </a:solidFill>
          <a:ln/>
          <a:effectLst>
            <a:outerShdw blurRad="101600" dist="50800" dir="16200000" algn="bl" rotWithShape="0">
              <a:srgbClr val="6E40C9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50" name="Text 41"/>
          <p:cNvSpPr/>
          <p:nvPr/>
        </p:nvSpPr>
        <p:spPr>
          <a:xfrm>
            <a:off x="4379107" y="1991462"/>
            <a:ext cx="385785" cy="332423"/>
          </a:xfrm>
          <a:prstGeom prst="ellipse">
            <a:avLst/>
          </a:prstGeom>
          <a:solidFill>
            <a:srgbClr val="6E40C9"/>
          </a:solidFill>
          <a:ln/>
          <a:effectLst>
            <a:outerShdw blurRad="101600" dist="50800" dir="16200000" algn="bl" rotWithShape="0">
              <a:srgbClr val="6E40C9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2</a:t>
            </a:r>
          </a:p>
        </p:txBody>
      </p:sp>
      <p:sp>
        <p:nvSpPr>
          <p:cNvPr id="51" name="Text 42"/>
          <p:cNvSpPr/>
          <p:nvPr/>
        </p:nvSpPr>
        <p:spPr>
          <a:xfrm>
            <a:off x="4372187" y="2705755"/>
            <a:ext cx="385784" cy="350728"/>
          </a:xfrm>
          <a:prstGeom prst="ellipse">
            <a:avLst/>
          </a:prstGeom>
          <a:solidFill>
            <a:srgbClr val="6E40C9"/>
          </a:solidFill>
          <a:ln/>
          <a:effectLst>
            <a:outerShdw blurRad="101600" dist="50800" dir="16200000" algn="bl" rotWithShape="0">
              <a:srgbClr val="6E40C9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52" name="Text 43"/>
          <p:cNvSpPr/>
          <p:nvPr/>
        </p:nvSpPr>
        <p:spPr>
          <a:xfrm>
            <a:off x="4372187" y="3452745"/>
            <a:ext cx="385784" cy="350728"/>
          </a:xfrm>
          <a:prstGeom prst="ellipse">
            <a:avLst/>
          </a:prstGeom>
          <a:solidFill>
            <a:srgbClr val="6E40C9"/>
          </a:solidFill>
          <a:ln/>
          <a:effectLst>
            <a:outerShdw blurRad="101600" dist="50800" dir="16200000" algn="bl" rotWithShape="0">
              <a:srgbClr val="6E40C9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53" name="Text 44"/>
          <p:cNvSpPr/>
          <p:nvPr/>
        </p:nvSpPr>
        <p:spPr>
          <a:xfrm>
            <a:off x="4381530" y="4157496"/>
            <a:ext cx="385784" cy="367117"/>
          </a:xfrm>
          <a:prstGeom prst="ellipse">
            <a:avLst/>
          </a:prstGeom>
          <a:solidFill>
            <a:srgbClr val="6E40C9"/>
          </a:solidFill>
          <a:ln/>
          <a:effectLst>
            <a:outerShdw blurRad="101600" dist="50800" dir="16200000" algn="bl" rotWithShape="0">
              <a:srgbClr val="6E40C9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6E40C9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6E40C9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6E40C9">
                  <a:alpha val="18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70000" r="50000" b="3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6E40C9">
                  <a:alpha val="8000"/>
                </a:srgbClr>
              </a:gs>
              <a:gs pos="60000">
                <a:srgbClr val="000000">
                  <a:alpha val="0"/>
                </a:srgbClr>
              </a:gs>
            </a:gsLst>
            <a:path path="circle">
              <a:fillToRect l="85000" t="20000" r="15000" b="8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0" y="46104"/>
            <a:ext cx="9144000" cy="5143500"/>
          </a:xfrm>
          <a:prstGeom prst="rect">
            <a:avLst/>
          </a:prstGeom>
          <a:gradFill rotWithShape="1">
            <a:gsLst>
              <a:gs pos="0">
                <a:srgbClr val="6E40C9">
                  <a:alpha val="7000"/>
                </a:srgbClr>
              </a:gs>
              <a:gs pos="60000">
                <a:srgbClr val="000000">
                  <a:alpha val="0"/>
                </a:srgbClr>
              </a:gs>
            </a:gsLst>
            <a:path path="circle">
              <a:fillToRect l="15000" t="25000" r="85000" b="75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2718737" y="239762"/>
            <a:ext cx="4218024" cy="238945"/>
          </a:xfrm>
          <a:prstGeom prst="roundRect">
            <a:avLst>
              <a:gd name="adj" fmla="val 3252966"/>
            </a:avLst>
          </a:prstGeom>
          <a:solidFill>
            <a:srgbClr val="6E40C9">
              <a:alpha val="18000"/>
            </a:srgbClr>
          </a:solidFill>
          <a:ln w="9525">
            <a:solidFill>
              <a:srgbClr val="6E40C9">
                <a:alpha val="40000"/>
              </a:srgbClr>
            </a:solidFill>
          </a:ln>
        </p:spPr>
        <p:txBody>
          <a:bodyPr wrap="none" lIns="225018" tIns="35560" rIns="100330" bIns="35560" rtlCol="0" anchor="ctr"/>
          <a:lstStyle/>
          <a:p>
            <a:pPr marL="0" indent="0" algn="l">
              <a:buNone/>
            </a:pPr>
            <a:r>
              <a:rPr lang="en-US" sz="3600" b="1" kern="0" spc="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CLI</a:t>
            </a:r>
            <a:endParaRPr lang="en-US" sz="36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59566" y="141684"/>
            <a:ext cx="467925" cy="46792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16657" y="746411"/>
            <a:ext cx="6222184" cy="4092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223"/>
              </a:lnSpc>
              <a:spcAft>
                <a:spcPts val="560"/>
              </a:spcAft>
              <a:buNone/>
            </a:pPr>
            <a:r>
              <a:rPr lang="en-US" sz="2930" kern="0" spc="-3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Start Building Smarter — </a:t>
            </a:r>
            <a:r>
              <a:rPr lang="en-US" sz="2930" b="1" kern="0" spc="-30" dirty="0">
                <a:gradFill rotWithShape="1">
                  <a:gsLst>
                    <a:gs pos="0">
                      <a:srgbClr val="A78BFA"/>
                    </a:gs>
                    <a:gs pos="100000">
                      <a:srgbClr val="6E40C9"/>
                    </a:gs>
                  </a:gsLst>
                  <a:lin ang="0" scaled="1"/>
                </a:gra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Right Now</a:t>
            </a:r>
            <a:endParaRPr lang="en-US" sz="2930" dirty="0"/>
          </a:p>
        </p:txBody>
      </p:sp>
      <p:sp>
        <p:nvSpPr>
          <p:cNvPr id="10" name="Text 7"/>
          <p:cNvSpPr/>
          <p:nvPr/>
        </p:nvSpPr>
        <p:spPr>
          <a:xfrm>
            <a:off x="2280023" y="1299938"/>
            <a:ext cx="4878913" cy="1924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515"/>
              </a:lnSpc>
              <a:spcAft>
                <a:spcPts val="2030"/>
              </a:spcAft>
              <a:buNone/>
            </a:pPr>
            <a:r>
              <a:rPr lang="en-US" kern="0" spc="1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CLI is ready in minutes. Your terminal will never be the same.</a:t>
            </a: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571500" y="1873597"/>
            <a:ext cx="2571304" cy="1652885"/>
          </a:xfrm>
          <a:prstGeom prst="roundRect">
            <a:avLst>
              <a:gd name="adj" fmla="val 5225"/>
            </a:avLst>
          </a:prstGeom>
          <a:solidFill>
            <a:srgbClr val="161B22"/>
          </a:solidFill>
          <a:ln/>
          <a:effectLst>
            <a:outerShdw blurRad="171450" dist="29210" dir="5400000" algn="bl" rotWithShape="0">
              <a:srgbClr val="000000">
                <a:alpha val="40000"/>
              </a:srgbClr>
            </a:outerShdw>
          </a:effectLst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571500" y="1873597"/>
            <a:ext cx="2571304" cy="19050"/>
          </a:xfrm>
          <a:custGeom>
            <a:avLst/>
            <a:gdLst/>
            <a:ahLst/>
            <a:cxnLst/>
            <a:rect l="l" t="t" r="r" b="b"/>
            <a:pathLst>
              <a:path w="2571304" h="19050">
                <a:moveTo>
                  <a:pt x="86360" y="0"/>
                </a:moveTo>
                <a:lnTo>
                  <a:pt x="66220" y="2381"/>
                </a:lnTo>
                <a:lnTo>
                  <a:pt x="58078" y="4763"/>
                </a:lnTo>
                <a:lnTo>
                  <a:pt x="51968" y="7144"/>
                </a:lnTo>
                <a:lnTo>
                  <a:pt x="46934" y="9525"/>
                </a:lnTo>
                <a:lnTo>
                  <a:pt x="42603" y="11906"/>
                </a:lnTo>
                <a:lnTo>
                  <a:pt x="38783" y="14288"/>
                </a:lnTo>
                <a:lnTo>
                  <a:pt x="35358" y="16669"/>
                </a:lnTo>
                <a:lnTo>
                  <a:pt x="32254" y="19050"/>
                </a:lnTo>
                <a:lnTo>
                  <a:pt x="2539049" y="19050"/>
                </a:lnTo>
                <a:lnTo>
                  <a:pt x="2535945" y="16669"/>
                </a:lnTo>
                <a:lnTo>
                  <a:pt x="2532521" y="14288"/>
                </a:lnTo>
                <a:lnTo>
                  <a:pt x="2528701" y="11906"/>
                </a:lnTo>
                <a:lnTo>
                  <a:pt x="2524370" y="9525"/>
                </a:lnTo>
                <a:lnTo>
                  <a:pt x="2519336" y="7144"/>
                </a:lnTo>
                <a:lnTo>
                  <a:pt x="2513226" y="4763"/>
                </a:lnTo>
                <a:lnTo>
                  <a:pt x="2505083" y="2381"/>
                </a:lnTo>
                <a:lnTo>
                  <a:pt x="2484943" y="0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709728" y="1965553"/>
            <a:ext cx="434314" cy="376806"/>
          </a:xfrm>
          <a:prstGeom prst="ellipse">
            <a:avLst/>
          </a:prstGeom>
          <a:solidFill>
            <a:srgbClr val="6E40C9"/>
          </a:solidFill>
          <a:ln/>
          <a:effectLst>
            <a:outerShdw blurRad="86360" dist="50800" dir="16200000" algn="bl" rotWithShape="0">
              <a:srgbClr val="6E40C9">
                <a:alpha val="50000"/>
              </a:srgbClr>
            </a:outerShdw>
          </a:effectLst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696704" y="2379018"/>
            <a:ext cx="2387069" cy="215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95"/>
              </a:lnSpc>
              <a:buNone/>
            </a:pPr>
            <a:r>
              <a:rPr lang="en-US" sz="1600" b="1" kern="0" spc="1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Install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49571" y="2694533"/>
            <a:ext cx="2213464" cy="306139"/>
          </a:xfrm>
          <a:prstGeom prst="roundRect">
            <a:avLst>
              <a:gd name="adj" fmla="val 14105"/>
            </a:avLst>
          </a:prstGeom>
          <a:solidFill>
            <a:srgbClr val="0D1117"/>
          </a:solidFill>
          <a:ln/>
        </p:spPr>
        <p:txBody>
          <a:bodyPr wrap="none" lIns="100330" tIns="71120" rIns="100330" bIns="71120" rtlCol="0" anchor="t"/>
          <a:lstStyle/>
          <a:p>
            <a:pPr marL="0" indent="0" algn="l">
              <a:buNone/>
            </a:pPr>
            <a:r>
              <a:rPr lang="en-US" sz="900" kern="0" spc="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 -g @github/copilot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49571" y="2694533"/>
            <a:ext cx="19050" cy="306139"/>
          </a:xfrm>
          <a:custGeom>
            <a:avLst/>
            <a:gdLst/>
            <a:ahLst/>
            <a:cxnLst/>
            <a:rect l="l" t="t" r="r" b="b"/>
            <a:pathLst>
              <a:path w="19050" h="306139">
                <a:moveTo>
                  <a:pt x="0" y="43180"/>
                </a:moveTo>
                <a:lnTo>
                  <a:pt x="2381" y="29039"/>
                </a:lnTo>
                <a:lnTo>
                  <a:pt x="4763" y="23467"/>
                </a:lnTo>
                <a:lnTo>
                  <a:pt x="7144" y="19391"/>
                </a:lnTo>
                <a:lnTo>
                  <a:pt x="9525" y="16127"/>
                </a:lnTo>
                <a:lnTo>
                  <a:pt x="11906" y="13406"/>
                </a:lnTo>
                <a:lnTo>
                  <a:pt x="14288" y="11090"/>
                </a:lnTo>
                <a:lnTo>
                  <a:pt x="16669" y="9097"/>
                </a:lnTo>
                <a:lnTo>
                  <a:pt x="19050" y="7371"/>
                </a:lnTo>
                <a:lnTo>
                  <a:pt x="19050" y="298768"/>
                </a:lnTo>
                <a:lnTo>
                  <a:pt x="16669" y="297043"/>
                </a:lnTo>
                <a:lnTo>
                  <a:pt x="14288" y="295049"/>
                </a:lnTo>
                <a:lnTo>
                  <a:pt x="11906" y="292733"/>
                </a:lnTo>
                <a:lnTo>
                  <a:pt x="9525" y="290012"/>
                </a:lnTo>
                <a:lnTo>
                  <a:pt x="7144" y="286748"/>
                </a:lnTo>
                <a:lnTo>
                  <a:pt x="4763" y="282673"/>
                </a:lnTo>
                <a:lnTo>
                  <a:pt x="2381" y="277101"/>
                </a:lnTo>
                <a:lnTo>
                  <a:pt x="0" y="262959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649571" y="3209515"/>
            <a:ext cx="2387069" cy="1332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560"/>
              </a:spcBef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Node.js v22+ · Cross-platform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286274" y="1873597"/>
            <a:ext cx="2571452" cy="1652885"/>
          </a:xfrm>
          <a:prstGeom prst="roundRect">
            <a:avLst>
              <a:gd name="adj" fmla="val 5225"/>
            </a:avLst>
          </a:prstGeom>
          <a:solidFill>
            <a:srgbClr val="161B22"/>
          </a:solidFill>
          <a:ln/>
          <a:effectLst>
            <a:outerShdw blurRad="171450" dist="29210" dir="5400000" algn="bl" rotWithShape="0">
              <a:srgbClr val="000000">
                <a:alpha val="40000"/>
              </a:srgbClr>
            </a:outerShdw>
          </a:effectLst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3269873" y="1883122"/>
            <a:ext cx="2571452" cy="19050"/>
          </a:xfrm>
          <a:custGeom>
            <a:avLst/>
            <a:gdLst/>
            <a:ahLst/>
            <a:cxnLst/>
            <a:rect l="l" t="t" r="r" b="b"/>
            <a:pathLst>
              <a:path w="2571452" h="19050">
                <a:moveTo>
                  <a:pt x="86360" y="0"/>
                </a:moveTo>
                <a:lnTo>
                  <a:pt x="66220" y="2381"/>
                </a:lnTo>
                <a:lnTo>
                  <a:pt x="58078" y="4763"/>
                </a:lnTo>
                <a:lnTo>
                  <a:pt x="51968" y="7144"/>
                </a:lnTo>
                <a:lnTo>
                  <a:pt x="46934" y="9525"/>
                </a:lnTo>
                <a:lnTo>
                  <a:pt x="42603" y="11906"/>
                </a:lnTo>
                <a:lnTo>
                  <a:pt x="38783" y="14288"/>
                </a:lnTo>
                <a:lnTo>
                  <a:pt x="35358" y="16669"/>
                </a:lnTo>
                <a:lnTo>
                  <a:pt x="32254" y="19050"/>
                </a:lnTo>
                <a:lnTo>
                  <a:pt x="2539198" y="19050"/>
                </a:lnTo>
                <a:lnTo>
                  <a:pt x="2536094" y="16669"/>
                </a:lnTo>
                <a:lnTo>
                  <a:pt x="2532670" y="14288"/>
                </a:lnTo>
                <a:lnTo>
                  <a:pt x="2528849" y="11906"/>
                </a:lnTo>
                <a:lnTo>
                  <a:pt x="2524519" y="9525"/>
                </a:lnTo>
                <a:lnTo>
                  <a:pt x="2519485" y="7144"/>
                </a:lnTo>
                <a:lnTo>
                  <a:pt x="2513375" y="4763"/>
                </a:lnTo>
                <a:lnTo>
                  <a:pt x="2505232" y="2381"/>
                </a:lnTo>
                <a:lnTo>
                  <a:pt x="2485092" y="0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3305250" y="1972772"/>
            <a:ext cx="401387" cy="380889"/>
          </a:xfrm>
          <a:prstGeom prst="ellipse">
            <a:avLst/>
          </a:prstGeom>
          <a:solidFill>
            <a:srgbClr val="6E40C9"/>
          </a:solidFill>
          <a:ln/>
          <a:effectLst>
            <a:outerShdw blurRad="86360" dist="50800" dir="16200000" algn="bl" rotWithShape="0">
              <a:srgbClr val="6E40C9">
                <a:alpha val="50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2</a:t>
            </a:r>
          </a:p>
        </p:txBody>
      </p:sp>
      <p:sp>
        <p:nvSpPr>
          <p:cNvPr id="21" name="Text 18"/>
          <p:cNvSpPr/>
          <p:nvPr/>
        </p:nvSpPr>
        <p:spPr>
          <a:xfrm>
            <a:off x="3307784" y="2379018"/>
            <a:ext cx="2387233" cy="215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95"/>
              </a:lnSpc>
              <a:buNone/>
            </a:pPr>
            <a:r>
              <a:rPr lang="en-US" sz="1600" b="1" kern="0" spc="1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Launch &amp; Login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3307784" y="2694533"/>
            <a:ext cx="2170212" cy="484406"/>
          </a:xfrm>
          <a:prstGeom prst="roundRect">
            <a:avLst>
              <a:gd name="adj" fmla="val 8914"/>
            </a:avLst>
          </a:prstGeom>
          <a:solidFill>
            <a:srgbClr val="0D1117"/>
          </a:solidFill>
          <a:ln/>
        </p:spPr>
        <p:txBody>
          <a:bodyPr wrap="none" lIns="100330" tIns="71120" rIns="100330" bIns="71120" rtlCol="0" anchor="t"/>
          <a:lstStyle/>
          <a:p>
            <a:pPr marL="0" indent="0" algn="l">
              <a:buNone/>
            </a:pPr>
            <a:r>
              <a:rPr lang="en-US" sz="900" kern="0" spc="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</a:t>
            </a:r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r>
              <a:rPr lang="en-US" sz="900" kern="0" spc="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/login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3307784" y="2694533"/>
            <a:ext cx="19050" cy="470297"/>
          </a:xfrm>
          <a:custGeom>
            <a:avLst/>
            <a:gdLst/>
            <a:ahLst/>
            <a:cxnLst/>
            <a:rect l="l" t="t" r="r" b="b"/>
            <a:pathLst>
              <a:path w="19050" h="470297">
                <a:moveTo>
                  <a:pt x="0" y="43180"/>
                </a:moveTo>
                <a:lnTo>
                  <a:pt x="2381" y="29039"/>
                </a:lnTo>
                <a:lnTo>
                  <a:pt x="4763" y="23467"/>
                </a:lnTo>
                <a:lnTo>
                  <a:pt x="7144" y="19391"/>
                </a:lnTo>
                <a:lnTo>
                  <a:pt x="9525" y="16127"/>
                </a:lnTo>
                <a:lnTo>
                  <a:pt x="11906" y="13406"/>
                </a:lnTo>
                <a:lnTo>
                  <a:pt x="14288" y="11090"/>
                </a:lnTo>
                <a:lnTo>
                  <a:pt x="16669" y="9097"/>
                </a:lnTo>
                <a:lnTo>
                  <a:pt x="19050" y="7371"/>
                </a:lnTo>
                <a:lnTo>
                  <a:pt x="19050" y="462925"/>
                </a:lnTo>
                <a:lnTo>
                  <a:pt x="16669" y="461200"/>
                </a:lnTo>
                <a:lnTo>
                  <a:pt x="14288" y="459206"/>
                </a:lnTo>
                <a:lnTo>
                  <a:pt x="11906" y="456890"/>
                </a:lnTo>
                <a:lnTo>
                  <a:pt x="9525" y="454170"/>
                </a:lnTo>
                <a:lnTo>
                  <a:pt x="7144" y="450906"/>
                </a:lnTo>
                <a:lnTo>
                  <a:pt x="4763" y="446830"/>
                </a:lnTo>
                <a:lnTo>
                  <a:pt x="2381" y="441258"/>
                </a:lnTo>
                <a:lnTo>
                  <a:pt x="0" y="427117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3307784" y="3252321"/>
            <a:ext cx="2387233" cy="1332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560"/>
              </a:spcBef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GitHub authentication · All plans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6001196" y="1873597"/>
            <a:ext cx="2571304" cy="1652885"/>
          </a:xfrm>
          <a:prstGeom prst="roundRect">
            <a:avLst>
              <a:gd name="adj" fmla="val 5225"/>
            </a:avLst>
          </a:prstGeom>
          <a:solidFill>
            <a:srgbClr val="161B22"/>
          </a:solidFill>
          <a:ln/>
          <a:effectLst>
            <a:outerShdw blurRad="171450" dist="29210" dir="5400000" algn="bl" rotWithShape="0">
              <a:srgbClr val="000000">
                <a:alpha val="40000"/>
              </a:srgbClr>
            </a:outerShdw>
          </a:effectLst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3"/>
          <p:cNvSpPr/>
          <p:nvPr/>
        </p:nvSpPr>
        <p:spPr>
          <a:xfrm>
            <a:off x="6001196" y="1873597"/>
            <a:ext cx="2571304" cy="19050"/>
          </a:xfrm>
          <a:custGeom>
            <a:avLst/>
            <a:gdLst/>
            <a:ahLst/>
            <a:cxnLst/>
            <a:rect l="l" t="t" r="r" b="b"/>
            <a:pathLst>
              <a:path w="2571304" h="19050">
                <a:moveTo>
                  <a:pt x="86360" y="0"/>
                </a:moveTo>
                <a:lnTo>
                  <a:pt x="66220" y="2381"/>
                </a:lnTo>
                <a:lnTo>
                  <a:pt x="58078" y="4763"/>
                </a:lnTo>
                <a:lnTo>
                  <a:pt x="51968" y="7144"/>
                </a:lnTo>
                <a:lnTo>
                  <a:pt x="46934" y="9525"/>
                </a:lnTo>
                <a:lnTo>
                  <a:pt x="42603" y="11906"/>
                </a:lnTo>
                <a:lnTo>
                  <a:pt x="38783" y="14288"/>
                </a:lnTo>
                <a:lnTo>
                  <a:pt x="35358" y="16669"/>
                </a:lnTo>
                <a:lnTo>
                  <a:pt x="32254" y="19050"/>
                </a:lnTo>
                <a:lnTo>
                  <a:pt x="2539049" y="19050"/>
                </a:lnTo>
                <a:lnTo>
                  <a:pt x="2535945" y="16669"/>
                </a:lnTo>
                <a:lnTo>
                  <a:pt x="2532521" y="14288"/>
                </a:lnTo>
                <a:lnTo>
                  <a:pt x="2528701" y="11906"/>
                </a:lnTo>
                <a:lnTo>
                  <a:pt x="2524370" y="9525"/>
                </a:lnTo>
                <a:lnTo>
                  <a:pt x="2519336" y="7144"/>
                </a:lnTo>
                <a:lnTo>
                  <a:pt x="2513226" y="4763"/>
                </a:lnTo>
                <a:lnTo>
                  <a:pt x="2505083" y="2381"/>
                </a:lnTo>
                <a:lnTo>
                  <a:pt x="2484943" y="0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6066251" y="1949563"/>
            <a:ext cx="378092" cy="381224"/>
          </a:xfrm>
          <a:prstGeom prst="ellipse">
            <a:avLst/>
          </a:prstGeom>
          <a:solidFill>
            <a:srgbClr val="6E40C9"/>
          </a:solidFill>
          <a:ln/>
          <a:effectLst>
            <a:outerShdw blurRad="86360" dist="50800" dir="16200000" algn="bl" rotWithShape="0">
              <a:srgbClr val="6E40C9">
                <a:alpha val="50000"/>
              </a:srgbClr>
            </a:outerShdw>
          </a:effectLst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28" name="Text 25"/>
          <p:cNvSpPr/>
          <p:nvPr/>
        </p:nvSpPr>
        <p:spPr>
          <a:xfrm>
            <a:off x="6050987" y="2379018"/>
            <a:ext cx="2387069" cy="215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95"/>
              </a:lnSpc>
              <a:buNone/>
            </a:pPr>
            <a:r>
              <a:rPr lang="en-US" sz="1600" b="1" kern="0" spc="1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Ask Anything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6050987" y="2694533"/>
            <a:ext cx="2170063" cy="484406"/>
          </a:xfrm>
          <a:prstGeom prst="roundRect">
            <a:avLst>
              <a:gd name="adj" fmla="val 8914"/>
            </a:avLst>
          </a:prstGeom>
          <a:solidFill>
            <a:srgbClr val="0D1117"/>
          </a:solidFill>
          <a:ln/>
        </p:spPr>
        <p:txBody>
          <a:bodyPr wrap="none" lIns="100330" tIns="71120" rIns="100330" bIns="71120" rtlCol="0" anchor="t"/>
          <a:lstStyle/>
          <a:p>
            <a:pPr marL="0" indent="0" algn="l">
              <a:buNone/>
            </a:pPr>
            <a:r>
              <a:rPr lang="en-US" sz="900" kern="0" spc="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Give me an overview of this project.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6050987" y="2694533"/>
            <a:ext cx="19050" cy="470297"/>
          </a:xfrm>
          <a:custGeom>
            <a:avLst/>
            <a:gdLst/>
            <a:ahLst/>
            <a:cxnLst/>
            <a:rect l="l" t="t" r="r" b="b"/>
            <a:pathLst>
              <a:path w="19050" h="470297">
                <a:moveTo>
                  <a:pt x="0" y="43180"/>
                </a:moveTo>
                <a:lnTo>
                  <a:pt x="2381" y="29039"/>
                </a:lnTo>
                <a:lnTo>
                  <a:pt x="4763" y="23467"/>
                </a:lnTo>
                <a:lnTo>
                  <a:pt x="7144" y="19391"/>
                </a:lnTo>
                <a:lnTo>
                  <a:pt x="9525" y="16127"/>
                </a:lnTo>
                <a:lnTo>
                  <a:pt x="11906" y="13406"/>
                </a:lnTo>
                <a:lnTo>
                  <a:pt x="14288" y="11090"/>
                </a:lnTo>
                <a:lnTo>
                  <a:pt x="16669" y="9097"/>
                </a:lnTo>
                <a:lnTo>
                  <a:pt x="19050" y="7371"/>
                </a:lnTo>
                <a:lnTo>
                  <a:pt x="19050" y="462925"/>
                </a:lnTo>
                <a:lnTo>
                  <a:pt x="16669" y="461200"/>
                </a:lnTo>
                <a:lnTo>
                  <a:pt x="14288" y="459206"/>
                </a:lnTo>
                <a:lnTo>
                  <a:pt x="11906" y="456890"/>
                </a:lnTo>
                <a:lnTo>
                  <a:pt x="9525" y="454170"/>
                </a:lnTo>
                <a:lnTo>
                  <a:pt x="7144" y="450906"/>
                </a:lnTo>
                <a:lnTo>
                  <a:pt x="4763" y="446830"/>
                </a:lnTo>
                <a:lnTo>
                  <a:pt x="2381" y="441258"/>
                </a:lnTo>
                <a:lnTo>
                  <a:pt x="0" y="427117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8"/>
          <p:cNvSpPr/>
          <p:nvPr/>
        </p:nvSpPr>
        <p:spPr>
          <a:xfrm>
            <a:off x="6050986" y="3271248"/>
            <a:ext cx="2387069" cy="1332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560"/>
              </a:spcBef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Context-aware · Project-scoped · Instant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571500" y="3727103"/>
            <a:ext cx="8001000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20000">
                <a:srgbClr val="8B949E">
                  <a:alpha val="20000"/>
                </a:srgbClr>
              </a:gs>
              <a:gs pos="80000">
                <a:srgbClr val="8B949E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30"/>
          <p:cNvSpPr/>
          <p:nvPr/>
        </p:nvSpPr>
        <p:spPr>
          <a:xfrm>
            <a:off x="2923133" y="3878163"/>
            <a:ext cx="1497705" cy="244376"/>
          </a:xfrm>
          <a:prstGeom prst="roundRect">
            <a:avLst>
              <a:gd name="adj" fmla="val 2920144"/>
            </a:avLst>
          </a:prstGeom>
          <a:solidFill>
            <a:srgbClr val="161B22"/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238988" tIns="43180" rIns="114300" bIns="43180" rtlCol="0" anchor="ctr"/>
          <a:lstStyle/>
          <a:p>
            <a:pPr marL="0" indent="0" algn="l">
              <a:buNone/>
            </a:pPr>
            <a:r>
              <a:rPr lang="en-US" sz="73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docs.github.com/en/copilot</a:t>
            </a:r>
            <a:endParaRPr lang="en-US" sz="730" dirty="0"/>
          </a:p>
        </p:txBody>
      </p:sp>
      <p:pic>
        <p:nvPicPr>
          <p:cNvPr id="34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18243" y="3933983"/>
            <a:ext cx="132588" cy="132588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4491782" y="3878163"/>
            <a:ext cx="1763515" cy="244376"/>
          </a:xfrm>
          <a:prstGeom prst="roundRect">
            <a:avLst>
              <a:gd name="adj" fmla="val 2920144"/>
            </a:avLst>
          </a:prstGeom>
          <a:solidFill>
            <a:srgbClr val="161B22"/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238988" tIns="43180" rIns="114300" bIns="43180" rtlCol="0" anchor="ctr"/>
          <a:lstStyle/>
          <a:p>
            <a:pPr marL="0" indent="0" algn="l">
              <a:buNone/>
            </a:pPr>
            <a:r>
              <a:rPr lang="en-US" sz="73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Hands-On Course Available</a:t>
            </a:r>
            <a:endParaRPr lang="en-US" sz="730" dirty="0"/>
          </a:p>
        </p:txBody>
      </p:sp>
      <p:pic>
        <p:nvPicPr>
          <p:cNvPr id="36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86892" y="3933983"/>
            <a:ext cx="132588" cy="132588"/>
          </a:xfrm>
          <a:prstGeom prst="rect">
            <a:avLst/>
          </a:prstGeom>
        </p:spPr>
      </p:pic>
      <p:sp>
        <p:nvSpPr>
          <p:cNvPr id="37" name="Text 32"/>
          <p:cNvSpPr/>
          <p:nvPr/>
        </p:nvSpPr>
        <p:spPr>
          <a:xfrm>
            <a:off x="2476336" y="4266009"/>
            <a:ext cx="4191327" cy="3266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840" i="1" dirty="0">
                <a:solidFill>
                  <a:srgbClr val="8B949E">
                    <a:alpha val="75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"The ability to work autonomously on complex tasks while maintaining full user control." </a:t>
            </a:r>
            <a:r>
              <a:rPr lang="en-US" sz="680" i="1" kern="0" spc="30" dirty="0">
                <a:solidFill>
                  <a:srgbClr val="8B949E">
                    <a:alpha val="75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— GitHub Copilot CLI docs</a:t>
            </a:r>
            <a:endParaRPr lang="en-US" sz="8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</TotalTime>
  <Words>1748</Words>
  <Application>Microsoft Macintosh PowerPoint</Application>
  <PresentationFormat>On-screen Show (16:9)</PresentationFormat>
  <Paragraphs>304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Calibri Light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subject>PptxGenJS Presentation</dc:subject>
  <dc:creator>docgen</dc:creator>
  <cp:lastModifiedBy>Medhat Elmasry</cp:lastModifiedBy>
  <cp:revision>6</cp:revision>
  <dcterms:created xsi:type="dcterms:W3CDTF">2026-05-14T19:10:37Z</dcterms:created>
  <dcterms:modified xsi:type="dcterms:W3CDTF">2026-05-18T03:20:28Z</dcterms:modified>
</cp:coreProperties>
</file>